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4" y="419294"/>
            <a:ext cx="476471" cy="476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882" y="676946"/>
            <a:ext cx="44790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4838" y="667006"/>
            <a:ext cx="233351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Mukabumi &amp; Masalah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533647" y="1486588"/>
            <a:ext cx="3735529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9890" y="1581420"/>
            <a:ext cx="3183043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PERTANDINGAN INOVASI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647" y="1915202"/>
            <a:ext cx="6688523" cy="74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51" b="1" spc="-69">
                <a:solidFill>
                  <a:srgbClr val="0F172A"/>
                </a:solidFill>
                <a:latin typeface="Plus Jakarta Sans ExtraBold"/>
              </a:rPr>
              <a:t>Disiplin Sekolah,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647" y="2410732"/>
            <a:ext cx="6552910" cy="74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51" b="1" spc="-69">
                <a:solidFill>
                  <a:srgbClr val="0F172A"/>
                </a:solidFill>
                <a:latin typeface="Plus Jakarta Sans ExtraBold"/>
              </a:rPr>
              <a:t>Daripada </a:t>
            </a:r>
            <a:r>
              <a:rPr sz="3451" b="1" spc="-69">
                <a:solidFill>
                  <a:srgbClr val="8B5CF6"/>
                </a:solidFill>
                <a:latin typeface="Plus Jakarta Sans ExtraBold"/>
              </a:rPr>
              <a:t>Kertas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647" y="2906261"/>
            <a:ext cx="5252545" cy="74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51" b="1" spc="-69">
                <a:solidFill>
                  <a:srgbClr val="0F172A"/>
                </a:solidFill>
                <a:latin typeface="Plus Jakarta Sans ExtraBold"/>
              </a:rPr>
              <a:t>kepada </a:t>
            </a:r>
            <a:r>
              <a:rPr sz="3451" b="1" spc="-69">
                <a:solidFill>
                  <a:srgbClr val="8B5CF6"/>
                </a:solidFill>
                <a:latin typeface="Plus Jakarta Sans ExtraBold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647" y="3602118"/>
            <a:ext cx="552706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3647" y="3812942"/>
            <a:ext cx="5714788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475569"/>
                </a:solidFill>
                <a:latin typeface="Plus Jakarta Sans Medium"/>
              </a:rPr>
              <a:t>Satu imbasan QR Code merekod kehadiran,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647" y="4022589"/>
            <a:ext cx="6751350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475569"/>
                </a:solidFill>
                <a:latin typeface="Plus Jakarta Sans Medium"/>
              </a:rPr>
              <a:t>menghasilkan analitik masa nyata, dan membimbing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647" y="4232236"/>
            <a:ext cx="6176488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475569"/>
                </a:solidFill>
                <a:latin typeface="Plus Jakarta Sans Medium"/>
              </a:rPr>
              <a:t>guru melakukan tindakan intervensi berstruktur.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647" y="4688471"/>
            <a:ext cx="4097647" cy="819529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33647" y="4688471"/>
            <a:ext cx="47647" cy="8195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2353" y="4832589"/>
            <a:ext cx="4493456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Kaedah lama: pembetulan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353" y="5084503"/>
            <a:ext cx="5597100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Guru menyusun dan menyalin kertas setiap hari,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353" y="5265562"/>
            <a:ext cx="5864162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sambil menyemak setiap rekod secara berganda.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0588" y="1538743"/>
            <a:ext cx="2639323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 spc="132">
                <a:solidFill>
                  <a:srgbClr val="0891B2"/>
                </a:solidFill>
                <a:latin typeface="Plus Jakarta Sans ExtraBold"/>
              </a:rPr>
              <a:t>MASALAH SEBENAR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0588" y="1695311"/>
            <a:ext cx="5185191" cy="33815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75" b="1" spc="-16">
                <a:solidFill>
                  <a:srgbClr val="0F172A"/>
                </a:solidFill>
                <a:latin typeface="Plus Jakarta Sans ExtraBold"/>
              </a:rPr>
              <a:t>Empat halangan setiap hari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0588" y="2096471"/>
            <a:ext cx="5107765" cy="93388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050588" y="2096471"/>
            <a:ext cx="47647" cy="93388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279294" y="2277529"/>
            <a:ext cx="381176" cy="381176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384118" y="2382353"/>
            <a:ext cx="171529" cy="171529"/>
          </a:xfrm>
          <a:prstGeom prst="ellipse">
            <a:avLst/>
          </a:prstGeom>
          <a:noFill/>
          <a:ln w="22871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Freeform 32"/>
          <p:cNvSpPr/>
          <p:nvPr/>
        </p:nvSpPr>
        <p:spPr>
          <a:xfrm>
            <a:off x="5469882" y="2420471"/>
            <a:ext cx="33353" cy="76235"/>
          </a:xfrm>
          <a:custGeom>
            <a:avLst/>
            <a:gdLst/>
            <a:ahLst/>
            <a:cxnLst/>
            <a:rect l="l" t="t" r="r" b="b"/>
            <a:pathLst>
              <a:path w="33353" h="76235">
                <a:moveTo>
                  <a:pt x="0" y="0"/>
                </a:moveTo>
                <a:lnTo>
                  <a:pt x="0" y="52411"/>
                </a:lnTo>
                <a:lnTo>
                  <a:pt x="33353" y="76235"/>
                </a:lnTo>
              </a:path>
            </a:pathLst>
          </a:custGeom>
          <a:noFill/>
          <a:ln w="22871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93882" y="2269587"/>
            <a:ext cx="2881580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Pembetulan 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882" y="2521092"/>
            <a:ext cx="7231156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Guru menyusun kertas kehadiran secara manual. Makan masa,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882" y="2711680"/>
            <a:ext cx="5216876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mudah silap, dan kerja berulang setiap pagi.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0588" y="3144706"/>
            <a:ext cx="5107765" cy="93388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050588" y="3144706"/>
            <a:ext cx="47647" cy="93388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5279294" y="3325765"/>
            <a:ext cx="381176" cy="381176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Freeform 39"/>
          <p:cNvSpPr/>
          <p:nvPr/>
        </p:nvSpPr>
        <p:spPr>
          <a:xfrm>
            <a:off x="5374588" y="3382941"/>
            <a:ext cx="181059" cy="209647"/>
          </a:xfrm>
          <a:custGeom>
            <a:avLst/>
            <a:gdLst/>
            <a:ahLst/>
            <a:cxnLst/>
            <a:rect l="l" t="t" r="r" b="b"/>
            <a:pathLst>
              <a:path w="181059" h="209647">
                <a:moveTo>
                  <a:pt x="28588" y="9530"/>
                </a:moveTo>
                <a:lnTo>
                  <a:pt x="133412" y="9530"/>
                </a:lnTo>
                <a:lnTo>
                  <a:pt x="171530" y="47647"/>
                </a:lnTo>
                <a:lnTo>
                  <a:pt x="171530" y="181059"/>
                </a:lnTo>
                <a:lnTo>
                  <a:pt x="177419" y="179386"/>
                </a:lnTo>
                <a:lnTo>
                  <a:pt x="178982" y="181936"/>
                </a:lnTo>
                <a:lnTo>
                  <a:pt x="180126" y="184699"/>
                </a:lnTo>
                <a:lnTo>
                  <a:pt x="180824" y="187607"/>
                </a:lnTo>
                <a:lnTo>
                  <a:pt x="181059" y="190588"/>
                </a:lnTo>
                <a:lnTo>
                  <a:pt x="180824" y="193570"/>
                </a:lnTo>
                <a:lnTo>
                  <a:pt x="180126" y="196478"/>
                </a:lnTo>
                <a:lnTo>
                  <a:pt x="178982" y="199241"/>
                </a:lnTo>
                <a:lnTo>
                  <a:pt x="177419" y="201791"/>
                </a:lnTo>
                <a:lnTo>
                  <a:pt x="175477" y="204065"/>
                </a:lnTo>
                <a:lnTo>
                  <a:pt x="173203" y="206007"/>
                </a:lnTo>
                <a:lnTo>
                  <a:pt x="170653" y="207570"/>
                </a:lnTo>
                <a:lnTo>
                  <a:pt x="167890" y="208714"/>
                </a:lnTo>
                <a:lnTo>
                  <a:pt x="164982" y="209413"/>
                </a:lnTo>
                <a:lnTo>
                  <a:pt x="162000" y="209647"/>
                </a:lnTo>
                <a:lnTo>
                  <a:pt x="159019" y="209413"/>
                </a:lnTo>
                <a:lnTo>
                  <a:pt x="156111" y="208714"/>
                </a:lnTo>
                <a:lnTo>
                  <a:pt x="153348" y="207570"/>
                </a:lnTo>
                <a:lnTo>
                  <a:pt x="150798" y="206007"/>
                </a:lnTo>
                <a:lnTo>
                  <a:pt x="148524" y="204065"/>
                </a:lnTo>
                <a:lnTo>
                  <a:pt x="28588" y="200118"/>
                </a:lnTo>
                <a:lnTo>
                  <a:pt x="30262" y="206007"/>
                </a:lnTo>
                <a:lnTo>
                  <a:pt x="27712" y="207570"/>
                </a:lnTo>
                <a:lnTo>
                  <a:pt x="24949" y="208714"/>
                </a:lnTo>
                <a:lnTo>
                  <a:pt x="22041" y="209413"/>
                </a:lnTo>
                <a:lnTo>
                  <a:pt x="19059" y="209647"/>
                </a:lnTo>
                <a:lnTo>
                  <a:pt x="16078" y="209413"/>
                </a:lnTo>
                <a:lnTo>
                  <a:pt x="13170" y="208714"/>
                </a:lnTo>
                <a:lnTo>
                  <a:pt x="10407" y="207570"/>
                </a:lnTo>
                <a:lnTo>
                  <a:pt x="7857" y="206007"/>
                </a:lnTo>
                <a:lnTo>
                  <a:pt x="5582" y="204065"/>
                </a:lnTo>
                <a:lnTo>
                  <a:pt x="3640" y="201791"/>
                </a:lnTo>
                <a:lnTo>
                  <a:pt x="2078" y="199241"/>
                </a:lnTo>
                <a:lnTo>
                  <a:pt x="933" y="196478"/>
                </a:lnTo>
                <a:lnTo>
                  <a:pt x="235" y="193570"/>
                </a:lnTo>
                <a:lnTo>
                  <a:pt x="0" y="190588"/>
                </a:lnTo>
                <a:lnTo>
                  <a:pt x="235" y="187607"/>
                </a:lnTo>
                <a:lnTo>
                  <a:pt x="933" y="184699"/>
                </a:lnTo>
                <a:lnTo>
                  <a:pt x="2078" y="181936"/>
                </a:lnTo>
                <a:lnTo>
                  <a:pt x="3640" y="179386"/>
                </a:lnTo>
                <a:lnTo>
                  <a:pt x="5582" y="177112"/>
                </a:lnTo>
                <a:lnTo>
                  <a:pt x="9530" y="28588"/>
                </a:lnTo>
                <a:lnTo>
                  <a:pt x="3640" y="30261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0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69"/>
                </a:lnTo>
                <a:lnTo>
                  <a:pt x="2078" y="10406"/>
                </a:lnTo>
                <a:lnTo>
                  <a:pt x="3640" y="7857"/>
                </a:lnTo>
                <a:lnTo>
                  <a:pt x="5582" y="5582"/>
                </a:lnTo>
                <a:lnTo>
                  <a:pt x="7857" y="3640"/>
                </a:lnTo>
                <a:lnTo>
                  <a:pt x="10407" y="2077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7"/>
                </a:lnTo>
                <a:lnTo>
                  <a:pt x="30262" y="3640"/>
                </a:lnTo>
                <a:lnTo>
                  <a:pt x="32536" y="5582"/>
                </a:lnTo>
                <a:close/>
              </a:path>
            </a:pathLst>
          </a:custGeom>
          <a:noFill/>
          <a:ln w="22871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Freeform 40"/>
          <p:cNvSpPr/>
          <p:nvPr/>
        </p:nvSpPr>
        <p:spPr>
          <a:xfrm>
            <a:off x="5508000" y="3392471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2871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Freeform 41"/>
          <p:cNvSpPr/>
          <p:nvPr/>
        </p:nvSpPr>
        <p:spPr>
          <a:xfrm>
            <a:off x="5422235" y="3506824"/>
            <a:ext cx="66706" cy="38117"/>
          </a:xfrm>
          <a:custGeom>
            <a:avLst/>
            <a:gdLst/>
            <a:ahLst/>
            <a:cxnLst/>
            <a:rect l="l" t="t" r="r" b="b"/>
            <a:pathLst>
              <a:path w="66706" h="38117">
                <a:moveTo>
                  <a:pt x="0" y="0"/>
                </a:moveTo>
                <a:lnTo>
                  <a:pt x="66706" y="0"/>
                </a:lnTo>
                <a:lnTo>
                  <a:pt x="0" y="38117"/>
                </a:lnTo>
                <a:lnTo>
                  <a:pt x="47647" y="38117"/>
                </a:lnTo>
              </a:path>
            </a:pathLst>
          </a:custGeom>
          <a:noFill/>
          <a:ln w="22871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793882" y="3317822"/>
            <a:ext cx="2942144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Rekod mudah hilang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3882" y="3569327"/>
            <a:ext cx="6601976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Buku kehadiran cepat rosak, hilang atau kuar digunakan.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3882" y="3759915"/>
            <a:ext cx="5560888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Tiada jejak digital untuk rujukan mahupun audit.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50588" y="4192941"/>
            <a:ext cx="5107765" cy="93388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5050588" y="4192941"/>
            <a:ext cx="47647" cy="93388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5279294" y="4374000"/>
            <a:ext cx="381176" cy="381176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374588" y="4469294"/>
            <a:ext cx="152471" cy="152471"/>
          </a:xfrm>
          <a:prstGeom prst="ellipse">
            <a:avLst/>
          </a:prstGeom>
          <a:noFill/>
          <a:ln w="22871">
            <a:solidFill>
              <a:srgbClr val="7C3A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Freeform 49"/>
          <p:cNvSpPr/>
          <p:nvPr/>
        </p:nvSpPr>
        <p:spPr>
          <a:xfrm>
            <a:off x="5508000" y="460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47647" y="47647"/>
                </a:lnTo>
              </a:path>
            </a:pathLst>
          </a:custGeom>
          <a:noFill/>
          <a:ln w="22871">
            <a:solidFill>
              <a:srgbClr val="7C3A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Freeform 50"/>
          <p:cNvSpPr/>
          <p:nvPr/>
        </p:nvSpPr>
        <p:spPr>
          <a:xfrm>
            <a:off x="5422235" y="4516941"/>
            <a:ext cx="57177" cy="57177"/>
          </a:xfrm>
          <a:custGeom>
            <a:avLst/>
            <a:gdLst/>
            <a:ahLst/>
            <a:cxnLst/>
            <a:rect l="l" t="t" r="r" b="b"/>
            <a:pathLst>
              <a:path w="57177" h="57177">
                <a:moveTo>
                  <a:pt x="0" y="28588"/>
                </a:moveTo>
                <a:lnTo>
                  <a:pt x="57177" y="28588"/>
                </a:lnTo>
                <a:lnTo>
                  <a:pt x="28589" y="0"/>
                </a:lnTo>
                <a:lnTo>
                  <a:pt x="28589" y="57177"/>
                </a:lnTo>
              </a:path>
            </a:pathLst>
          </a:custGeom>
          <a:noFill/>
          <a:ln w="22871">
            <a:solidFill>
              <a:srgbClr val="7C3A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93882" y="4366057"/>
            <a:ext cx="3424304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Tiada panduan tindakan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3882" y="4617562"/>
            <a:ext cx="6864512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Guru tidak tahu murid mana memerlukan intervensi. Semua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3882" y="4808150"/>
            <a:ext cx="5850582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murid menerima perhatian sama rata, tiada fokus.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50588" y="5241176"/>
            <a:ext cx="5107765" cy="93388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5050588" y="5241176"/>
            <a:ext cx="47647" cy="93388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279294" y="5422235"/>
            <a:ext cx="381176" cy="381176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5412706" y="5508000"/>
            <a:ext cx="114353" cy="114353"/>
          </a:xfrm>
          <a:prstGeom prst="ellipse">
            <a:avLst/>
          </a:prstGeom>
          <a:noFill/>
          <a:ln w="22871">
            <a:solidFill>
              <a:srgbClr val="0891B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Freeform 58"/>
          <p:cNvSpPr/>
          <p:nvPr/>
        </p:nvSpPr>
        <p:spPr>
          <a:xfrm>
            <a:off x="5356937" y="5593765"/>
            <a:ext cx="227298" cy="114353"/>
          </a:xfrm>
          <a:custGeom>
            <a:avLst/>
            <a:gdLst/>
            <a:ahLst/>
            <a:cxnLst/>
            <a:rect l="l" t="t" r="r" b="b"/>
            <a:pathLst>
              <a:path w="227298" h="114353">
                <a:moveTo>
                  <a:pt x="8122" y="114353"/>
                </a:moveTo>
                <a:lnTo>
                  <a:pt x="0" y="96464"/>
                </a:lnTo>
                <a:lnTo>
                  <a:pt x="4189" y="79016"/>
                </a:lnTo>
                <a:lnTo>
                  <a:pt x="11056" y="62437"/>
                </a:lnTo>
                <a:lnTo>
                  <a:pt x="20432" y="47138"/>
                </a:lnTo>
                <a:lnTo>
                  <a:pt x="32086" y="33493"/>
                </a:lnTo>
                <a:lnTo>
                  <a:pt x="45730" y="21839"/>
                </a:lnTo>
                <a:lnTo>
                  <a:pt x="61030" y="12463"/>
                </a:lnTo>
                <a:lnTo>
                  <a:pt x="77608" y="5597"/>
                </a:lnTo>
                <a:lnTo>
                  <a:pt x="95057" y="1408"/>
                </a:lnTo>
                <a:lnTo>
                  <a:pt x="112945" y="0"/>
                </a:lnTo>
                <a:lnTo>
                  <a:pt x="130834" y="1408"/>
                </a:lnTo>
                <a:lnTo>
                  <a:pt x="148282" y="5597"/>
                </a:lnTo>
                <a:lnTo>
                  <a:pt x="164861" y="12463"/>
                </a:lnTo>
                <a:lnTo>
                  <a:pt x="180160" y="21839"/>
                </a:lnTo>
                <a:lnTo>
                  <a:pt x="193805" y="33493"/>
                </a:lnTo>
                <a:lnTo>
                  <a:pt x="205459" y="47138"/>
                </a:lnTo>
                <a:lnTo>
                  <a:pt x="214835" y="62437"/>
                </a:lnTo>
                <a:lnTo>
                  <a:pt x="221701" y="79016"/>
                </a:lnTo>
                <a:lnTo>
                  <a:pt x="225890" y="96464"/>
                </a:lnTo>
                <a:lnTo>
                  <a:pt x="227298" y="114353"/>
                </a:lnTo>
              </a:path>
            </a:pathLst>
          </a:custGeom>
          <a:noFill/>
          <a:ln w="22871">
            <a:solidFill>
              <a:srgbClr val="0891B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793882" y="5414293"/>
            <a:ext cx="3483148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Ibu bapa kurang maklum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3882" y="5665798"/>
            <a:ext cx="6783035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Ibu bapa tidak menerima status kehadiran sebenar secara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93882" y="5856386"/>
            <a:ext cx="5289300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langsung, hanya bergantung pada kata guru.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38588" y="6499030"/>
            <a:ext cx="1334118" cy="42685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25" b="0">
                <a:solidFill>
                  <a:srgbClr val="22D3EE"/>
                </a:solidFill>
                <a:latin typeface="JetBrains Mono ExtraBold"/>
              </a:rPr>
              <a:t>57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588" y="6841655"/>
            <a:ext cx="1966871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87" b="0">
                <a:solidFill>
                  <a:srgbClr val="94A3B8"/>
                </a:solidFill>
                <a:latin typeface="Plus Jakarta Sans SemiBold"/>
              </a:rPr>
              <a:t>MURID DIMONITOR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191765" y="6594353"/>
            <a:ext cx="0" cy="419294"/>
          </a:xfrm>
          <a:prstGeom prst="line">
            <a:avLst/>
          </a:prstGeom>
          <a:ln w="14294">
            <a:solidFill>
              <a:srgbClr val="334155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2458588" y="6499030"/>
            <a:ext cx="1334118" cy="42685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25" b="0">
                <a:solidFill>
                  <a:srgbClr val="67E8F9"/>
                </a:solidFill>
                <a:latin typeface="JetBrains Mono ExtraBold"/>
              </a:rPr>
              <a:t>675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58588" y="6841655"/>
            <a:ext cx="1654544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87" b="0">
                <a:solidFill>
                  <a:srgbClr val="94A3B8"/>
                </a:solidFill>
                <a:latin typeface="Plus Jakarta Sans SemiBold"/>
              </a:rPr>
              <a:t>REKOD DIGITAL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907059" y="6594353"/>
            <a:ext cx="0" cy="419294"/>
          </a:xfrm>
          <a:prstGeom prst="line">
            <a:avLst/>
          </a:prstGeom>
          <a:ln w="14294">
            <a:solidFill>
              <a:srgbClr val="334155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4173882" y="6499030"/>
            <a:ext cx="1334118" cy="42685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25" b="0">
                <a:solidFill>
                  <a:srgbClr val="A5B4FC"/>
                </a:solidFill>
                <a:latin typeface="JetBrains Mono ExtraBold"/>
              </a:rPr>
              <a:t>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73882" y="6841655"/>
            <a:ext cx="1591174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87" b="0">
                <a:solidFill>
                  <a:srgbClr val="94A3B8"/>
                </a:solidFill>
                <a:latin typeface="Plus Jakarta Sans SemiBold"/>
              </a:rPr>
              <a:t>HARI SEKOLAH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22353" y="6594353"/>
            <a:ext cx="0" cy="419294"/>
          </a:xfrm>
          <a:prstGeom prst="line">
            <a:avLst/>
          </a:prstGeom>
          <a:ln w="14294">
            <a:solidFill>
              <a:srgbClr val="334155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5889176" y="6499030"/>
            <a:ext cx="1334118" cy="42685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25" b="0">
                <a:solidFill>
                  <a:srgbClr val="FCD34D"/>
                </a:solidFill>
                <a:latin typeface="JetBrains Mono ExtraBold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89176" y="6841655"/>
            <a:ext cx="1835603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87" b="0">
                <a:solidFill>
                  <a:srgbClr val="94A3B8"/>
                </a:solidFill>
                <a:latin typeface="Plus Jakarta Sans SemiBold"/>
              </a:rPr>
              <a:t>REKOD DUPLIKAT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37647" y="6613412"/>
            <a:ext cx="2649176" cy="381176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4294">
            <a:solidFill>
              <a:srgbClr val="3341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528235" y="6674686"/>
            <a:ext cx="2116244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>
                <a:solidFill>
                  <a:srgbClr val="FCD34D"/>
                </a:solidFill>
                <a:latin typeface="Plus Jakarta Sans ExtraBold"/>
              </a:rPr>
              <a:t>ISIKAN ANGKA ANDA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8235" y="6818447"/>
            <a:ext cx="3542082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Plus Jakarta Sans"/>
              </a:rPr>
              <a:t>⟨ min/hari pembetulan manual 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2096471" y="4955294"/>
            <a:ext cx="6480000" cy="4574118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480000" y="-1620000"/>
            <a:ext cx="6670588" cy="4764706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4" y="419294"/>
            <a:ext cx="476471" cy="476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882" y="676946"/>
            <a:ext cx="44790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7918" y="667006"/>
            <a:ext cx="155043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Penyelesaian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33647" y="1405331"/>
            <a:ext cx="2077498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 spc="132">
                <a:solidFill>
                  <a:srgbClr val="0891B2"/>
                </a:solidFill>
                <a:latin typeface="Plus Jakarta Sans ExtraBold"/>
              </a:rPr>
              <a:t>PENYELESAIAN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647" y="1490581"/>
            <a:ext cx="8605936" cy="5313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76" b="1" spc="-50">
                <a:solidFill>
                  <a:srgbClr val="0F172A"/>
                </a:solidFill>
                <a:latin typeface="Plus Jakarta Sans ExtraBold"/>
              </a:rPr>
              <a:t>Lima modul, satu sumber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8824" y="1668414"/>
            <a:ext cx="7045571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Semua skrin membaca daripada Google Sheet yang sama,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8824" y="1849473"/>
            <a:ext cx="5533729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jadi angka di mana-mana skrin sentiasa sama.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647" y="2210824"/>
            <a:ext cx="1810588" cy="24014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3647" y="2210824"/>
            <a:ext cx="1810588" cy="47647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52824" y="2468118"/>
            <a:ext cx="362118" cy="362118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38588" y="2553882"/>
            <a:ext cx="66706" cy="66706"/>
          </a:xfrm>
          <a:prstGeom prst="roundRect">
            <a:avLst>
              <a:gd name="adj" fmla="val 21428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33882" y="2553882"/>
            <a:ext cx="66706" cy="66706"/>
          </a:xfrm>
          <a:prstGeom prst="roundRect">
            <a:avLst>
              <a:gd name="adj" fmla="val 21428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029176" y="2553882"/>
            <a:ext cx="38118" cy="66706"/>
          </a:xfrm>
          <a:prstGeom prst="roundRect">
            <a:avLst>
              <a:gd name="adj" fmla="val 375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8588" y="2649176"/>
            <a:ext cx="66706" cy="66706"/>
          </a:xfrm>
          <a:prstGeom prst="roundRect">
            <a:avLst>
              <a:gd name="adj" fmla="val 21428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29176" y="2649176"/>
            <a:ext cx="38118" cy="66706"/>
          </a:xfrm>
          <a:prstGeom prst="roundRect">
            <a:avLst>
              <a:gd name="adj" fmla="val 375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38588" y="2744471"/>
            <a:ext cx="66706" cy="38118"/>
          </a:xfrm>
          <a:prstGeom prst="roundRect">
            <a:avLst>
              <a:gd name="adj" fmla="val 375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33882" y="2744471"/>
            <a:ext cx="66706" cy="38118"/>
          </a:xfrm>
          <a:prstGeom prst="roundRect">
            <a:avLst>
              <a:gd name="adj" fmla="val 375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29176" y="2744471"/>
            <a:ext cx="38118" cy="38118"/>
          </a:xfrm>
          <a:prstGeom prst="roundRect">
            <a:avLst>
              <a:gd name="adj" fmla="val 375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4235" y="2940796"/>
            <a:ext cx="1528165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Pemimbas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35" y="3112325"/>
            <a:ext cx="1336062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QR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35" y="3345872"/>
            <a:ext cx="1334118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JetBrains Mono"/>
              </a:rPr>
              <a:t>scan.html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35" y="3573477"/>
            <a:ext cx="208003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Murid imbas kod 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35" y="3725948"/>
            <a:ext cx="203929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pintu guna kamera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35" y="3878418"/>
            <a:ext cx="162738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telefon. Boleh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35" y="4030889"/>
            <a:ext cx="178581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berfungsi tanpa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35" y="4183359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internet.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4235" y="4364471"/>
            <a:ext cx="838588" cy="16200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23047" y="4396952"/>
            <a:ext cx="1640965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12" b="1">
                <a:solidFill>
                  <a:srgbClr val="0E7490"/>
                </a:solidFill>
                <a:latin typeface="Plus Jakarta Sans SemiBold"/>
              </a:rPr>
              <a:t>TANPA INTERNET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87176" y="2210824"/>
            <a:ext cx="1810588" cy="24014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487176" y="2210824"/>
            <a:ext cx="1810588" cy="4764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2706353" y="2468118"/>
            <a:ext cx="362118" cy="36211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2773059" y="2725412"/>
            <a:ext cx="57176" cy="9529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2868353" y="2668235"/>
            <a:ext cx="57176" cy="152471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2963647" y="2592000"/>
            <a:ext cx="57176" cy="228706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677765" y="2940796"/>
            <a:ext cx="1593527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7765" y="3112325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Admin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77765" y="3345872"/>
            <a:ext cx="1334118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JetBrains Mono"/>
              </a:rPr>
              <a:t>index.html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7765" y="3573477"/>
            <a:ext cx="180844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KPI, carta trend,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7765" y="3725948"/>
            <a:ext cx="192613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ranking kelas dan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7765" y="3878418"/>
            <a:ext cx="154590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senarai murid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7765" y="4030889"/>
            <a:ext cx="202118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berisiko. Tindakan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7765" y="4183359"/>
            <a:ext cx="258247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intervensi auto-simpan.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7765" y="4364471"/>
            <a:ext cx="991059" cy="1620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2357338" y="4396952"/>
            <a:ext cx="1631912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12" b="1">
                <a:solidFill>
                  <a:srgbClr val="6D28D9"/>
                </a:solidFill>
                <a:latin typeface="Plus Jakarta Sans SemiBold"/>
              </a:rPr>
              <a:t>TINDAKAN GURU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40706" y="2210824"/>
            <a:ext cx="1810588" cy="24014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440706" y="2210824"/>
            <a:ext cx="1810588" cy="47647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4659882" y="2468118"/>
            <a:ext cx="362118" cy="362118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4783765" y="2544353"/>
            <a:ext cx="114353" cy="114353"/>
          </a:xfrm>
          <a:prstGeom prst="ellipse">
            <a:avLst/>
          </a:prstGeom>
          <a:noFill/>
          <a:ln w="22871">
            <a:solidFill>
              <a:srgbClr val="05966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8" name="Freeform 57"/>
          <p:cNvSpPr/>
          <p:nvPr/>
        </p:nvSpPr>
        <p:spPr>
          <a:xfrm>
            <a:off x="4727996" y="2649176"/>
            <a:ext cx="227298" cy="114353"/>
          </a:xfrm>
          <a:custGeom>
            <a:avLst/>
            <a:gdLst/>
            <a:ahLst/>
            <a:cxnLst/>
            <a:rect l="l" t="t" r="r" b="b"/>
            <a:pathLst>
              <a:path w="227298" h="114353">
                <a:moveTo>
                  <a:pt x="8122" y="114353"/>
                </a:moveTo>
                <a:lnTo>
                  <a:pt x="0" y="96465"/>
                </a:lnTo>
                <a:lnTo>
                  <a:pt x="4189" y="79016"/>
                </a:lnTo>
                <a:lnTo>
                  <a:pt x="11056" y="62438"/>
                </a:lnTo>
                <a:lnTo>
                  <a:pt x="20432" y="47138"/>
                </a:lnTo>
                <a:lnTo>
                  <a:pt x="32085" y="33494"/>
                </a:lnTo>
                <a:lnTo>
                  <a:pt x="45730" y="21840"/>
                </a:lnTo>
                <a:lnTo>
                  <a:pt x="61030" y="12464"/>
                </a:lnTo>
                <a:lnTo>
                  <a:pt x="77608" y="5597"/>
                </a:lnTo>
                <a:lnTo>
                  <a:pt x="95056" y="1408"/>
                </a:lnTo>
                <a:lnTo>
                  <a:pt x="112945" y="0"/>
                </a:lnTo>
                <a:lnTo>
                  <a:pt x="130834" y="1408"/>
                </a:lnTo>
                <a:lnTo>
                  <a:pt x="148282" y="5597"/>
                </a:lnTo>
                <a:lnTo>
                  <a:pt x="164860" y="12464"/>
                </a:lnTo>
                <a:lnTo>
                  <a:pt x="180160" y="21840"/>
                </a:lnTo>
                <a:lnTo>
                  <a:pt x="193805" y="33494"/>
                </a:lnTo>
                <a:lnTo>
                  <a:pt x="205459" y="47138"/>
                </a:lnTo>
                <a:lnTo>
                  <a:pt x="214834" y="62438"/>
                </a:lnTo>
                <a:lnTo>
                  <a:pt x="221701" y="79016"/>
                </a:lnTo>
                <a:lnTo>
                  <a:pt x="225890" y="96465"/>
                </a:lnTo>
                <a:lnTo>
                  <a:pt x="227298" y="114353"/>
                </a:lnTo>
              </a:path>
            </a:pathLst>
          </a:custGeom>
          <a:noFill/>
          <a:ln w="22871">
            <a:solidFill>
              <a:srgbClr val="05966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631294" y="2940796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Portal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31294" y="3112325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Ibu Bapa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31294" y="3345872"/>
            <a:ext cx="1423694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059669"/>
                </a:solidFill>
                <a:latin typeface="JetBrains Mono"/>
              </a:rPr>
              <a:t>parent.html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31294" y="3573477"/>
            <a:ext cx="179939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Paparan ringkas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31294" y="3725948"/>
            <a:ext cx="181297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kehadiran tanpa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31294" y="3878418"/>
            <a:ext cx="184918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perlu log masuk.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31294" y="4030889"/>
            <a:ext cx="164549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Dikongsi terus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31294" y="4183359"/>
            <a:ext cx="188539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daripada sistem.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31294" y="4364471"/>
            <a:ext cx="914824" cy="1620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397228" y="4396952"/>
            <a:ext cx="1382956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12" b="1">
                <a:solidFill>
                  <a:srgbClr val="047857"/>
                </a:solidFill>
                <a:latin typeface="Plus Jakarta Sans SemiBold"/>
              </a:rPr>
              <a:t>TANPA LOGIN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94235" y="2210824"/>
            <a:ext cx="1810588" cy="24014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6394235" y="2210824"/>
            <a:ext cx="1810588" cy="4764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6613412" y="2468118"/>
            <a:ext cx="362118" cy="362118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6680118" y="2553882"/>
            <a:ext cx="228706" cy="142941"/>
          </a:xfrm>
          <a:prstGeom prst="roundRect">
            <a:avLst>
              <a:gd name="adj" fmla="val 16666"/>
            </a:avLst>
          </a:prstGeom>
          <a:noFill/>
          <a:ln w="22871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3" name="Freeform 72"/>
          <p:cNvSpPr/>
          <p:nvPr/>
        </p:nvSpPr>
        <p:spPr>
          <a:xfrm>
            <a:off x="6737294" y="2696824"/>
            <a:ext cx="114353" cy="47647"/>
          </a:xfrm>
          <a:custGeom>
            <a:avLst/>
            <a:gdLst/>
            <a:ahLst/>
            <a:cxnLst/>
            <a:rect l="l" t="t" r="r" b="b"/>
            <a:pathLst>
              <a:path w="114353" h="47647">
                <a:moveTo>
                  <a:pt x="57177" y="0"/>
                </a:moveTo>
                <a:lnTo>
                  <a:pt x="57177" y="47647"/>
                </a:lnTo>
                <a:lnTo>
                  <a:pt x="0" y="47647"/>
                </a:lnTo>
                <a:lnTo>
                  <a:pt x="114353" y="47647"/>
                </a:lnTo>
              </a:path>
            </a:pathLst>
          </a:custGeom>
          <a:noFill/>
          <a:ln w="22871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584824" y="2940796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Paparan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4824" y="3112325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Pintu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4824" y="3345872"/>
            <a:ext cx="1334118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JetBrains Mono"/>
              </a:rPr>
              <a:t>gate.html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4824" y="3573477"/>
            <a:ext cx="187634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Untuk TV di pintu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4824" y="3725948"/>
            <a:ext cx="201666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pagar. Jam digital,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4824" y="3878418"/>
            <a:ext cx="176770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KPI raksasa dan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4824" y="4030889"/>
            <a:ext cx="204382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senarai lewat yang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4824" y="4183359"/>
            <a:ext cx="220677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berputar automatik.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4824" y="4364471"/>
            <a:ext cx="838588" cy="1620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283218" y="4396952"/>
            <a:ext cx="1441800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12" b="1">
                <a:solidFill>
                  <a:srgbClr val="B45309"/>
                </a:solidFill>
                <a:latin typeface="Plus Jakarta Sans SemiBold"/>
              </a:rPr>
              <a:t>AUTO-ROTASI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47765" y="2210824"/>
            <a:ext cx="1810588" cy="24014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8347765" y="2210824"/>
            <a:ext cx="1810588" cy="47647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8566941" y="2468118"/>
            <a:ext cx="362118" cy="362118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Freeform 86"/>
          <p:cNvSpPr/>
          <p:nvPr/>
        </p:nvSpPr>
        <p:spPr>
          <a:xfrm>
            <a:off x="8633647" y="2592000"/>
            <a:ext cx="228706" cy="114353"/>
          </a:xfrm>
          <a:custGeom>
            <a:avLst/>
            <a:gdLst/>
            <a:ahLst/>
            <a:cxnLst/>
            <a:rect l="l" t="t" r="r" b="b"/>
            <a:pathLst>
              <a:path w="228706" h="114353">
                <a:moveTo>
                  <a:pt x="0" y="0"/>
                </a:moveTo>
                <a:lnTo>
                  <a:pt x="228706" y="0"/>
                </a:lnTo>
                <a:lnTo>
                  <a:pt x="0" y="57176"/>
                </a:lnTo>
                <a:lnTo>
                  <a:pt x="228706" y="57176"/>
                </a:lnTo>
                <a:lnTo>
                  <a:pt x="0" y="114353"/>
                </a:lnTo>
                <a:lnTo>
                  <a:pt x="228706" y="114353"/>
                </a:lnTo>
              </a:path>
            </a:pathLst>
          </a:custGeom>
          <a:noFill/>
          <a:ln w="22871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8669859" y="2561506"/>
            <a:ext cx="60988" cy="60988"/>
          </a:xfrm>
          <a:prstGeom prst="ellipse">
            <a:avLst/>
          </a:prstGeom>
          <a:solidFill>
            <a:srgbClr val="FFF1F2"/>
          </a:solidFill>
          <a:ln w="22871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8774682" y="2618682"/>
            <a:ext cx="60988" cy="60988"/>
          </a:xfrm>
          <a:prstGeom prst="ellipse">
            <a:avLst/>
          </a:prstGeom>
          <a:solidFill>
            <a:srgbClr val="FFF1F2"/>
          </a:solidFill>
          <a:ln w="22871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8650800" y="2675859"/>
            <a:ext cx="60988" cy="60988"/>
          </a:xfrm>
          <a:prstGeom prst="ellipse">
            <a:avLst/>
          </a:prstGeom>
          <a:solidFill>
            <a:srgbClr val="FFF1F2"/>
          </a:solidFill>
          <a:ln w="22871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8538353" y="2940796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Panel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38353" y="3112325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1">
                <a:solidFill>
                  <a:srgbClr val="0F172A"/>
                </a:solidFill>
                <a:latin typeface="Plus Jakarta Sans ExtraBold"/>
              </a:rPr>
              <a:t>Tetapan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38353" y="3345872"/>
            <a:ext cx="1334118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BE123C"/>
                </a:solidFill>
                <a:latin typeface="JetBrains Mono"/>
              </a:rPr>
              <a:t>Panel.html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38353" y="3573477"/>
            <a:ext cx="209813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Urus senarai murid,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38353" y="3725948"/>
            <a:ext cx="224298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masa cutoff dan cuti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38353" y="3878418"/>
            <a:ext cx="194876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terus dari Google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38353" y="4030889"/>
            <a:ext cx="152327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Sheet. Tanpa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38353" y="4183359"/>
            <a:ext cx="1894447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menyunting kod.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38353" y="4364471"/>
            <a:ext cx="838588" cy="16200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8290588" y="4396952"/>
            <a:ext cx="1334118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12" b="1">
                <a:solidFill>
                  <a:srgbClr val="BE123C"/>
                </a:solidFill>
                <a:latin typeface="Plus Jakarta Sans SemiBold"/>
              </a:rPr>
              <a:t>NO-CODE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3647" y="4893096"/>
            <a:ext cx="1869099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 spc="132">
                <a:solidFill>
                  <a:srgbClr val="0891B2"/>
                </a:solidFill>
                <a:latin typeface="Plus Jakarta Sans ExtraBold"/>
              </a:rPr>
              <a:t>ALIRAN DATA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3647" y="5164941"/>
            <a:ext cx="2020235" cy="628941"/>
          </a:xfrm>
          <a:prstGeom prst="roundRect">
            <a:avLst>
              <a:gd name="adj" fmla="val 21212"/>
            </a:avLst>
          </a:prstGeom>
          <a:solidFill>
            <a:srgbClr val="0F172A"/>
          </a:solidFill>
          <a:ln>
            <a:noFill/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757231" y="5317769"/>
            <a:ext cx="157306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>
                <a:solidFill>
                  <a:srgbClr val="22D3EE"/>
                </a:solidFill>
                <a:latin typeface="Plus Jakarta Sans ExtraBold"/>
              </a:rPr>
              <a:t>Imbasan QR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5546" y="5536126"/>
            <a:ext cx="163643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94A3B8"/>
                </a:solidFill>
                <a:latin typeface="Plus Jakarta Sans SemiBold"/>
              </a:rPr>
              <a:t>kamera telefon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2630118" y="5479412"/>
            <a:ext cx="419294" cy="0"/>
          </a:xfrm>
          <a:custGeom>
            <a:avLst/>
            <a:gdLst/>
            <a:ahLst/>
            <a:cxnLst/>
            <a:rect l="l" t="t" r="r" b="b"/>
            <a:pathLst>
              <a:path w="419294" h="0">
                <a:moveTo>
                  <a:pt x="0" y="0"/>
                </a:moveTo>
                <a:lnTo>
                  <a:pt x="419294" y="0"/>
                </a:lnTo>
              </a:path>
            </a:pathLst>
          </a:custGeom>
          <a:solidFill>
            <a:srgbClr val="000000"/>
          </a:solidFill>
          <a:ln w="19059">
            <a:solidFill>
              <a:srgbClr val="94A3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6" name="Freeform 105"/>
          <p:cNvSpPr/>
          <p:nvPr/>
        </p:nvSpPr>
        <p:spPr>
          <a:xfrm>
            <a:off x="2963647" y="5431765"/>
            <a:ext cx="85765" cy="95294"/>
          </a:xfrm>
          <a:custGeom>
            <a:avLst/>
            <a:gdLst/>
            <a:ahLst/>
            <a:cxnLst/>
            <a:rect l="l" t="t" r="r" b="b"/>
            <a:pathLst>
              <a:path w="85765" h="95294">
                <a:moveTo>
                  <a:pt x="85765" y="47647"/>
                </a:moveTo>
                <a:lnTo>
                  <a:pt x="0" y="0"/>
                </a:lnTo>
                <a:lnTo>
                  <a:pt x="0" y="95294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Rounded Rectangle 106"/>
          <p:cNvSpPr/>
          <p:nvPr/>
        </p:nvSpPr>
        <p:spPr>
          <a:xfrm>
            <a:off x="3144706" y="5164941"/>
            <a:ext cx="2020235" cy="628941"/>
          </a:xfrm>
          <a:prstGeom prst="roundRect">
            <a:avLst>
              <a:gd name="adj" fmla="val 21212"/>
            </a:avLst>
          </a:prstGeom>
          <a:solidFill>
            <a:srgbClr val="0F172A"/>
          </a:solidFill>
          <a:ln>
            <a:noFill/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207600" y="5317769"/>
            <a:ext cx="189444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>
                <a:solidFill>
                  <a:srgbClr val="22D3EE"/>
                </a:solidFill>
                <a:latin typeface="Plus Jakarta Sans ExtraBold"/>
              </a:rPr>
              <a:t>Semak pendua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50844" y="5536126"/>
            <a:ext cx="3007959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94A3B8"/>
                </a:solidFill>
                <a:latin typeface="Plus Jakarta Sans SemiBold"/>
              </a:rPr>
              <a:t>satu rekod sebagai satu murid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5241176" y="5479412"/>
            <a:ext cx="419295" cy="0"/>
          </a:xfrm>
          <a:custGeom>
            <a:avLst/>
            <a:gdLst/>
            <a:ahLst/>
            <a:cxnLst/>
            <a:rect l="l" t="t" r="r" b="b"/>
            <a:pathLst>
              <a:path w="419295" h="0">
                <a:moveTo>
                  <a:pt x="0" y="0"/>
                </a:moveTo>
                <a:lnTo>
                  <a:pt x="419295" y="0"/>
                </a:lnTo>
              </a:path>
            </a:pathLst>
          </a:custGeom>
          <a:solidFill>
            <a:srgbClr val="000000"/>
          </a:solidFill>
          <a:ln w="19059">
            <a:solidFill>
              <a:srgbClr val="94A3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1" name="Freeform 110"/>
          <p:cNvSpPr/>
          <p:nvPr/>
        </p:nvSpPr>
        <p:spPr>
          <a:xfrm>
            <a:off x="5574706" y="5431765"/>
            <a:ext cx="85765" cy="95294"/>
          </a:xfrm>
          <a:custGeom>
            <a:avLst/>
            <a:gdLst/>
            <a:ahLst/>
            <a:cxnLst/>
            <a:rect l="l" t="t" r="r" b="b"/>
            <a:pathLst>
              <a:path w="85765" h="95294">
                <a:moveTo>
                  <a:pt x="85765" y="47647"/>
                </a:moveTo>
                <a:lnTo>
                  <a:pt x="0" y="0"/>
                </a:lnTo>
                <a:lnTo>
                  <a:pt x="0" y="95294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Rounded Rectangle 111"/>
          <p:cNvSpPr/>
          <p:nvPr/>
        </p:nvSpPr>
        <p:spPr>
          <a:xfrm>
            <a:off x="5755765" y="5164941"/>
            <a:ext cx="2020235" cy="628941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884293" y="5317769"/>
            <a:ext cx="176317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>
                <a:solidFill>
                  <a:srgbClr val="FFFFFF"/>
                </a:solidFill>
                <a:latin typeface="Plus Jakarta Sans ExtraBold"/>
              </a:rPr>
              <a:t>Google Sheet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82447" y="5536126"/>
            <a:ext cx="1966871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CFFAFE"/>
                </a:solidFill>
                <a:latin typeface="Plus Jakarta Sans SemiBold"/>
              </a:rPr>
              <a:t>sumber kebenaran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7852235" y="5479412"/>
            <a:ext cx="419294" cy="0"/>
          </a:xfrm>
          <a:custGeom>
            <a:avLst/>
            <a:gdLst/>
            <a:ahLst/>
            <a:cxnLst/>
            <a:rect l="l" t="t" r="r" b="b"/>
            <a:pathLst>
              <a:path w="419294" h="0">
                <a:moveTo>
                  <a:pt x="0" y="0"/>
                </a:moveTo>
                <a:lnTo>
                  <a:pt x="419294" y="0"/>
                </a:lnTo>
              </a:path>
            </a:pathLst>
          </a:custGeom>
          <a:solidFill>
            <a:srgbClr val="000000"/>
          </a:solidFill>
          <a:ln w="19059">
            <a:solidFill>
              <a:srgbClr val="94A3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6" name="Freeform 115"/>
          <p:cNvSpPr/>
          <p:nvPr/>
        </p:nvSpPr>
        <p:spPr>
          <a:xfrm>
            <a:off x="8185765" y="5431765"/>
            <a:ext cx="85764" cy="95294"/>
          </a:xfrm>
          <a:custGeom>
            <a:avLst/>
            <a:gdLst/>
            <a:ahLst/>
            <a:cxnLst/>
            <a:rect l="l" t="t" r="r" b="b"/>
            <a:pathLst>
              <a:path w="85764" h="95294">
                <a:moveTo>
                  <a:pt x="85764" y="47647"/>
                </a:moveTo>
                <a:lnTo>
                  <a:pt x="0" y="0"/>
                </a:lnTo>
                <a:lnTo>
                  <a:pt x="0" y="95294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Rounded Rectangle 116"/>
          <p:cNvSpPr/>
          <p:nvPr/>
        </p:nvSpPr>
        <p:spPr>
          <a:xfrm>
            <a:off x="8366824" y="5164941"/>
            <a:ext cx="1791529" cy="628941"/>
          </a:xfrm>
          <a:prstGeom prst="roundRect">
            <a:avLst>
              <a:gd name="adj" fmla="val 21212"/>
            </a:avLst>
          </a:prstGeom>
          <a:solidFill>
            <a:srgbClr val="0F172A"/>
          </a:solidFill>
          <a:ln>
            <a:noFill/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8595529" y="5264743"/>
            <a:ext cx="1334118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1">
                <a:solidFill>
                  <a:srgbClr val="A5B4FC"/>
                </a:solidFill>
                <a:latin typeface="Plus Jakarta Sans ExtraBold"/>
              </a:rPr>
              <a:t>Dashboard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87371" y="5426743"/>
            <a:ext cx="1550435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1">
                <a:solidFill>
                  <a:srgbClr val="A5B4FC"/>
                </a:solidFill>
                <a:latin typeface="Plus Jakarta Sans ExtraBold"/>
              </a:rPr>
              <a:t>Paparan Pintu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95529" y="5588743"/>
            <a:ext cx="1334118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1">
                <a:solidFill>
                  <a:srgbClr val="A5B4FC"/>
                </a:solidFill>
                <a:latin typeface="Plus Jakarta Sans ExtraBold"/>
              </a:rPr>
              <a:t>Ibu Bapa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33647" y="6060706"/>
            <a:ext cx="9624706" cy="106729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2" name="Rounded Rectangle 121"/>
          <p:cNvSpPr/>
          <p:nvPr/>
        </p:nvSpPr>
        <p:spPr>
          <a:xfrm>
            <a:off x="533647" y="6060706"/>
            <a:ext cx="47647" cy="106729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62353" y="6209794"/>
            <a:ext cx="6355736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1" spc="-11">
                <a:solidFill>
                  <a:srgbClr val="0F172A"/>
                </a:solidFill>
                <a:latin typeface="Plus Jakarta Sans ExtraBold"/>
              </a:rPr>
              <a:t>Setiap tindakan guru meninggalkan jejak penuh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2353" y="6480357"/>
            <a:ext cx="110605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Status intervensi disimpan sebagai baris baharu, bukan menimpa baris lama. Setiap rekod membawa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2353" y="6670946"/>
            <a:ext cx="1122802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tarikh, masa sistem dan nama guru. Kronologi murid boleh dimuat turun sebagai PDF untuk fail sekolah.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2353" y="6889712"/>
            <a:ext cx="547488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64748B"/>
                </a:solidFill>
                <a:latin typeface="Plus Jakarta Sans SemiBold"/>
              </a:rPr>
              <a:t>Butiran penuh pada muka surat 4 · Inovasi &amp; Keunikan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480000" y="4669412"/>
            <a:ext cx="7242353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2287059" y="-1429412"/>
            <a:ext cx="6480000" cy="4574118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4" y="419294"/>
            <a:ext cx="476471" cy="476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882" y="676946"/>
            <a:ext cx="44790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9812" y="667006"/>
            <a:ext cx="156854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Impak &amp;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33647" y="1386272"/>
            <a:ext cx="1334118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 spc="132">
                <a:solidFill>
                  <a:srgbClr val="0891B2"/>
                </a:solidFill>
                <a:latin typeface="Plus Jakarta Sans ExtraBold"/>
              </a:rPr>
              <a:t>IMPAK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647" y="1471522"/>
            <a:ext cx="8515406" cy="5313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76" b="1" spc="-50">
                <a:solidFill>
                  <a:srgbClr val="0F172A"/>
                </a:solidFill>
                <a:latin typeface="Plus Jakarta Sans ExtraBold"/>
              </a:rPr>
              <a:t>Data sebenar daripada 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7926" y="1586800"/>
            <a:ext cx="437042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Tempoh: 26 Ogos – 28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9321" y="1758329"/>
            <a:ext cx="3619032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18 hari sekolah · 57 murid sasaran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647" y="2058353"/>
            <a:ext cx="2334706" cy="87670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3647" y="2058353"/>
            <a:ext cx="2334706" cy="3811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3294" y="2191727"/>
            <a:ext cx="1334118" cy="5691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1" b="0">
                <a:solidFill>
                  <a:srgbClr val="0891B2"/>
                </a:solidFill>
                <a:latin typeface="JetBrains Mono ExtraBold"/>
              </a:rP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294" y="2639595"/>
            <a:ext cx="201666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64748B"/>
                </a:solidFill>
                <a:latin typeface="Plus Jakarta Sans SemiBold"/>
              </a:rPr>
              <a:t>MURID DIPANTAU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3647" y="2058353"/>
            <a:ext cx="2334706" cy="87670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963647" y="2058353"/>
            <a:ext cx="2334706" cy="3811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173294" y="2191727"/>
            <a:ext cx="1396535" cy="5691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1" b="0">
                <a:solidFill>
                  <a:srgbClr val="7C3AED"/>
                </a:solidFill>
                <a:latin typeface="JetBrains Mono ExtraBold"/>
              </a:rPr>
              <a:t>675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3294" y="2639595"/>
            <a:ext cx="24195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64748B"/>
                </a:solidFill>
                <a:latin typeface="Plus Jakarta Sans SemiBold"/>
              </a:rPr>
              <a:t>REKOD DIREKODKAN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3647" y="2058353"/>
            <a:ext cx="2334706" cy="87670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93647" y="2058353"/>
            <a:ext cx="2334706" cy="3811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03294" y="2191727"/>
            <a:ext cx="2175088" cy="5691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1" b="0">
                <a:solidFill>
                  <a:srgbClr val="059669"/>
                </a:solidFill>
                <a:latin typeface="JetBrains Mono ExtraBold"/>
              </a:rPr>
              <a:t>82.7%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3294" y="2639595"/>
            <a:ext cx="2519100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64748B"/>
                </a:solidFill>
                <a:latin typeface="Plus Jakarta Sans SemiBold"/>
              </a:rPr>
              <a:t>IMBASAN TEPAT MASA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23647" y="2058353"/>
            <a:ext cx="2334706" cy="87670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823647" y="2058353"/>
            <a:ext cx="2334706" cy="3811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33294" y="2191727"/>
            <a:ext cx="1334118" cy="5691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1" b="0">
                <a:solidFill>
                  <a:srgbClr val="D97706"/>
                </a:solidFill>
                <a:latin typeface="JetBrains Mono ExtraBold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3294" y="2639595"/>
            <a:ext cx="243762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64748B"/>
                </a:solidFill>
                <a:latin typeface="Plus Jakarta Sans SemiBold"/>
              </a:rPr>
              <a:t>MURID RISIKO TINGGI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647" y="3106588"/>
            <a:ext cx="4764706" cy="243952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43294" y="3255676"/>
            <a:ext cx="4267223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1" spc="-11">
                <a:solidFill>
                  <a:srgbClr val="0F172A"/>
                </a:solidFill>
                <a:latin typeface="Plus Jakarta Sans ExtraBold"/>
              </a:rPr>
              <a:t>Enam punca lewat paling kerap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294" y="3463684"/>
            <a:ext cx="2623209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64748B"/>
                </a:solidFill>
                <a:latin typeface="Plus Jakarta Sans SemiBold"/>
              </a:rPr>
              <a:t>Daripada 117 rekod lewat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3" y="3745006"/>
            <a:ext cx="164549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Bangun Lewat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58588" y="3745059"/>
            <a:ext cx="2001176" cy="142941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458588" y="3745059"/>
            <a:ext cx="2001176" cy="142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36000" y="3752458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0E7490"/>
                </a:solidFill>
                <a:latin typeface="JetBrains Mono ExtraBold"/>
              </a:rPr>
              <a:t>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488" y="4040418"/>
            <a:ext cx="161380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Cuaca / Hujan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58588" y="4040471"/>
            <a:ext cx="2001176" cy="142941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2458588" y="4040471"/>
            <a:ext cx="933882" cy="142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468706" y="4047870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0E7490"/>
                </a:solidFill>
                <a:latin typeface="JetBrains Mono ExtraBold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9176" y="4335830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Lain-lain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58588" y="4335882"/>
            <a:ext cx="2001176" cy="142941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458588" y="4335882"/>
            <a:ext cx="514588" cy="142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049412" y="4343282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0E7490"/>
                </a:solidFill>
                <a:latin typeface="JetBrains Mono ExtraBold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8862" y="4631242"/>
            <a:ext cx="146443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Tiada Alasan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58588" y="4631294"/>
            <a:ext cx="2001176" cy="142941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2458588" y="4631294"/>
            <a:ext cx="419294" cy="142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954118" y="4638694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0E7490"/>
                </a:solidFill>
                <a:latin typeface="JetBrains Mono ExtraBold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179" y="4926653"/>
            <a:ext cx="141011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Siap lambat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58588" y="4926706"/>
            <a:ext cx="2001176" cy="142941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2458588" y="4926706"/>
            <a:ext cx="419294" cy="142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2954118" y="4934105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0E7490"/>
                </a:solidFill>
                <a:latin typeface="JetBrains Mono ExtraBold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9176" y="5222065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Kenderaan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58588" y="5222118"/>
            <a:ext cx="2001176" cy="142941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2458588" y="5222118"/>
            <a:ext cx="371647" cy="142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906471" y="5229517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0E7490"/>
                </a:solidFill>
                <a:latin typeface="JetBrains Mono ExtraBold"/>
              </a:rPr>
              <a:t>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93647" y="3106588"/>
            <a:ext cx="4764706" cy="243952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603294" y="3255676"/>
            <a:ext cx="4132334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1" spc="-11">
                <a:solidFill>
                  <a:srgbClr val="0F172A"/>
                </a:solidFill>
                <a:latin typeface="Plus Jakarta Sans ExtraBold"/>
              </a:rPr>
              <a:t>Kadar lewat mengikut minggu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3294" y="3463684"/>
            <a:ext cx="3886094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64748B"/>
                </a:solidFill>
                <a:latin typeface="Plus Jakarta Sans SemiBold"/>
              </a:rPr>
              <a:t>Peratus imbasan yang berstatus lewat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79529" y="5193529"/>
            <a:ext cx="428823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64" name="Rounded Rectangle 63"/>
          <p:cNvSpPr/>
          <p:nvPr/>
        </p:nvSpPr>
        <p:spPr>
          <a:xfrm>
            <a:off x="5812941" y="4412118"/>
            <a:ext cx="552706" cy="781412"/>
          </a:xfrm>
          <a:prstGeom prst="roundRect">
            <a:avLst>
              <a:gd name="adj" fmla="val 10344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22235" y="4238458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62" b="0">
                <a:solidFill>
                  <a:srgbClr val="0369A1"/>
                </a:solidFill>
                <a:latin typeface="JetBrains Mono ExtraBold"/>
              </a:rPr>
              <a:t>22.9%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2235" y="5269303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24 Ogos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70588" y="4793294"/>
            <a:ext cx="552706" cy="400235"/>
          </a:xfrm>
          <a:prstGeom prst="roundRect">
            <a:avLst>
              <a:gd name="adj" fmla="val 14285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279882" y="4619635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62" b="0">
                <a:solidFill>
                  <a:srgbClr val="0369A1"/>
                </a:solidFill>
                <a:latin typeface="JetBrains Mono ExtraBold"/>
              </a:rPr>
              <a:t>11.6%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79882" y="5269303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7 Sep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28235" y="4669412"/>
            <a:ext cx="552706" cy="524118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137529" y="4495753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62" b="0">
                <a:solidFill>
                  <a:srgbClr val="0369A1"/>
                </a:solidFill>
                <a:latin typeface="JetBrains Mono ExtraBold"/>
              </a:rPr>
              <a:t>15.2%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7529" y="5269303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14 Sep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85882" y="4393059"/>
            <a:ext cx="552706" cy="800471"/>
          </a:xfrm>
          <a:prstGeom prst="roundRect">
            <a:avLst>
              <a:gd name="adj" fmla="val 10344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995176" y="4219400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62" b="0">
                <a:solidFill>
                  <a:srgbClr val="0369A1"/>
                </a:solidFill>
                <a:latin typeface="JetBrains Mono ExtraBold"/>
              </a:rPr>
              <a:t>23.2%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5176" y="5269303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21 Sep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43529" y="4650353"/>
            <a:ext cx="552706" cy="543176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852824" y="4476694"/>
            <a:ext cx="1334118" cy="181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62" b="0">
                <a:solidFill>
                  <a:srgbClr val="0369A1"/>
                </a:solidFill>
                <a:latin typeface="JetBrains Mono ExtraBold"/>
              </a:rPr>
              <a:t>15.8%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52824" y="5269303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28 Sep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3647" y="5736706"/>
            <a:ext cx="3068471" cy="667059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4294">
            <a:solidFill>
              <a:srgbClr val="A7F3D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43294" y="5838328"/>
            <a:ext cx="2066453" cy="379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047857"/>
                </a:solidFill>
                <a:latin typeface="JetBrains Mono ExtraBold"/>
              </a:rPr>
              <a:t>5 kelas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3294" y="6146418"/>
            <a:ext cx="2826900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100% imbasan tepat masa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97412" y="5736706"/>
            <a:ext cx="3068471" cy="667059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4294">
            <a:solidFill>
              <a:srgbClr val="BFDB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907059" y="5838328"/>
            <a:ext cx="3116594" cy="379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1D4ED8"/>
                </a:solidFill>
                <a:latin typeface="JetBrains Mono ExtraBold"/>
              </a:rPr>
              <a:t>07:21–07:27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07059" y="6146418"/>
            <a:ext cx="325691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Puncak tempoh imbasan murid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61176" y="5736706"/>
            <a:ext cx="3297176" cy="667059"/>
          </a:xfrm>
          <a:prstGeom prst="roundRect">
            <a:avLst>
              <a:gd name="adj" fmla="val 20000"/>
            </a:avLst>
          </a:prstGeom>
          <a:solidFill>
            <a:srgbClr val="FAF5FF"/>
          </a:solidFill>
          <a:ln w="14294">
            <a:solidFill>
              <a:srgbClr val="E9D5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070824" y="5838328"/>
            <a:ext cx="1541382" cy="379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7E22CE"/>
                </a:solidFill>
                <a:latin typeface="JetBrains Mono ExtraBold"/>
              </a:rPr>
              <a:t>1 ×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0824" y="6146418"/>
            <a:ext cx="327502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Rekod imbasan yang berganda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3647" y="6556235"/>
            <a:ext cx="3144706" cy="667059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724235" y="6698305"/>
            <a:ext cx="2391454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1" spc="90">
                <a:solidFill>
                  <a:srgbClr val="FCD34D"/>
                </a:solidFill>
                <a:latin typeface="Plus Jakarta Sans ExtraBold"/>
              </a:rPr>
              <a:t>ISIKAN ANGKA 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4235" y="6937769"/>
            <a:ext cx="203929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CBD5E1"/>
                </a:solidFill>
                <a:latin typeface="Plus Jakarta Sans"/>
              </a:rPr>
              <a:t>⟨ min/hari dijim ⟩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773647" y="6556235"/>
            <a:ext cx="3144706" cy="667059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964235" y="6698305"/>
            <a:ext cx="2391454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1" spc="90">
                <a:solidFill>
                  <a:srgbClr val="FCD34D"/>
                </a:solidFill>
                <a:latin typeface="Plus Jakarta Sans ExtraBold"/>
              </a:rPr>
              <a:t>ISIKAN ANGKA ANDA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64235" y="6937769"/>
            <a:ext cx="341986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CBD5E1"/>
                </a:solidFill>
                <a:latin typeface="Plus Jakarta Sans"/>
              </a:rPr>
              <a:t>⟨ bilangan guru guna sistem ⟩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013647" y="6556235"/>
            <a:ext cx="3144706" cy="667059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7204235" y="6698305"/>
            <a:ext cx="2391454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1" spc="90">
                <a:solidFill>
                  <a:srgbClr val="FCD34D"/>
                </a:solidFill>
                <a:latin typeface="Plus Jakarta Sans ExtraBold"/>
              </a:rPr>
              <a:t>ISIKAN ANGKA ANDA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04235" y="6937769"/>
            <a:ext cx="388156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CBD5E1"/>
                </a:solidFill>
                <a:latin typeface="Plus Jakarta Sans"/>
              </a:rPr>
              <a:t>⟨ purata ketiadaan tanpa sistem 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381176" y="-1810588"/>
            <a:ext cx="9910588" cy="4192941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670588" y="5241176"/>
            <a:ext cx="6861176" cy="4383529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4" y="419294"/>
            <a:ext cx="476471" cy="476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882" y="676946"/>
            <a:ext cx="44790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9268" y="667006"/>
            <a:ext cx="208908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Inovasi &amp; Keunikan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33647" y="1405331"/>
            <a:ext cx="1334118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 spc="132">
                <a:solidFill>
                  <a:srgbClr val="0891B2"/>
                </a:solidFill>
                <a:latin typeface="Plus Jakarta Sans ExtraBold"/>
              </a:rPr>
              <a:t>INOVASI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647" y="1490581"/>
            <a:ext cx="11736080" cy="5313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76" b="1" spc="-50">
                <a:solidFill>
                  <a:srgbClr val="0F172A"/>
                </a:solidFill>
                <a:latin typeface="Plus Jakarta Sans ExtraBold"/>
              </a:rPr>
              <a:t>Enam perkara yang membezakan Q-TIBA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4653" y="1605858"/>
            <a:ext cx="4673700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Bukan sekadar aplikasi disiplin — setiap ciri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2982" y="1777388"/>
            <a:ext cx="427537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direka untuk keadaan sekolah sebenar.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647" y="2210824"/>
            <a:ext cx="3144706" cy="186776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3647" y="2210824"/>
            <a:ext cx="3144706" cy="47647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14706" y="2449059"/>
            <a:ext cx="324000" cy="324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09647" y="2531850"/>
            <a:ext cx="1334118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 ExtraBol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529" y="2526881"/>
            <a:ext cx="3831233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Sejarah tidak pernah hilang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294" y="2897299"/>
            <a:ext cx="521687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Setiap perubahan intervensi disimpan sebagai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294" y="3087887"/>
            <a:ext cx="464201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baris baharu, bukan menimpa baris lama.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294" y="3278475"/>
            <a:ext cx="470538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Setiap rekod membawa tarikh guru, masa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94" y="3469063"/>
            <a:ext cx="430705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sistem dan nama guru yang mencatat.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294" y="3735529"/>
            <a:ext cx="1429412" cy="19058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196" y="3777745"/>
            <a:ext cx="2007609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1">
                <a:solidFill>
                  <a:srgbClr val="6D28D9"/>
                </a:solidFill>
                <a:latin typeface="Plus Jakarta Sans SemiBold"/>
              </a:rPr>
              <a:t>APPEND-ONLY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73647" y="2210824"/>
            <a:ext cx="3144706" cy="186776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773647" y="2210824"/>
            <a:ext cx="3144706" cy="47647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954706" y="2449059"/>
            <a:ext cx="324000" cy="32400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49647" y="2531850"/>
            <a:ext cx="1334118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 Extra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3529" y="2526881"/>
            <a:ext cx="4530030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Sistem mencadangkan tindakan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3294" y="2897299"/>
            <a:ext cx="456959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Cadangan status intervensi berdasarkan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3294" y="3087887"/>
            <a:ext cx="45967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jumlah kes murid, supaya tahap tindakan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83294" y="3278475"/>
            <a:ext cx="453790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supaya tahap tindakan sepadan dengan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3294" y="3544941"/>
            <a:ext cx="2744471" cy="381176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97647" y="3616931"/>
            <a:ext cx="1998556" cy="1501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0">
                <a:solidFill>
                  <a:srgbClr val="0E7490"/>
                </a:solidFill>
                <a:latin typeface="JetBrains Mono"/>
              </a:rPr>
              <a:t>1–2 kes → Surat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5529" y="3616931"/>
            <a:ext cx="1582121" cy="1501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0">
                <a:solidFill>
                  <a:srgbClr val="0E7490"/>
                </a:solidFill>
                <a:latin typeface="JetBrains Mono"/>
              </a:rPr>
              <a:t>3–4 → Surat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7647" y="3769402"/>
            <a:ext cx="1582121" cy="1501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0">
                <a:solidFill>
                  <a:srgbClr val="0E7490"/>
                </a:solidFill>
                <a:latin typeface="JetBrains Mono"/>
              </a:rPr>
              <a:t>5–6 → Surat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5529" y="3769402"/>
            <a:ext cx="1894447" cy="1501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0">
                <a:solidFill>
                  <a:srgbClr val="0E7490"/>
                </a:solidFill>
                <a:latin typeface="JetBrains Mono"/>
              </a:rPr>
              <a:t>7–9 → Kaunseling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13647" y="2210824"/>
            <a:ext cx="3144706" cy="186776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7013647" y="2210824"/>
            <a:ext cx="3144706" cy="47647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194706" y="2449059"/>
            <a:ext cx="324000" cy="3240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89647" y="2531850"/>
            <a:ext cx="1334118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 ExtraBol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3529" y="2526881"/>
            <a:ext cx="3477535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Berfungsi tanpa internet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294" y="2897299"/>
            <a:ext cx="436590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Senarai murid disimpan dalam peranti,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294" y="3087887"/>
            <a:ext cx="440663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jadi imbasan tetap berfungsi walaupun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294" y="3278475"/>
            <a:ext cx="383177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rangkaian terputus. Data dihantar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294" y="3469063"/>
            <a:ext cx="299437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semula secara automatik.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294" y="3735529"/>
            <a:ext cx="1257882" cy="19058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950276" y="3777745"/>
            <a:ext cx="18039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1">
                <a:solidFill>
                  <a:srgbClr val="047857"/>
                </a:solidFill>
                <a:latin typeface="Plus Jakarta Sans SemiBold"/>
              </a:rPr>
              <a:t>OFFLINE + QUEUE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3647" y="4231059"/>
            <a:ext cx="3144706" cy="186776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533647" y="4231059"/>
            <a:ext cx="3144706" cy="47647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714706" y="4469294"/>
            <a:ext cx="324000" cy="324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209647" y="4552086"/>
            <a:ext cx="1334118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 ExtraBold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529" y="4547116"/>
            <a:ext cx="3615049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Pentadbir tidak perlu kod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3294" y="4917534"/>
            <a:ext cx="441569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Masa cutoff kelewatan dan senarai cuti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3294" y="5108122"/>
            <a:ext cx="438853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diubah terus dari Google Sheet melalui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3294" y="5298710"/>
            <a:ext cx="455148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panel terbina dalam. Perubahan berkuat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3294" y="5489299"/>
            <a:ext cx="421200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kuasa serta-merta pada semua skrin.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3294" y="5755765"/>
            <a:ext cx="1124471" cy="1905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19413" y="5797980"/>
            <a:ext cx="1772232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1">
                <a:solidFill>
                  <a:srgbClr val="B45309"/>
                </a:solidFill>
                <a:latin typeface="Plus Jakarta Sans SemiBold"/>
              </a:rPr>
              <a:t>NO-CODE SETUP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73647" y="4231059"/>
            <a:ext cx="3144706" cy="186776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3773647" y="4231059"/>
            <a:ext cx="3144706" cy="47647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3954706" y="4469294"/>
            <a:ext cx="324000" cy="3240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449647" y="4552086"/>
            <a:ext cx="1334118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 ExtraBold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3529" y="4547116"/>
            <a:ext cx="3399951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Satu sumber kebenaran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83294" y="4917534"/>
            <a:ext cx="420747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Dashboard, paparan pintu dan portal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83294" y="5108122"/>
            <a:ext cx="427537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ibu bapa membaca Sheet yang sama,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83294" y="5298710"/>
            <a:ext cx="403999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jadi tiada angka bercanggah antara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83294" y="5489299"/>
            <a:ext cx="387251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skrin. Satu kemas kini, semua ikut.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83294" y="5755765"/>
            <a:ext cx="1353176" cy="190588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816768" y="5797980"/>
            <a:ext cx="1686229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1">
                <a:solidFill>
                  <a:srgbClr val="BE123C"/>
                </a:solidFill>
                <a:latin typeface="Plus Jakarta Sans SemiBold"/>
              </a:rPr>
              <a:t>SINGLE SOURCE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13647" y="4231059"/>
            <a:ext cx="3144706" cy="186776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7013647" y="4231059"/>
            <a:ext cx="3144706" cy="47647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7194706" y="4469294"/>
            <a:ext cx="324000" cy="32400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89647" y="4552086"/>
            <a:ext cx="1334118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 ExtraBold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3529" y="4547116"/>
            <a:ext cx="3117590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Keselamatan berlapis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294" y="4917534"/>
            <a:ext cx="448811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PIN di-hash dengan SHA-256, kunci API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3294" y="5108122"/>
            <a:ext cx="424821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disimpan di pelayan dan tidak pernah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3294" y="5298710"/>
            <a:ext cx="458317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dedah kepada pelayar. Tindakan sensitif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294" y="5489299"/>
            <a:ext cx="411694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perlu token sesi dan input disanitasi.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23294" y="5755765"/>
            <a:ext cx="1143529" cy="190588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65106" y="5797980"/>
            <a:ext cx="1459906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1">
                <a:solidFill>
                  <a:srgbClr val="0E7490"/>
                </a:solidFill>
                <a:latin typeface="Plus Jakarta Sans SemiBold"/>
              </a:rPr>
              <a:t>FAIL-CLOSED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3647" y="6327529"/>
            <a:ext cx="9624706" cy="838588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62353" y="6523035"/>
            <a:ext cx="2715549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1" spc="105">
                <a:solidFill>
                  <a:srgbClr val="22D3EE"/>
                </a:solidFill>
                <a:latin typeface="Plus Jakarta Sans ExtraBold"/>
              </a:rPr>
              <a:t>PERBEZAAN UTAMA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2353" y="6767059"/>
            <a:ext cx="10091885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E2E8F0"/>
                </a:solidFill>
                <a:latin typeface="Plus Jakarta Sans"/>
              </a:rPr>
              <a:t>Kebanyakan aplikasi kehadiran berhenti pada simpan status. Q-TIBA menyimpan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2353" y="6976706"/>
            <a:ext cx="11771206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E2E8F0"/>
                </a:solidFill>
                <a:latin typeface="Plus Jakarta Sans"/>
              </a:rPr>
              <a:t>sejarah, cadangan tindakan, berfungsi di luar talian, dan menghasilkan ringkasan PDF untuk fail.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381176" y="-1810588"/>
            <a:ext cx="9910588" cy="4192941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670588" y="5241176"/>
            <a:ext cx="6861176" cy="4383529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4" y="419294"/>
            <a:ext cx="476471" cy="476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882" y="676946"/>
            <a:ext cx="44790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5256" y="667006"/>
            <a:ext cx="2433097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Teknologi &amp; Roadmap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33647" y="1405331"/>
            <a:ext cx="1678625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 spc="132">
                <a:solidFill>
                  <a:srgbClr val="0891B2"/>
                </a:solidFill>
                <a:latin typeface="Plus Jakarta Sans ExtraBold"/>
              </a:rPr>
              <a:t>TEKNOLOGI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647" y="1490581"/>
            <a:ext cx="8942524" cy="5313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76" b="1" spc="-50">
                <a:solidFill>
                  <a:srgbClr val="0F172A"/>
                </a:solidFill>
                <a:latin typeface="Plus Jakarta Sans ExtraBold"/>
              </a:rPr>
              <a:t>Teknologi yang mudah dikuasai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2856" y="1605858"/>
            <a:ext cx="4895497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Tiada pelayan mahalan, tiada pangkalan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5921" y="1777388"/>
            <a:ext cx="4542432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berasingan. Semua pada akaun percuma.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647" y="2088528"/>
            <a:ext cx="2731120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Tiga lapisan sistem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647" y="2363294"/>
            <a:ext cx="4764706" cy="914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33647" y="2363294"/>
            <a:ext cx="57176" cy="91482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2353" y="2526342"/>
            <a:ext cx="2292776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JetBrains Mono ExtraBold"/>
              </a:rPr>
              <a:t>LAPISAN 1 · PELAYAR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353" y="2716649"/>
            <a:ext cx="4735441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Antara muka — HTML, CSS, 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353" y="2925477"/>
            <a:ext cx="442474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Lima modul responsif, Chart.js untuk carta,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353" y="3087477"/>
            <a:ext cx="5144453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html5-qrcode untuk kamera, html2pdf untuk PDF.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647" y="3411529"/>
            <a:ext cx="4764706" cy="914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33647" y="3411529"/>
            <a:ext cx="57176" cy="9148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2353" y="3574578"/>
            <a:ext cx="2292776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JetBrains Mono ExtraBold"/>
              </a:rPr>
              <a:t>LAPISAN 2 · PELAYAN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353" y="3764885"/>
            <a:ext cx="252733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Google Apps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353" y="3973712"/>
            <a:ext cx="506297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Semua logik pengesahan, pengesahan kunci, dan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353" y="4135712"/>
            <a:ext cx="472349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pemprosesan rekod dijalankan di sisi pelayan.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647" y="4459765"/>
            <a:ext cx="4764706" cy="914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33647" y="4459765"/>
            <a:ext cx="57176" cy="91482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2353" y="4622813"/>
            <a:ext cx="2184141" cy="1580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059669"/>
                </a:solidFill>
                <a:latin typeface="JetBrains Mono ExtraBold"/>
              </a:rPr>
              <a:t>LAPISAN 3 · STORAN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353" y="4813120"/>
            <a:ext cx="1960171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Google Sheets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353" y="5021948"/>
            <a:ext cx="502223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Pangkalan data mudah, boleh diaudit guru besar,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353" y="5183948"/>
            <a:ext cx="406262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dan boleh dieksport ke Excel bila perlu.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3647" y="2088528"/>
            <a:ext cx="3715084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Roadmap pengembangan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3647" y="2363294"/>
            <a:ext cx="4764706" cy="667059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584235" y="2500927"/>
            <a:ext cx="3736721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0E7490"/>
                </a:solidFill>
                <a:latin typeface="JetBrains Mono ExtraBold"/>
              </a:rPr>
              <a:t>FASA 1 · SEDAP BEROPERASI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4235" y="2715830"/>
            <a:ext cx="536172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Pemimbas QR, dashboard, portal guru dan ibu bapa,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4235" y="2868301"/>
            <a:ext cx="279974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tambah sejarah intervensi.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3647" y="3144706"/>
            <a:ext cx="4764706" cy="667059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4294">
            <a:solidFill>
              <a:srgbClr val="DDD6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84235" y="3282339"/>
            <a:ext cx="3596400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6D28D9"/>
                </a:solidFill>
                <a:latin typeface="JetBrains Mono ExtraBold"/>
              </a:rPr>
              <a:t>FASA 2 · SEDANG BERJALAN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4235" y="3497242"/>
            <a:ext cx="496792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Analitik sebab lewat, laporan bulanan automatik,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4235" y="3649712"/>
            <a:ext cx="408978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dan ringkasan PDF automatik untuk fail.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3647" y="3926118"/>
            <a:ext cx="4764706" cy="667059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 w="14294">
            <a:solidFill>
              <a:srgbClr val="FDE68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584235" y="4063751"/>
            <a:ext cx="2894797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B45309"/>
                </a:solidFill>
                <a:latin typeface="JetBrains Mono ExtraBold"/>
              </a:rPr>
              <a:t>FASA 3 · SETERUSNYA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84235" y="4278653"/>
            <a:ext cx="515803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Amaran awal kepada guru kelas bila seorang murid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4235" y="4431124"/>
            <a:ext cx="386346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mengulang tiga kali dalam seminggu.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93647" y="4707529"/>
            <a:ext cx="4764706" cy="667059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4294">
            <a:solidFill>
              <a:srgbClr val="BBF7D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84235" y="4845163"/>
            <a:ext cx="3456079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15803D"/>
                </a:solidFill>
                <a:latin typeface="JetBrains Mono ExtraBold"/>
              </a:rPr>
              <a:t>FASA 4 · JANGKA PANJANG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84235" y="5060065"/>
            <a:ext cx="483212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Pakej untuk sekolah lain: tambah senarai murid,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84235" y="5212536"/>
            <a:ext cx="3664297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sesuaikan jenama, tanpa ubah kod.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3647" y="5641412"/>
            <a:ext cx="3144706" cy="838588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2353" y="5836098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90">
                <a:solidFill>
                  <a:srgbClr val="22D3EE"/>
                </a:solidFill>
                <a:latin typeface="Plus Jakarta Sans ExtraBold"/>
              </a:rPr>
              <a:t>KOS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353" y="5995124"/>
            <a:ext cx="1387482" cy="41867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Plus Jakarta Sans ExtraBold"/>
              </a:rPr>
              <a:t>RM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9412" y="6127359"/>
            <a:ext cx="232446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94A3B8"/>
                </a:solidFill>
                <a:latin typeface="Plus Jakarta Sans"/>
              </a:rPr>
              <a:t>tier percuma Google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73647" y="5641412"/>
            <a:ext cx="3144706" cy="838588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002353" y="5836098"/>
            <a:ext cx="1987692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90">
                <a:solidFill>
                  <a:srgbClr val="22D3EE"/>
                </a:solidFill>
                <a:latin typeface="Plus Jakarta Sans ExtraBold"/>
              </a:rPr>
              <a:t>KELUAS KEPADA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2353" y="5995124"/>
            <a:ext cx="1334118" cy="41867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Plus Jakarta Sans ExtraBold"/>
              </a:rPr>
              <a:t>4 ×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64706" y="6127359"/>
            <a:ext cx="278616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94A3B8"/>
                </a:solidFill>
                <a:latin typeface="Plus Jakarta Sans"/>
              </a:rPr>
              <a:t>penggunaan yang mudah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13647" y="5641412"/>
            <a:ext cx="3144706" cy="838588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42353" y="5836098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90">
                <a:solidFill>
                  <a:srgbClr val="22D3EE"/>
                </a:solidFill>
                <a:latin typeface="Plus Jakarta Sans ExtraBold"/>
              </a:rPr>
              <a:t>HOSTING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42353" y="5995124"/>
            <a:ext cx="1704335" cy="41867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Plus Jakarta Sans ExtraBold"/>
              </a:rPr>
              <a:t>HTTPS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2824" y="6127359"/>
            <a:ext cx="193065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94A3B8"/>
                </a:solidFill>
                <a:latin typeface="Plus Jakarta Sans"/>
              </a:rPr>
              <a:t>gratis, kekal aktif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647" y="6675505"/>
            <a:ext cx="749369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Plus Jakarta Sans SemiBold"/>
              </a:rPr>
              <a:t>Isi sendiri: ⟨ bilangan sekolah dengan minimum ⟩ · ⟨ kos pengekodan 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647" y="6908771"/>
            <a:ext cx="5515624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64748B"/>
                </a:solidFill>
                <a:latin typeface="Plus Jakarta Sans SemiBold"/>
              </a:rPr>
              <a:t>Q-TIBA boleh digunakan di mana-mana sekolah yang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Q-TIBA - Sistem Disiplin Sekolah</dc:title>
  <dc:subject>Pertandingan Inovasi 2026: daripada kertas kepada data</dc:subject>
  <dc:creator>SK Pulau Indah</dc:creator>
  <cp:keywords/>
  <dc:description>Semua slaid dibina daripada bentuk PowerPoint native yang boleh diedit. Hanya logo ialah gambar.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