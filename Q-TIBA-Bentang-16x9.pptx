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651000" y="-1778000"/>
            <a:ext cx="6604000" cy="5080000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620000" y="3810000"/>
            <a:ext cx="7112000" cy="5080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71500" y="3937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57200"/>
            <a:ext cx="431800" cy="43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300" y="403530"/>
            <a:ext cx="1765490" cy="3862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spc="-27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703415"/>
            <a:ext cx="424545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0" y="502342"/>
            <a:ext cx="889000" cy="2001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50" b="0">
                <a:solidFill>
                  <a:srgbClr val="0891B2"/>
                </a:solidFill>
                <a:latin typeface="JetBrains Mono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8001" y="696792"/>
            <a:ext cx="2212499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Mukabumi &amp; Masalah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1143000"/>
            <a:ext cx="11049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571500" y="1447800"/>
            <a:ext cx="3556000" cy="26670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5505" y="1537484"/>
            <a:ext cx="2867990" cy="1555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25" b="1" spc="174">
                <a:solidFill>
                  <a:srgbClr val="0891B2"/>
                </a:solidFill>
                <a:latin typeface="Plus Jakarta Sans ExtraBold"/>
              </a:rPr>
              <a:t>PERTANDINGAN INOVASI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936814"/>
            <a:ext cx="6674739" cy="7511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500" b="1" spc="-105">
                <a:solidFill>
                  <a:srgbClr val="0F172A"/>
                </a:solidFill>
                <a:latin typeface="Plus Jakarta Sans ExtraBold"/>
              </a:rPr>
              <a:t>Disiplin Sekolah,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444814"/>
            <a:ext cx="6562534" cy="7511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500" b="1" spc="-105">
                <a:solidFill>
                  <a:srgbClr val="0F172A"/>
                </a:solidFill>
                <a:latin typeface="Plus Jakarta Sans ExtraBold"/>
              </a:rPr>
              <a:t>Daripada </a:t>
            </a:r>
            <a:r>
              <a:rPr sz="3500" b="1" spc="-105">
                <a:solidFill>
                  <a:srgbClr val="8B5CF6"/>
                </a:solidFill>
                <a:latin typeface="Plus Jakarta Sans ExtraBold"/>
              </a:rPr>
              <a:t>Kertas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952814"/>
            <a:ext cx="5239607" cy="7511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500" b="1" spc="-105">
                <a:solidFill>
                  <a:srgbClr val="0F172A"/>
                </a:solidFill>
                <a:latin typeface="Plus Jakarta Sans ExtraBold"/>
              </a:rPr>
              <a:t>kepada </a:t>
            </a:r>
            <a:r>
              <a:rPr sz="3500" b="1" spc="-105">
                <a:solidFill>
                  <a:srgbClr val="8B5CF6"/>
                </a:solidFill>
                <a:latin typeface="Plus Jakarta Sans ExtraBold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3632200"/>
            <a:ext cx="508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71500" y="3809384"/>
            <a:ext cx="5409724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Satu imbasan QR Code merekod kehadiran,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3999884"/>
            <a:ext cx="6405086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menghasilkan analitik masa nyata, dan membimbing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190384"/>
            <a:ext cx="5865178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guru melakukan tindakan intervensi berstruktur.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584700"/>
            <a:ext cx="4064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71500" y="4584700"/>
            <a:ext cx="44450" cy="762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7400" y="4723784"/>
            <a:ext cx="4337869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1" spc="-16">
                <a:solidFill>
                  <a:srgbClr val="0F172A"/>
                </a:solidFill>
                <a:latin typeface="Plus Jakarta Sans ExtraBold"/>
              </a:rPr>
              <a:t>Kaedah lama: pembetulan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4970615"/>
            <a:ext cx="574452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Guru menyusun dan menyalin kertas setiap hari, sambil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400" y="5148415"/>
            <a:ext cx="4541044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menyemak setiap rekod secara berganda.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0" y="1480607"/>
            <a:ext cx="2408193" cy="1663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75" b="1" spc="186">
                <a:solidFill>
                  <a:srgbClr val="0891B2"/>
                </a:solidFill>
                <a:latin typeface="Plus Jakarta Sans ExtraBold"/>
              </a:rPr>
              <a:t>MASALAH SEBENAR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0" y="1621092"/>
            <a:ext cx="4812506" cy="3219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 spc="-22">
                <a:solidFill>
                  <a:srgbClr val="0F172A"/>
                </a:solidFill>
                <a:latin typeface="Plus Jakarta Sans ExtraBold"/>
              </a:rPr>
              <a:t>Empat halangan setiap hari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0" y="2006600"/>
            <a:ext cx="3238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143500" y="2006600"/>
            <a:ext cx="44450" cy="15240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359400" y="2222500"/>
            <a:ext cx="355600" cy="355600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461000" y="2324100"/>
            <a:ext cx="152400" cy="152400"/>
          </a:xfrm>
          <a:prstGeom prst="ellipse">
            <a:avLst/>
          </a:prstGeom>
          <a:noFill/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Freeform 32"/>
          <p:cNvSpPr/>
          <p:nvPr/>
        </p:nvSpPr>
        <p:spPr>
          <a:xfrm>
            <a:off x="5537200" y="2355850"/>
            <a:ext cx="31750" cy="69850"/>
          </a:xfrm>
          <a:custGeom>
            <a:avLst/>
            <a:gdLst/>
            <a:ahLst/>
            <a:cxnLst/>
            <a:rect l="l" t="t" r="r" b="b"/>
            <a:pathLst>
              <a:path w="31750" h="69850">
                <a:moveTo>
                  <a:pt x="0" y="0"/>
                </a:moveTo>
                <a:lnTo>
                  <a:pt x="0" y="47625"/>
                </a:lnTo>
                <a:lnTo>
                  <a:pt x="31750" y="69850"/>
                </a:lnTo>
              </a:path>
            </a:pathLst>
          </a:custGeom>
          <a:noFill/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829300" y="2241207"/>
            <a:ext cx="2688825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Pembetulan 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9300" y="2474792"/>
            <a:ext cx="3337560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Guru menyusun kertas kehadiran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9300" y="2627192"/>
            <a:ext cx="2749391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secara manual setiap pagi.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9300" y="2779592"/>
            <a:ext cx="3048000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Makan masa dan mudah silap.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2000" y="2006600"/>
            <a:ext cx="3238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8382000" y="2006600"/>
            <a:ext cx="44450" cy="1524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597900" y="2222500"/>
            <a:ext cx="355600" cy="355600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Freeform 40"/>
          <p:cNvSpPr/>
          <p:nvPr/>
        </p:nvSpPr>
        <p:spPr>
          <a:xfrm>
            <a:off x="8683625" y="23018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8575" y="9525"/>
                </a:moveTo>
                <a:lnTo>
                  <a:pt x="130175" y="9525"/>
                </a:lnTo>
                <a:lnTo>
                  <a:pt x="168275" y="47625"/>
                </a:lnTo>
                <a:lnTo>
                  <a:pt x="168275" y="174625"/>
                </a:lnTo>
                <a:lnTo>
                  <a:pt x="174162" y="172953"/>
                </a:lnTo>
                <a:lnTo>
                  <a:pt x="175724" y="175501"/>
                </a:lnTo>
                <a:lnTo>
                  <a:pt x="176868" y="178263"/>
                </a:lnTo>
                <a:lnTo>
                  <a:pt x="177565" y="181170"/>
                </a:lnTo>
                <a:lnTo>
                  <a:pt x="177800" y="184150"/>
                </a:lnTo>
                <a:lnTo>
                  <a:pt x="177565" y="187130"/>
                </a:lnTo>
                <a:lnTo>
                  <a:pt x="176868" y="190037"/>
                </a:lnTo>
                <a:lnTo>
                  <a:pt x="175724" y="192799"/>
                </a:lnTo>
                <a:lnTo>
                  <a:pt x="174162" y="195347"/>
                </a:lnTo>
                <a:lnTo>
                  <a:pt x="172220" y="197620"/>
                </a:lnTo>
                <a:lnTo>
                  <a:pt x="169947" y="199562"/>
                </a:lnTo>
                <a:lnTo>
                  <a:pt x="167399" y="201124"/>
                </a:lnTo>
                <a:lnTo>
                  <a:pt x="164637" y="202268"/>
                </a:lnTo>
                <a:lnTo>
                  <a:pt x="161730" y="202965"/>
                </a:lnTo>
                <a:lnTo>
                  <a:pt x="158750" y="203200"/>
                </a:lnTo>
                <a:lnTo>
                  <a:pt x="155770" y="202965"/>
                </a:lnTo>
                <a:lnTo>
                  <a:pt x="152863" y="202268"/>
                </a:lnTo>
                <a:lnTo>
                  <a:pt x="150101" y="201124"/>
                </a:lnTo>
                <a:lnTo>
                  <a:pt x="147553" y="199562"/>
                </a:lnTo>
                <a:lnTo>
                  <a:pt x="145280" y="197620"/>
                </a:lnTo>
                <a:lnTo>
                  <a:pt x="28575" y="193675"/>
                </a:lnTo>
                <a:lnTo>
                  <a:pt x="30247" y="199562"/>
                </a:lnTo>
                <a:lnTo>
                  <a:pt x="27699" y="201124"/>
                </a:lnTo>
                <a:lnTo>
                  <a:pt x="24937" y="202268"/>
                </a:lnTo>
                <a:lnTo>
                  <a:pt x="22030" y="202965"/>
                </a:lnTo>
                <a:lnTo>
                  <a:pt x="19050" y="203200"/>
                </a:lnTo>
                <a:lnTo>
                  <a:pt x="16070" y="202965"/>
                </a:lnTo>
                <a:lnTo>
                  <a:pt x="13163" y="202268"/>
                </a:lnTo>
                <a:lnTo>
                  <a:pt x="10401" y="201124"/>
                </a:lnTo>
                <a:lnTo>
                  <a:pt x="7853" y="199562"/>
                </a:lnTo>
                <a:lnTo>
                  <a:pt x="5580" y="197620"/>
                </a:lnTo>
                <a:lnTo>
                  <a:pt x="3638" y="195347"/>
                </a:lnTo>
                <a:lnTo>
                  <a:pt x="2076" y="192799"/>
                </a:lnTo>
                <a:lnTo>
                  <a:pt x="932" y="190037"/>
                </a:lnTo>
                <a:lnTo>
                  <a:pt x="235" y="187130"/>
                </a:lnTo>
                <a:lnTo>
                  <a:pt x="0" y="184150"/>
                </a:lnTo>
                <a:lnTo>
                  <a:pt x="235" y="181170"/>
                </a:lnTo>
                <a:lnTo>
                  <a:pt x="932" y="178263"/>
                </a:lnTo>
                <a:lnTo>
                  <a:pt x="2076" y="175501"/>
                </a:lnTo>
                <a:lnTo>
                  <a:pt x="3638" y="172953"/>
                </a:lnTo>
                <a:lnTo>
                  <a:pt x="5580" y="170680"/>
                </a:lnTo>
                <a:lnTo>
                  <a:pt x="9525" y="28575"/>
                </a:lnTo>
                <a:lnTo>
                  <a:pt x="3638" y="30247"/>
                </a:lnTo>
                <a:lnTo>
                  <a:pt x="2076" y="27699"/>
                </a:lnTo>
                <a:lnTo>
                  <a:pt x="932" y="24937"/>
                </a:lnTo>
                <a:lnTo>
                  <a:pt x="235" y="22030"/>
                </a:lnTo>
                <a:lnTo>
                  <a:pt x="0" y="19050"/>
                </a:lnTo>
                <a:lnTo>
                  <a:pt x="235" y="16070"/>
                </a:lnTo>
                <a:lnTo>
                  <a:pt x="932" y="13163"/>
                </a:lnTo>
                <a:lnTo>
                  <a:pt x="2076" y="10401"/>
                </a:lnTo>
                <a:lnTo>
                  <a:pt x="3638" y="7853"/>
                </a:lnTo>
                <a:lnTo>
                  <a:pt x="5580" y="5580"/>
                </a:lnTo>
                <a:lnTo>
                  <a:pt x="7853" y="3638"/>
                </a:lnTo>
                <a:lnTo>
                  <a:pt x="10401" y="2076"/>
                </a:lnTo>
                <a:lnTo>
                  <a:pt x="13163" y="932"/>
                </a:lnTo>
                <a:lnTo>
                  <a:pt x="16070" y="235"/>
                </a:lnTo>
                <a:lnTo>
                  <a:pt x="19050" y="0"/>
                </a:lnTo>
                <a:lnTo>
                  <a:pt x="22030" y="235"/>
                </a:lnTo>
                <a:lnTo>
                  <a:pt x="24937" y="932"/>
                </a:lnTo>
                <a:lnTo>
                  <a:pt x="27699" y="2076"/>
                </a:lnTo>
                <a:lnTo>
                  <a:pt x="30247" y="3638"/>
                </a:lnTo>
                <a:lnTo>
                  <a:pt x="32520" y="5580"/>
                </a:lnTo>
                <a:close/>
              </a:path>
            </a:pathLst>
          </a:custGeom>
          <a:noFill/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Freeform 41"/>
          <p:cNvSpPr/>
          <p:nvPr/>
        </p:nvSpPr>
        <p:spPr>
          <a:xfrm>
            <a:off x="8813800" y="231140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0"/>
                </a:moveTo>
                <a:lnTo>
                  <a:pt x="0" y="44450"/>
                </a:lnTo>
                <a:lnTo>
                  <a:pt x="44450" y="44450"/>
                </a:lnTo>
              </a:path>
            </a:pathLst>
          </a:custGeom>
          <a:noFill/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Freeform 42"/>
          <p:cNvSpPr/>
          <p:nvPr/>
        </p:nvSpPr>
        <p:spPr>
          <a:xfrm>
            <a:off x="8731250" y="2413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63500" h="38100">
                <a:moveTo>
                  <a:pt x="0" y="0"/>
                </a:moveTo>
                <a:lnTo>
                  <a:pt x="63500" y="0"/>
                </a:lnTo>
                <a:lnTo>
                  <a:pt x="0" y="38100"/>
                </a:lnTo>
                <a:lnTo>
                  <a:pt x="44450" y="38100"/>
                </a:lnTo>
              </a:path>
            </a:pathLst>
          </a:custGeom>
          <a:noFill/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67800" y="2241207"/>
            <a:ext cx="2737447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Rekod mudah hilang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800" y="2474792"/>
            <a:ext cx="2854960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Buku kehadiran cepat rosak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7800" y="2627192"/>
            <a:ext cx="2689066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atau hilang dari simpanan.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7800" y="2779592"/>
            <a:ext cx="190182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Tiada jejak digital.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43500" y="3683000"/>
            <a:ext cx="3238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143500" y="3683000"/>
            <a:ext cx="44450" cy="1524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359400" y="3898900"/>
            <a:ext cx="355600" cy="3556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448300" y="3987800"/>
            <a:ext cx="139700" cy="139700"/>
          </a:xfrm>
          <a:prstGeom prst="ellipse">
            <a:avLst/>
          </a:prstGeom>
          <a:noFill/>
          <a:ln w="19050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Freeform 51"/>
          <p:cNvSpPr/>
          <p:nvPr/>
        </p:nvSpPr>
        <p:spPr>
          <a:xfrm>
            <a:off x="5568950" y="410845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0"/>
                </a:moveTo>
                <a:lnTo>
                  <a:pt x="44450" y="44450"/>
                </a:lnTo>
              </a:path>
            </a:pathLst>
          </a:custGeom>
          <a:noFill/>
          <a:ln w="19050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Freeform 52"/>
          <p:cNvSpPr/>
          <p:nvPr/>
        </p:nvSpPr>
        <p:spPr>
          <a:xfrm>
            <a:off x="5492750" y="40322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25400"/>
                </a:moveTo>
                <a:lnTo>
                  <a:pt x="50800" y="25400"/>
                </a:lnTo>
                <a:lnTo>
                  <a:pt x="25400" y="0"/>
                </a:lnTo>
                <a:lnTo>
                  <a:pt x="25400" y="50800"/>
                </a:lnTo>
              </a:path>
            </a:pathLst>
          </a:custGeom>
          <a:noFill/>
          <a:ln w="19050">
            <a:solidFill>
              <a:srgbClr val="7C3AE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829300" y="3917607"/>
            <a:ext cx="3188316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Tiada panduan tindakan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29300" y="4151192"/>
            <a:ext cx="2827814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Guru tidak tahu murid mana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29300" y="4303592"/>
            <a:ext cx="3144520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memerlukan intervensi. Semua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29300" y="4455992"/>
            <a:ext cx="3198812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mendapat perhatian sama rata.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82000" y="3683000"/>
            <a:ext cx="32385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8382000" y="3683000"/>
            <a:ext cx="44450" cy="1524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8597900" y="3898900"/>
            <a:ext cx="355600" cy="3556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718550" y="3975100"/>
            <a:ext cx="114300" cy="114300"/>
          </a:xfrm>
          <a:prstGeom prst="ellipse">
            <a:avLst/>
          </a:prstGeom>
          <a:noFill/>
          <a:ln w="19050">
            <a:solidFill>
              <a:srgbClr val="0891B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2" name="Freeform 61"/>
          <p:cNvSpPr/>
          <p:nvPr/>
        </p:nvSpPr>
        <p:spPr>
          <a:xfrm>
            <a:off x="8669079" y="4083050"/>
            <a:ext cx="214571" cy="107950"/>
          </a:xfrm>
          <a:custGeom>
            <a:avLst/>
            <a:gdLst/>
            <a:ahLst/>
            <a:cxnLst/>
            <a:rect l="l" t="t" r="r" b="b"/>
            <a:pathLst>
              <a:path w="214571" h="107950">
                <a:moveTo>
                  <a:pt x="5021" y="107950"/>
                </a:moveTo>
                <a:lnTo>
                  <a:pt x="0" y="91063"/>
                </a:lnTo>
                <a:lnTo>
                  <a:pt x="3954" y="74592"/>
                </a:lnTo>
                <a:lnTo>
                  <a:pt x="10437" y="58942"/>
                </a:lnTo>
                <a:lnTo>
                  <a:pt x="19288" y="44499"/>
                </a:lnTo>
                <a:lnTo>
                  <a:pt x="30289" y="31618"/>
                </a:lnTo>
                <a:lnTo>
                  <a:pt x="43170" y="20617"/>
                </a:lnTo>
                <a:lnTo>
                  <a:pt x="57613" y="11766"/>
                </a:lnTo>
                <a:lnTo>
                  <a:pt x="73263" y="5283"/>
                </a:lnTo>
                <a:lnTo>
                  <a:pt x="89734" y="1329"/>
                </a:lnTo>
                <a:lnTo>
                  <a:pt x="106621" y="0"/>
                </a:lnTo>
                <a:lnTo>
                  <a:pt x="123508" y="1329"/>
                </a:lnTo>
                <a:lnTo>
                  <a:pt x="139979" y="5283"/>
                </a:lnTo>
                <a:lnTo>
                  <a:pt x="155629" y="11766"/>
                </a:lnTo>
                <a:lnTo>
                  <a:pt x="170072" y="20617"/>
                </a:lnTo>
                <a:lnTo>
                  <a:pt x="182953" y="31618"/>
                </a:lnTo>
                <a:lnTo>
                  <a:pt x="193954" y="44499"/>
                </a:lnTo>
                <a:lnTo>
                  <a:pt x="202805" y="58942"/>
                </a:lnTo>
                <a:lnTo>
                  <a:pt x="209288" y="74592"/>
                </a:lnTo>
                <a:lnTo>
                  <a:pt x="213242" y="91063"/>
                </a:lnTo>
                <a:lnTo>
                  <a:pt x="214571" y="107950"/>
                </a:lnTo>
              </a:path>
            </a:pathLst>
          </a:custGeom>
          <a:noFill/>
          <a:ln w="19050">
            <a:solidFill>
              <a:srgbClr val="0891B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67800" y="3917607"/>
            <a:ext cx="3266738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Ibu bapa kurang maklum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67800" y="4151192"/>
            <a:ext cx="320484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Ibu bapa tidak menerima status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67800" y="4303592"/>
            <a:ext cx="3449161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kehadiran secara langsung, hanya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7800" y="4455992"/>
            <a:ext cx="2876074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bergantung pada kata guru.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71500" y="5588000"/>
            <a:ext cx="11049000" cy="774700"/>
          </a:xfrm>
          <a:prstGeom prst="roundRect">
            <a:avLst>
              <a:gd name="adj" fmla="val 21311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50900" y="5668404"/>
            <a:ext cx="889000" cy="4424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 b="0">
                <a:solidFill>
                  <a:srgbClr val="22D3EE"/>
                </a:solidFill>
                <a:latin typeface="JetBrains Mono ExtraBold"/>
              </a:rPr>
              <a:t>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900" y="6017546"/>
            <a:ext cx="1835468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MURID DIMONITOR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413000" y="5753100"/>
            <a:ext cx="0" cy="44450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2692400" y="5668404"/>
            <a:ext cx="1066324" cy="4424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 b="0">
                <a:solidFill>
                  <a:srgbClr val="67E8F9"/>
                </a:solidFill>
                <a:latin typeface="JetBrains Mono ExtraBold"/>
              </a:rPr>
              <a:t>675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92400" y="6017546"/>
            <a:ext cx="1533842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REKOD DIGITAL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318000" y="5753100"/>
            <a:ext cx="0" cy="44450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4597400" y="5668404"/>
            <a:ext cx="889000" cy="4424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 b="0">
                <a:solidFill>
                  <a:srgbClr val="A5B4FC"/>
                </a:solidFill>
                <a:latin typeface="JetBrains Mono ExtraBold"/>
              </a:rP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97400" y="6017546"/>
            <a:ext cx="1482566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HARI SEKOLAH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096000" y="5753100"/>
            <a:ext cx="0" cy="44450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375400" y="5668404"/>
            <a:ext cx="889000" cy="4424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 b="0">
                <a:solidFill>
                  <a:srgbClr val="FCD34D"/>
                </a:solidFill>
                <a:latin typeface="JetBrains Mono ExtraBold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75400" y="6017546"/>
            <a:ext cx="1702752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REKOD DUPLIKAT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91500" y="5753100"/>
            <a:ext cx="3175000" cy="44450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356600" y="5845550"/>
            <a:ext cx="1766094" cy="1394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50" b="1">
                <a:solidFill>
                  <a:srgbClr val="FCD34D"/>
                </a:solidFill>
                <a:latin typeface="Plus Jakarta Sans ExtraBold"/>
              </a:rPr>
              <a:t>ISIKAN ANGKA ANDA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56600" y="5992692"/>
            <a:ext cx="325310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Plus Jakarta Sans"/>
              </a:rPr>
              <a:t>⟨ min/hari pembetulan manual 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2032000" y="4127500"/>
            <a:ext cx="6604000" cy="4826000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001000" y="-1651000"/>
            <a:ext cx="6858000" cy="4826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71500" y="3937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57200"/>
            <a:ext cx="431800" cy="43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300" y="403530"/>
            <a:ext cx="1765490" cy="3862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spc="-27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703415"/>
            <a:ext cx="424545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0" y="502342"/>
            <a:ext cx="889000" cy="2001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50" b="0">
                <a:solidFill>
                  <a:srgbClr val="0891B2"/>
                </a:solidFill>
                <a:latin typeface="JetBrains Mono Extra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048" y="696792"/>
            <a:ext cx="1461452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Penyelesaian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1143000"/>
            <a:ext cx="11049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71500" y="1394746"/>
            <a:ext cx="1831245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80">
                <a:solidFill>
                  <a:srgbClr val="0891B2"/>
                </a:solidFill>
                <a:latin typeface="Plus Jakarta Sans ExtraBold"/>
              </a:rPr>
              <a:t>PENYELESAIAN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500099"/>
            <a:ext cx="8970950" cy="55797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600" b="1" spc="-78">
                <a:solidFill>
                  <a:srgbClr val="0F172A"/>
                </a:solidFill>
                <a:latin typeface="Plus Jakarta Sans ExtraBold"/>
              </a:rPr>
              <a:t>Lima modul, satu sumber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5830" y="1478661"/>
            <a:ext cx="6884670" cy="21460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Plus Jakarta Sans Medium"/>
              </a:rPr>
              <a:t>Semua skrin membaca daripada Google Sheet yang sama,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1728" y="1669161"/>
            <a:ext cx="5418772" cy="21460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Plus Jakarta Sans Medium"/>
              </a:rPr>
              <a:t>jadi angka di mana-mana skrin sentiasa sama.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2032000"/>
            <a:ext cx="2108200" cy="2032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71500" y="2032000"/>
            <a:ext cx="2108200" cy="444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2000" y="2298700"/>
            <a:ext cx="381000" cy="381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63600" y="2400300"/>
            <a:ext cx="57150" cy="5715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52500" y="2400300"/>
            <a:ext cx="57150" cy="5715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41400" y="2400300"/>
            <a:ext cx="38100" cy="5715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63600" y="2482850"/>
            <a:ext cx="57150" cy="5715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41400" y="2482850"/>
            <a:ext cx="38100" cy="5715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63600" y="2565400"/>
            <a:ext cx="57150" cy="381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52500" y="2565400"/>
            <a:ext cx="57150" cy="381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41400" y="2565400"/>
            <a:ext cx="38100" cy="381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2000" y="2743676"/>
            <a:ext cx="3048000" cy="2682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50" b="1" spc="-19">
                <a:solidFill>
                  <a:srgbClr val="0F172A"/>
                </a:solidFill>
                <a:latin typeface="Plus Jakarta Sans ExtraBold"/>
              </a:rPr>
              <a:t>Pemimbas QR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995778"/>
            <a:ext cx="1183958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0891B2"/>
                </a:solidFill>
                <a:latin typeface="JetBrains Mono"/>
              </a:rPr>
              <a:t>scan.html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3218015"/>
            <a:ext cx="265287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Murid imbas kod di pintu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383115"/>
            <a:ext cx="236331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guna kamera telefon.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3548215"/>
            <a:ext cx="266192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Berfungsi tanpa internet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3713315"/>
            <a:ext cx="263779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dan menghantar semula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3878415"/>
            <a:ext cx="2559367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data secara automatik.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6700" y="2032000"/>
            <a:ext cx="2108200" cy="2032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806700" y="2032000"/>
            <a:ext cx="2108200" cy="444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2997200" y="2298700"/>
            <a:ext cx="381000" cy="3810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086100" y="2565400"/>
            <a:ext cx="57150" cy="9525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175000" y="2514600"/>
            <a:ext cx="57150" cy="14605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263900" y="2444750"/>
            <a:ext cx="57150" cy="21590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97200" y="2743676"/>
            <a:ext cx="2755424" cy="2682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50" b="1" spc="-19">
                <a:solidFill>
                  <a:srgbClr val="0F172A"/>
                </a:solidFill>
                <a:latin typeface="Plus Jakarta Sans ExtraBold"/>
              </a:rPr>
              <a:t>Dashboard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7200" y="2995778"/>
            <a:ext cx="1298575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7C3AED"/>
                </a:solidFill>
                <a:latin typeface="JetBrains Mono"/>
              </a:rPr>
              <a:t>index.html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7200" y="3218015"/>
            <a:ext cx="261969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KPI, carta trend, ranking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7200" y="3383115"/>
            <a:ext cx="2553335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kelas dan senarai murid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7200" y="3548215"/>
            <a:ext cx="202850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berisiko. Tindakan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7200" y="3713315"/>
            <a:ext cx="215820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intervensi disimpan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7200" y="3878415"/>
            <a:ext cx="203755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secara automatik.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1900" y="2032000"/>
            <a:ext cx="2108200" cy="2032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041900" y="2032000"/>
            <a:ext cx="2108200" cy="444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232400" y="2298700"/>
            <a:ext cx="381000" cy="38100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365750" y="2381250"/>
            <a:ext cx="114300" cy="114300"/>
          </a:xfrm>
          <a:prstGeom prst="ellipse">
            <a:avLst/>
          </a:prstGeom>
          <a:noFill/>
          <a:ln w="19050">
            <a:solidFill>
              <a:srgbClr val="05966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Freeform 51"/>
          <p:cNvSpPr/>
          <p:nvPr/>
        </p:nvSpPr>
        <p:spPr>
          <a:xfrm>
            <a:off x="5310007" y="2495550"/>
            <a:ext cx="227193" cy="114300"/>
          </a:xfrm>
          <a:custGeom>
            <a:avLst/>
            <a:gdLst/>
            <a:ahLst/>
            <a:cxnLst/>
            <a:rect l="l" t="t" r="r" b="b"/>
            <a:pathLst>
              <a:path w="227193" h="114300">
                <a:moveTo>
                  <a:pt x="4943" y="114300"/>
                </a:moveTo>
                <a:lnTo>
                  <a:pt x="0" y="96420"/>
                </a:lnTo>
                <a:lnTo>
                  <a:pt x="4187" y="78979"/>
                </a:lnTo>
                <a:lnTo>
                  <a:pt x="11051" y="62409"/>
                </a:lnTo>
                <a:lnTo>
                  <a:pt x="20422" y="47116"/>
                </a:lnTo>
                <a:lnTo>
                  <a:pt x="32071" y="33478"/>
                </a:lnTo>
                <a:lnTo>
                  <a:pt x="45709" y="21829"/>
                </a:lnTo>
                <a:lnTo>
                  <a:pt x="61002" y="12458"/>
                </a:lnTo>
                <a:lnTo>
                  <a:pt x="77572" y="5594"/>
                </a:lnTo>
                <a:lnTo>
                  <a:pt x="95013" y="1407"/>
                </a:lnTo>
                <a:lnTo>
                  <a:pt x="112893" y="0"/>
                </a:lnTo>
                <a:lnTo>
                  <a:pt x="130773" y="1407"/>
                </a:lnTo>
                <a:lnTo>
                  <a:pt x="148214" y="5594"/>
                </a:lnTo>
                <a:lnTo>
                  <a:pt x="164784" y="12458"/>
                </a:lnTo>
                <a:lnTo>
                  <a:pt x="180077" y="21829"/>
                </a:lnTo>
                <a:lnTo>
                  <a:pt x="193715" y="33478"/>
                </a:lnTo>
                <a:lnTo>
                  <a:pt x="205364" y="47116"/>
                </a:lnTo>
                <a:lnTo>
                  <a:pt x="214735" y="62409"/>
                </a:lnTo>
                <a:lnTo>
                  <a:pt x="221599" y="78979"/>
                </a:lnTo>
                <a:lnTo>
                  <a:pt x="225786" y="96420"/>
                </a:lnTo>
                <a:lnTo>
                  <a:pt x="227193" y="114300"/>
                </a:lnTo>
              </a:path>
            </a:pathLst>
          </a:custGeom>
          <a:noFill/>
          <a:ln w="19050">
            <a:solidFill>
              <a:srgbClr val="05966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232400" y="2743676"/>
            <a:ext cx="2345214" cy="2682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50" b="1" spc="-19">
                <a:solidFill>
                  <a:srgbClr val="0F172A"/>
                </a:solidFill>
                <a:latin typeface="Plus Jakarta Sans ExtraBold"/>
              </a:rPr>
              <a:t>Portal Ibu Bapa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2400" y="2995778"/>
            <a:ext cx="1413192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059669"/>
                </a:solidFill>
                <a:latin typeface="JetBrains Mono"/>
              </a:rPr>
              <a:t>parent.html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2400" y="3218015"/>
            <a:ext cx="2876074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Paparan ringkas kehadiran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2400" y="3383115"/>
            <a:ext cx="249602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tanpa perlu log masuk.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2400" y="3548215"/>
            <a:ext cx="239045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Ibu bapa melihat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2400" y="3713315"/>
            <a:ext cx="261969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yang sama seperti guru,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2400" y="3878415"/>
            <a:ext cx="192293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secara langsung.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77100" y="2032000"/>
            <a:ext cx="2108200" cy="2032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7277100" y="2032000"/>
            <a:ext cx="2108200" cy="44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7467600" y="2298700"/>
            <a:ext cx="381000" cy="381000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7543800" y="2393950"/>
            <a:ext cx="228600" cy="146050"/>
          </a:xfrm>
          <a:prstGeom prst="roundRect">
            <a:avLst>
              <a:gd name="adj" fmla="val 13043"/>
            </a:avLst>
          </a:prstGeom>
          <a:noFill/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4" name="Freeform 63"/>
          <p:cNvSpPr/>
          <p:nvPr/>
        </p:nvSpPr>
        <p:spPr>
          <a:xfrm>
            <a:off x="7600950" y="2540000"/>
            <a:ext cx="114300" cy="50800"/>
          </a:xfrm>
          <a:custGeom>
            <a:avLst/>
            <a:gdLst/>
            <a:ahLst/>
            <a:cxnLst/>
            <a:rect l="l" t="t" r="r" b="b"/>
            <a:pathLst>
              <a:path w="114300" h="50800">
                <a:moveTo>
                  <a:pt x="57150" y="0"/>
                </a:moveTo>
                <a:lnTo>
                  <a:pt x="57150" y="50800"/>
                </a:lnTo>
                <a:lnTo>
                  <a:pt x="0" y="50800"/>
                </a:lnTo>
                <a:lnTo>
                  <a:pt x="114300" y="50800"/>
                </a:lnTo>
              </a:path>
            </a:pathLst>
          </a:custGeom>
          <a:noFill/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467600" y="2743676"/>
            <a:ext cx="2155190" cy="2682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50" b="1" spc="-19">
                <a:solidFill>
                  <a:srgbClr val="0F172A"/>
                </a:solidFill>
                <a:latin typeface="Plus Jakarta Sans ExtraBold"/>
              </a:rPr>
              <a:t>Paparan Pintu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67600" y="2995778"/>
            <a:ext cx="1183958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B45309"/>
                </a:solidFill>
                <a:latin typeface="JetBrains Mono"/>
              </a:rPr>
              <a:t>gate.html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67600" y="3218015"/>
            <a:ext cx="258349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Untuk TV di pintu pagar.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7600" y="3383115"/>
            <a:ext cx="254428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Jam digital, KPI raksasa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67600" y="3548215"/>
            <a:ext cx="250205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dan senarai lewat yang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67600" y="3713315"/>
            <a:ext cx="2867025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berputar automatik setiap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67600" y="3878415"/>
            <a:ext cx="100298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60 saat.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12300" y="2032000"/>
            <a:ext cx="2108200" cy="2032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9512300" y="2032000"/>
            <a:ext cx="2108200" cy="444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9702800" y="2298700"/>
            <a:ext cx="381000" cy="381000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Freeform 74"/>
          <p:cNvSpPr/>
          <p:nvPr/>
        </p:nvSpPr>
        <p:spPr>
          <a:xfrm>
            <a:off x="9779000" y="2432050"/>
            <a:ext cx="228600" cy="114300"/>
          </a:xfrm>
          <a:custGeom>
            <a:avLst/>
            <a:gdLst/>
            <a:ahLst/>
            <a:cxnLst/>
            <a:rect l="l" t="t" r="r" b="b"/>
            <a:pathLst>
              <a:path w="228600" h="114300">
                <a:moveTo>
                  <a:pt x="0" y="0"/>
                </a:moveTo>
                <a:lnTo>
                  <a:pt x="228600" y="0"/>
                </a:lnTo>
                <a:lnTo>
                  <a:pt x="0" y="57150"/>
                </a:lnTo>
                <a:lnTo>
                  <a:pt x="228600" y="57150"/>
                </a:lnTo>
                <a:lnTo>
                  <a:pt x="0" y="114300"/>
                </a:lnTo>
                <a:lnTo>
                  <a:pt x="228600" y="114300"/>
                </a:lnTo>
              </a:path>
            </a:pathLst>
          </a:custGeom>
          <a:noFill/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810750" y="2400300"/>
            <a:ext cx="63500" cy="63500"/>
          </a:xfrm>
          <a:prstGeom prst="ellipse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9925050" y="2457450"/>
            <a:ext cx="63500" cy="63500"/>
          </a:xfrm>
          <a:prstGeom prst="ellipse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791700" y="2514600"/>
            <a:ext cx="63500" cy="63500"/>
          </a:xfrm>
          <a:prstGeom prst="ellipse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702800" y="2743676"/>
            <a:ext cx="2197418" cy="2682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50" b="1" spc="-19">
                <a:solidFill>
                  <a:srgbClr val="0F172A"/>
                </a:solidFill>
                <a:latin typeface="Plus Jakarta Sans ExtraBold"/>
              </a:rPr>
              <a:t>Panel Tetapan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2800" y="2995778"/>
            <a:ext cx="1298575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BE123C"/>
                </a:solidFill>
                <a:latin typeface="JetBrains Mono"/>
              </a:rPr>
              <a:t>Panel.html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2800" y="3218015"/>
            <a:ext cx="271319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Urus senarai murid, masa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02800" y="3383115"/>
            <a:ext cx="225171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cutoff dan cuti terus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02800" y="3548215"/>
            <a:ext cx="211296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dari Google Sheet.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02800" y="3713315"/>
            <a:ext cx="231806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Pentadbir tidak perlu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2800" y="3878415"/>
            <a:ext cx="292735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menyunting sebarang kod.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" y="4366546"/>
            <a:ext cx="1645444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80">
                <a:solidFill>
                  <a:srgbClr val="0891B2"/>
                </a:solidFill>
                <a:latin typeface="Plus Jakarta Sans ExtraBold"/>
              </a:rPr>
              <a:t>ALIRAN DATA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71500" y="4584700"/>
            <a:ext cx="2413000" cy="546100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>
            <a:noFill/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024652" y="4697838"/>
            <a:ext cx="1506696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50" b="1">
                <a:solidFill>
                  <a:srgbClr val="22D3EE"/>
                </a:solidFill>
                <a:latin typeface="Plus Jakarta Sans ExtraBold"/>
              </a:rPr>
              <a:t>Imbasan QR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5254" y="4899946"/>
            <a:ext cx="2025491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Plus Jakarta Sans SemiBold"/>
              </a:rPr>
              <a:t>kamera telefon murid</a:t>
            </a:r>
          </a:p>
        </p:txBody>
      </p:sp>
      <p:sp>
        <p:nvSpPr>
          <p:cNvPr id="90" name="Freeform 89"/>
          <p:cNvSpPr/>
          <p:nvPr/>
        </p:nvSpPr>
        <p:spPr>
          <a:xfrm>
            <a:off x="3048000" y="4857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600" y="0"/>
                </a:lnTo>
              </a:path>
            </a:pathLst>
          </a:custGeom>
          <a:solidFill>
            <a:srgbClr val="000000"/>
          </a:solidFill>
          <a:ln w="15875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Freeform 90"/>
          <p:cNvSpPr/>
          <p:nvPr/>
        </p:nvSpPr>
        <p:spPr>
          <a:xfrm>
            <a:off x="3333750" y="4819650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6985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3467100" y="4584700"/>
            <a:ext cx="2413000" cy="546100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>
            <a:noFill/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760391" y="4697838"/>
            <a:ext cx="1826419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50" b="1">
                <a:solidFill>
                  <a:srgbClr val="22D3EE"/>
                </a:solidFill>
                <a:latin typeface="Plus Jakarta Sans ExtraBold"/>
              </a:rPr>
              <a:t>Semak pendua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95771" y="4899946"/>
            <a:ext cx="3355658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94A3B8"/>
                </a:solidFill>
                <a:latin typeface="Plus Jakarta Sans SemiBold"/>
              </a:rPr>
              <a:t>satu rekod sebagai satu murid sehari</a:t>
            </a:r>
          </a:p>
        </p:txBody>
      </p:sp>
      <p:sp>
        <p:nvSpPr>
          <p:cNvPr id="95" name="Freeform 94"/>
          <p:cNvSpPr/>
          <p:nvPr/>
        </p:nvSpPr>
        <p:spPr>
          <a:xfrm>
            <a:off x="5943600" y="4857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600" y="0"/>
                </a:lnTo>
              </a:path>
            </a:pathLst>
          </a:custGeom>
          <a:solidFill>
            <a:srgbClr val="000000"/>
          </a:solidFill>
          <a:ln w="15875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Freeform 95"/>
          <p:cNvSpPr/>
          <p:nvPr/>
        </p:nvSpPr>
        <p:spPr>
          <a:xfrm>
            <a:off x="6229350" y="4819650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6985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6362700" y="4584700"/>
            <a:ext cx="2413000" cy="546100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720840" y="4697838"/>
            <a:ext cx="1696720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Plus Jakarta Sans ExtraBold"/>
              </a:rPr>
              <a:t>Google Sheet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16662" y="4899946"/>
            <a:ext cx="2505075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CFFAFE"/>
                </a:solidFill>
                <a:latin typeface="Plus Jakarta Sans SemiBold"/>
              </a:rPr>
              <a:t>sumber kebenaran tunggal</a:t>
            </a:r>
          </a:p>
        </p:txBody>
      </p:sp>
      <p:sp>
        <p:nvSpPr>
          <p:cNvPr id="100" name="Freeform 99"/>
          <p:cNvSpPr/>
          <p:nvPr/>
        </p:nvSpPr>
        <p:spPr>
          <a:xfrm>
            <a:off x="8839200" y="4857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600" y="0"/>
                </a:lnTo>
              </a:path>
            </a:pathLst>
          </a:custGeom>
          <a:solidFill>
            <a:srgbClr val="000000"/>
          </a:solidFill>
          <a:ln w="15875">
            <a:solidFill>
              <a:srgbClr val="94A3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1" name="Freeform 100"/>
          <p:cNvSpPr/>
          <p:nvPr/>
        </p:nvSpPr>
        <p:spPr>
          <a:xfrm>
            <a:off x="9124950" y="4819650"/>
            <a:ext cx="69850" cy="76200"/>
          </a:xfrm>
          <a:custGeom>
            <a:avLst/>
            <a:gdLst/>
            <a:ahLst/>
            <a:cxnLst/>
            <a:rect l="l" t="t" r="r" b="b"/>
            <a:pathLst>
              <a:path w="69850" h="76200">
                <a:moveTo>
                  <a:pt x="6985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9258300" y="4584700"/>
            <a:ext cx="2362200" cy="546100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>
            <a:noFill/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036050" y="4677969"/>
            <a:ext cx="2806700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00" b="1">
                <a:solidFill>
                  <a:srgbClr val="A5B4FC"/>
                </a:solidFill>
                <a:latin typeface="Plus Jakarta Sans ExtraBold"/>
              </a:rPr>
              <a:t>Dashboard · Pintu · Ibu Bapa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78975" y="4893323"/>
            <a:ext cx="1720850" cy="1502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Plus Jakarta Sans SemiBold"/>
              </a:rPr>
              <a:t>tiga skrin, satu data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71500" y="5435600"/>
            <a:ext cx="11049000" cy="952500"/>
          </a:xfrm>
          <a:prstGeom prst="roundRect">
            <a:avLst>
              <a:gd name="adj" fmla="val 14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571500" y="5435600"/>
            <a:ext cx="44450" cy="95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800100" y="5556453"/>
            <a:ext cx="6639630" cy="2575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 spc="-18">
                <a:solidFill>
                  <a:srgbClr val="0F172A"/>
                </a:solidFill>
                <a:latin typeface="Plus Jakarta Sans ExtraBold"/>
              </a:rPr>
              <a:t>Setiap tindakan guru meninggalkan jejak penuh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0100" y="5828138"/>
            <a:ext cx="11022965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Status intervensi disimpan sebagai baris baharu, bukan menimpa baris lama. Setiap rekod membawa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" y="6005938"/>
            <a:ext cx="10787698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tarikh pilihan guru, masa sistem dan nama guru yang mencatat. Kronologi murid boleh dimuat turun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0100" y="6183738"/>
            <a:ext cx="5180489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sebagai PDF untuk dimasukkan ke fail sekolah.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810500" y="3873500"/>
            <a:ext cx="7112000" cy="5080000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2286000" y="-1587500"/>
            <a:ext cx="6350000" cy="4572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71500" y="3937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57200"/>
            <a:ext cx="431800" cy="43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300" y="403530"/>
            <a:ext cx="1765490" cy="3862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spc="-27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703415"/>
            <a:ext cx="424545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0" y="502342"/>
            <a:ext cx="889000" cy="2001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50" b="0">
                <a:solidFill>
                  <a:srgbClr val="0891B2"/>
                </a:solidFill>
                <a:latin typeface="JetBrains Mono Extra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6031" y="696792"/>
            <a:ext cx="1464469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Impak &amp;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1143000"/>
            <a:ext cx="11049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71500" y="1356646"/>
            <a:ext cx="889000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80">
                <a:solidFill>
                  <a:srgbClr val="0891B2"/>
                </a:solidFill>
                <a:latin typeface="Plus Jakarta Sans ExtraBold"/>
              </a:rPr>
              <a:t>IMPAK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460360"/>
            <a:ext cx="7897044" cy="4935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00" b="1" spc="-69">
                <a:solidFill>
                  <a:srgbClr val="0F172A"/>
                </a:solidFill>
                <a:latin typeface="Plus Jakarta Sans ExtraBold"/>
              </a:rPr>
              <a:t>Data sebenar daripada 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859" y="1414615"/>
            <a:ext cx="335264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26 Ogos – 28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2754" y="1592415"/>
            <a:ext cx="355774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18 hari sekolah · 57 murid sasaran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905000"/>
            <a:ext cx="266700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71500" y="1905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4700" y="2057362"/>
            <a:ext cx="936625" cy="5688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0" b="0">
                <a:solidFill>
                  <a:srgbClr val="0891B2"/>
                </a:solidFill>
                <a:latin typeface="JetBrains Mono ExtraBold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700" y="2493569"/>
            <a:ext cx="1787208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MURID DIPANTAU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5500" y="1905000"/>
            <a:ext cx="266700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365500" y="1905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68700" y="2057362"/>
            <a:ext cx="1328738" cy="5688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0" b="0">
                <a:solidFill>
                  <a:srgbClr val="7C3AED"/>
                </a:solidFill>
                <a:latin typeface="JetBrains Mono ExtraBold"/>
              </a:rPr>
              <a:t>675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8700" y="2493569"/>
            <a:ext cx="2167255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REKOD DIREKODKAN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9500" y="1905000"/>
            <a:ext cx="266700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59500" y="1905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62700" y="2057362"/>
            <a:ext cx="2112962" cy="5688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0" b="0">
                <a:solidFill>
                  <a:srgbClr val="059669"/>
                </a:solidFill>
                <a:latin typeface="JetBrains Mono ExtraBold"/>
              </a:rPr>
              <a:t>82.7%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2493569"/>
            <a:ext cx="2251710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IMBASAN TEPAT MASA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500" y="1905000"/>
            <a:ext cx="2667000" cy="8382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953500" y="19050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56700" y="2057362"/>
            <a:ext cx="936625" cy="5688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700" b="0">
                <a:solidFill>
                  <a:srgbClr val="D97706"/>
                </a:solidFill>
                <a:latin typeface="JetBrains Mono ExtraBold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6700" y="2493569"/>
            <a:ext cx="2176304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MURID RISIKO TINGGI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" y="2946400"/>
            <a:ext cx="5397500" cy="2413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4700" y="3067253"/>
            <a:ext cx="4438853" cy="2575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 spc="-18">
                <a:solidFill>
                  <a:srgbClr val="0F172A"/>
                </a:solidFill>
                <a:latin typeface="Plus Jakarta Sans ExtraBold"/>
              </a:rPr>
              <a:t>Enam punca lewat paling kerap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700" y="3280969"/>
            <a:ext cx="3370739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Daripada 117 rekod berstatus lewat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3311" y="3579692"/>
            <a:ext cx="1560989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Bangun Lewat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35941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743200" y="3594100"/>
            <a:ext cx="241300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245100" y="36060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523" y="3871792"/>
            <a:ext cx="1521777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Cuaca / Hujan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38862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2743200" y="3886200"/>
            <a:ext cx="112395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956050" y="38981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51318" y="4163892"/>
            <a:ext cx="1002982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Lain-lain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41783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743200" y="4178300"/>
            <a:ext cx="61595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448050" y="41902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3335" y="4455992"/>
            <a:ext cx="137096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Tiada Alasan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0" y="44704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2743200" y="4470400"/>
            <a:ext cx="50800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340100" y="44823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0644" y="4748092"/>
            <a:ext cx="1313656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Siap lambat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47625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2743200" y="4762500"/>
            <a:ext cx="50800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340100" y="47744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8115" y="5040192"/>
            <a:ext cx="122618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Kenderaan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5054600"/>
            <a:ext cx="2413000" cy="1397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2743200" y="5054600"/>
            <a:ext cx="450850" cy="139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B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282950" y="50665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0E7490"/>
                </a:solidFill>
                <a:latin typeface="JetBrains Mono ExtraBold"/>
              </a:rPr>
              <a:t>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23000" y="2946400"/>
            <a:ext cx="5397500" cy="2413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26200" y="3067253"/>
            <a:ext cx="4290816" cy="2575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 spc="-18">
                <a:solidFill>
                  <a:srgbClr val="0F172A"/>
                </a:solidFill>
                <a:latin typeface="Plus Jakarta Sans ExtraBold"/>
              </a:rPr>
              <a:t>Kadar lewat mengikut minggu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3280969"/>
            <a:ext cx="3180715" cy="1716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Plus Jakarta Sans SemiBold"/>
              </a:rPr>
              <a:t>Peratus imbasan berstatus lewat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77000" y="5067300"/>
            <a:ext cx="4953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64" name="Rounded Rectangle 63"/>
          <p:cNvSpPr/>
          <p:nvPr/>
        </p:nvSpPr>
        <p:spPr>
          <a:xfrm>
            <a:off x="6667500" y="4387850"/>
            <a:ext cx="596900" cy="679450"/>
          </a:xfrm>
          <a:prstGeom prst="roundRect">
            <a:avLst>
              <a:gd name="adj" fmla="val 8510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521450" y="42156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50" b="0">
                <a:solidFill>
                  <a:srgbClr val="0369A1"/>
                </a:solidFill>
                <a:latin typeface="JetBrains Mono ExtraBold"/>
              </a:rPr>
              <a:t>22.9%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4227" y="5141246"/>
            <a:ext cx="903446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Plus Jakarta Sans SemiBold"/>
              </a:rPr>
              <a:t>24 Ogos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3500" y="4724400"/>
            <a:ext cx="596900" cy="342900"/>
          </a:xfrm>
          <a:prstGeom prst="roundRect">
            <a:avLst>
              <a:gd name="adj" fmla="val 14814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537450" y="455223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50" b="0">
                <a:solidFill>
                  <a:srgbClr val="0369A1"/>
                </a:solidFill>
                <a:latin typeface="JetBrains Mono ExtraBold"/>
              </a:rPr>
              <a:t>11.6%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37450" y="5141246"/>
            <a:ext cx="889000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Plus Jakarta Sans SemiBold"/>
              </a:rPr>
              <a:t>7 Sep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99500" y="4616450"/>
            <a:ext cx="596900" cy="450850"/>
          </a:xfrm>
          <a:prstGeom prst="roundRect">
            <a:avLst>
              <a:gd name="adj" fmla="val 11267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553450" y="44442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50" b="0">
                <a:solidFill>
                  <a:srgbClr val="0369A1"/>
                </a:solidFill>
                <a:latin typeface="JetBrains Mono ExtraBold"/>
              </a:rPr>
              <a:t>15.2%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53450" y="5141246"/>
            <a:ext cx="889000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Plus Jakarta Sans SemiBold"/>
              </a:rPr>
              <a:t>14 Sep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15500" y="4375150"/>
            <a:ext cx="596900" cy="692150"/>
          </a:xfrm>
          <a:prstGeom prst="roundRect">
            <a:avLst>
              <a:gd name="adj" fmla="val 8510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569450" y="420298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50" b="0">
                <a:solidFill>
                  <a:srgbClr val="0369A1"/>
                </a:solidFill>
                <a:latin typeface="JetBrains Mono ExtraBold"/>
              </a:rPr>
              <a:t>23.2%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69450" y="5141246"/>
            <a:ext cx="889000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Plus Jakarta Sans SemiBold"/>
              </a:rPr>
              <a:t>21 Sep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31500" y="4597400"/>
            <a:ext cx="596900" cy="469900"/>
          </a:xfrm>
          <a:prstGeom prst="roundRect">
            <a:avLst>
              <a:gd name="adj" fmla="val 10810"/>
            </a:avLst>
          </a:prstGeom>
          <a:solidFill>
            <a:srgbClr val="0EA5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585450" y="4425232"/>
            <a:ext cx="889000" cy="1790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50" b="0">
                <a:solidFill>
                  <a:srgbClr val="0369A1"/>
                </a:solidFill>
                <a:latin typeface="JetBrains Mono ExtraBold"/>
              </a:rPr>
              <a:t>15.8%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85450" y="5141246"/>
            <a:ext cx="889000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4748B"/>
                </a:solidFill>
                <a:latin typeface="Plus Jakarta Sans SemiBold"/>
              </a:rPr>
              <a:t>28 Sep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1500" y="5562600"/>
            <a:ext cx="3556000" cy="5715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62000" y="5674055"/>
            <a:ext cx="1778159" cy="3371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047857"/>
                </a:solidFill>
                <a:latin typeface="JetBrains Mono ExtraBold"/>
              </a:rPr>
              <a:t>5 kelas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2000" y="5929192"/>
            <a:ext cx="4616450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100% imbasan tepat masa sepanjang tempoh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18000" y="5562600"/>
            <a:ext cx="3556000" cy="571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508500" y="5674055"/>
            <a:ext cx="2707164" cy="3371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1D4ED8"/>
                </a:solidFill>
                <a:latin typeface="JetBrains Mono ExtraBold"/>
              </a:rPr>
              <a:t>07:21–07:27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08500" y="5929192"/>
            <a:ext cx="3593941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Puncak tempoh imbasan murid tiba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64500" y="5562600"/>
            <a:ext cx="3556000" cy="571500"/>
          </a:xfrm>
          <a:prstGeom prst="roundRect">
            <a:avLst>
              <a:gd name="adj" fmla="val 20000"/>
            </a:avLst>
          </a:prstGeom>
          <a:solidFill>
            <a:srgbClr val="FAF5FF"/>
          </a:solidFill>
          <a:ln w="12700">
            <a:solidFill>
              <a:srgbClr val="E9D5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55000" y="5674055"/>
            <a:ext cx="1313656" cy="33710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7E22CE"/>
                </a:solidFill>
                <a:latin typeface="JetBrains Mono ExtraBold"/>
              </a:rPr>
              <a:t>1 ×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55000" y="5929192"/>
            <a:ext cx="318071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Plus Jakarta Sans Medium"/>
              </a:rPr>
              <a:t>Rekod imbasan yang berganda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6310192"/>
            <a:ext cx="7309961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Plus Jakarta Sans SemiBold"/>
              </a:rPr>
              <a:t>Isi sendiri: ⟨ min/hari dijim ⟩ · ⟨ bilangan guru yang menggunakan sistem 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810500" y="3873500"/>
            <a:ext cx="7112000" cy="5080000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2286000" y="-1587500"/>
            <a:ext cx="6350000" cy="4572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71500" y="3937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57200"/>
            <a:ext cx="431800" cy="43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300" y="403530"/>
            <a:ext cx="1765490" cy="3862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spc="-27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703415"/>
            <a:ext cx="424545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0" y="502342"/>
            <a:ext cx="889000" cy="2001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50" b="0">
                <a:solidFill>
                  <a:srgbClr val="0891B2"/>
                </a:solidFill>
                <a:latin typeface="JetBrains Mono ExtraBol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0252" y="696792"/>
            <a:ext cx="1980247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Inovasi &amp; Keunikan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1143000"/>
            <a:ext cx="11049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71500" y="1356646"/>
            <a:ext cx="1104328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80">
                <a:solidFill>
                  <a:srgbClr val="0891B2"/>
                </a:solidFill>
                <a:latin typeface="Plus Jakarta Sans ExtraBold"/>
              </a:rPr>
              <a:t>INOVASI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460360"/>
            <a:ext cx="10892904" cy="4935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00" b="1" spc="-69">
                <a:solidFill>
                  <a:srgbClr val="0F172A"/>
                </a:solidFill>
                <a:latin typeface="Plus Jakarta Sans ExtraBold"/>
              </a:rPr>
              <a:t>Enam perkara yang membezakan Q-TIBA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209" y="1490815"/>
            <a:ext cx="347329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Setiap ciri direka untuk keadaan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1826" y="1655915"/>
            <a:ext cx="3358674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sekolah sebenar, bukan demo.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20066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71500" y="20066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36600" y="2222500"/>
            <a:ext cx="304800" cy="304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4500" y="23029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261622"/>
            <a:ext cx="4389990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Sejarah tidak pernah hilang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700" y="2627738"/>
            <a:ext cx="5738495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Setiap perubahan intervensi disimpan sebagai baris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700" y="2792838"/>
            <a:ext cx="5424805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baharu, bukan menimpa baris lama. Setiap rekod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700" y="2957938"/>
            <a:ext cx="5611812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membawa tarikh guru, masa sistem dan nama guru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700" y="3123038"/>
            <a:ext cx="5856129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yang mencatat. Kesilapan pembetulan boleh dijejak.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4700" y="33782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4362" y="3426873"/>
            <a:ext cx="1781175" cy="158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6D28D9"/>
                </a:solidFill>
                <a:latin typeface="JetBrains Mono ExtraBold"/>
              </a:rPr>
              <a:t>APPEND-ONLY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8000" y="20066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318000" y="20066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483100" y="2222500"/>
            <a:ext cx="304800" cy="3048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191000" y="23029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9500" y="2261622"/>
            <a:ext cx="5213185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Sistem mencadangkan tindakan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200" y="2583015"/>
            <a:ext cx="504174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Cadangan status intervensi berdasarkan jumlah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1200" y="2735415"/>
            <a:ext cx="455009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kes murid, supaya tahap tindakan sepadan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1200" y="2887815"/>
            <a:ext cx="4396264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dengan tahap masalah. Guru masih boleh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1200" y="3040215"/>
            <a:ext cx="507492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menyemak dan mengubahnya sebelum simpan.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1200" y="3238500"/>
            <a:ext cx="3149600" cy="330200"/>
          </a:xfrm>
          <a:prstGeom prst="roundRect">
            <a:avLst>
              <a:gd name="adj" fmla="val 19230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35500" y="3304813"/>
            <a:ext cx="1741964" cy="136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50" b="0">
                <a:solidFill>
                  <a:srgbClr val="0E7490"/>
                </a:solidFill>
                <a:latin typeface="JetBrains Mono ExtraBold"/>
              </a:rPr>
              <a:t>1–2 kes → Surat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3304813"/>
            <a:ext cx="1367949" cy="136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50" b="0">
                <a:solidFill>
                  <a:srgbClr val="0E7490"/>
                </a:solidFill>
                <a:latin typeface="JetBrains Mono ExtraBold"/>
              </a:rPr>
              <a:t>3–4 → Surat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5500" y="3444513"/>
            <a:ext cx="1367949" cy="136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50" b="0">
                <a:solidFill>
                  <a:srgbClr val="0E7490"/>
                </a:solidFill>
                <a:latin typeface="JetBrains Mono ExtraBold"/>
              </a:rPr>
              <a:t>5–6 → Surat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0" y="3444513"/>
            <a:ext cx="1928971" cy="136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50" b="0">
                <a:solidFill>
                  <a:srgbClr val="0E7490"/>
                </a:solidFill>
                <a:latin typeface="JetBrains Mono ExtraBold"/>
              </a:rPr>
              <a:t>7+ → Rujuk Pengetua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4500" y="20066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064500" y="20066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229600" y="2222500"/>
            <a:ext cx="304800" cy="3048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937500" y="23029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0" y="2261622"/>
            <a:ext cx="3968439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Berfungsi tanpa internet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7700" y="2627738"/>
            <a:ext cx="4728051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Senarai murid disimpan dalam peranti, jadi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7700" y="2792838"/>
            <a:ext cx="5026660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imbasan tetap berfungsi walaupun rangkaian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7700" y="2957938"/>
            <a:ext cx="4278630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terputus. Data dihantar semula secara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7700" y="3123038"/>
            <a:ext cx="4085590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automatik apabila sambungan pulih.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67700" y="3378200"/>
            <a:ext cx="1397000" cy="1905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075612" y="3426873"/>
            <a:ext cx="1781175" cy="158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047857"/>
                </a:solidFill>
                <a:latin typeface="JetBrains Mono ExtraBold"/>
              </a:rPr>
              <a:t>OFFLINE + QUEUE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1500" y="38862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571500" y="38862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736600" y="4102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44500" y="41825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4141222"/>
            <a:ext cx="4143140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Pentadbir tidak perlu kod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700" y="4507338"/>
            <a:ext cx="5186521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Masa cutoff kelewatan dan senarai cuti diubah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700" y="4672438"/>
            <a:ext cx="5029676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terus dari Google Sheet melalui panel terbina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4700" y="4837538"/>
            <a:ext cx="5077936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dalam. Perubahan berkuat kuasa serta-merta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700" y="5002638"/>
            <a:ext cx="4580255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pada semua skrin tanpa tulis semula kod.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4700" y="5257800"/>
            <a:ext cx="1397000" cy="1905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91198" y="5306473"/>
            <a:ext cx="1564005" cy="158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B45309"/>
                </a:solidFill>
                <a:latin typeface="JetBrains Mono ExtraBold"/>
              </a:rPr>
              <a:t>NO-CODE SETUP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18000" y="38862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4318000" y="38862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4483100" y="4102100"/>
            <a:ext cx="304800" cy="3048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191000" y="41825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89500" y="4141222"/>
            <a:ext cx="3878675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Satu sumber kebenaran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1200" y="4507338"/>
            <a:ext cx="5129212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Dashboard, paparan pintu dan portal ibu bapa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1200" y="4672438"/>
            <a:ext cx="4993481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membaca Sheet yang sama, jadi tiada angka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1200" y="4837538"/>
            <a:ext cx="4640580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bercanggah antara skrin. Satu kemas kini,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1200" y="5002638"/>
            <a:ext cx="4924108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semua paparan mengikut secara automatik.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21200" y="52578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469448" y="5306473"/>
            <a:ext cx="1564005" cy="158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BE123C"/>
                </a:solidFill>
                <a:latin typeface="JetBrains Mono ExtraBold"/>
              </a:rPr>
              <a:t>SINGLE SOURCE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64500" y="3886200"/>
            <a:ext cx="3556000" cy="1689100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8064500" y="3886200"/>
            <a:ext cx="355600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8229600" y="4102100"/>
            <a:ext cx="304800" cy="3048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937500" y="4182516"/>
            <a:ext cx="889000" cy="2528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JetBrains Mono ExtraBold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36000" y="4141222"/>
            <a:ext cx="3556178" cy="2897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 spc="-20">
                <a:solidFill>
                  <a:srgbClr val="0F172A"/>
                </a:solidFill>
                <a:latin typeface="Plus Jakarta Sans ExtraBold"/>
              </a:rPr>
              <a:t>Keselamatan berlapis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67700" y="4507338"/>
            <a:ext cx="5512276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PIN di-hash dengan SHA-256. Kunci API disimpan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67700" y="4672438"/>
            <a:ext cx="4767262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di pelayan dan tidak pernah dedah kepada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67700" y="4837538"/>
            <a:ext cx="5183505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pelayar. Tindakan sensitif perlu token sesi, dan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67700" y="5002638"/>
            <a:ext cx="4667726" cy="20387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Plus Jakarta Sans Medium"/>
              </a:rPr>
              <a:t>semua input disanitasi sebelum disimpan.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67700" y="5257800"/>
            <a:ext cx="1270000" cy="19050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229282" y="5306473"/>
            <a:ext cx="1346835" cy="1580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50" b="0">
                <a:solidFill>
                  <a:srgbClr val="0E7490"/>
                </a:solidFill>
                <a:latin typeface="JetBrains Mono ExtraBold"/>
              </a:rPr>
              <a:t>FAIL-CLOSED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1500" y="5765800"/>
            <a:ext cx="11049000" cy="711200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87400" y="5928646"/>
            <a:ext cx="2162429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05">
                <a:solidFill>
                  <a:srgbClr val="22D3EE"/>
                </a:solidFill>
                <a:latin typeface="Plus Jakarta Sans ExtraBold"/>
              </a:rPr>
              <a:t>PERBEZAAN UTAMA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7400" y="6120784"/>
            <a:ext cx="13746639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Plus Jakarta Sans"/>
              </a:rPr>
              <a:t>Kebanyakan aplikasi kehadiran berhenti pada simpan status. Q-TIBA menyimpan sejarah, mencadangkan tindakan,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7400" y="6298584"/>
            <a:ext cx="12585382" cy="2253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Plus Jakarta Sans"/>
              </a:rPr>
              <a:t>berfungsi di luar talian, boleh dikonfigurasi tanpa kod, dan menghasilkan ringkasan PDF untuk fail sekolah.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810500" y="3873500"/>
            <a:ext cx="7112000" cy="5080000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2286000" y="-1587500"/>
            <a:ext cx="6350000" cy="4572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3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71500" y="3937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q-tib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57200"/>
            <a:ext cx="431800" cy="43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300" y="403530"/>
            <a:ext cx="1765490" cy="3862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 spc="-27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703415"/>
            <a:ext cx="424545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Sistem Disiplin Sekolah · SK Pulau Indah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0" y="502342"/>
            <a:ext cx="889000" cy="2001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50" b="0">
                <a:solidFill>
                  <a:srgbClr val="0891B2"/>
                </a:solidFill>
                <a:latin typeface="JetBrains Mono ExtraBol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5449" y="696792"/>
            <a:ext cx="2315051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Plus Jakarta Sans SemiBold"/>
              </a:rPr>
              <a:t>Teknologi &amp;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1143000"/>
            <a:ext cx="110490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71500" y="1356646"/>
            <a:ext cx="1466882" cy="160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80">
                <a:solidFill>
                  <a:srgbClr val="0891B2"/>
                </a:solidFill>
                <a:latin typeface="Plus Jakarta Sans ExtraBold"/>
              </a:rPr>
              <a:t>TEKNOLOGI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460360"/>
            <a:ext cx="8293138" cy="4935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00" b="1" spc="-69">
                <a:solidFill>
                  <a:srgbClr val="0F172A"/>
                </a:solidFill>
                <a:latin typeface="Plus Jakarta Sans ExtraBold"/>
              </a:rPr>
              <a:t>Teknologi yang mudah dikuasai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847" y="1490815"/>
            <a:ext cx="483965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Tiada pelayan mahalan, tiada pangkalan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5814" y="1655915"/>
            <a:ext cx="447468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lus Jakarta Sans SemiBold"/>
              </a:rPr>
              <a:t>berasingan. Semua pada akaun percuma.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961807"/>
            <a:ext cx="2532704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Tiga lapisan sistem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2222500"/>
            <a:ext cx="5080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71500" y="2222500"/>
            <a:ext cx="44450" cy="8382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0100" y="2372068"/>
            <a:ext cx="2100898" cy="1474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0">
                <a:solidFill>
                  <a:srgbClr val="0891B2"/>
                </a:solidFill>
                <a:latin typeface="JetBrains Mono ExtraBold"/>
              </a:rPr>
              <a:t>LAPISAN 1 · PELAYAR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2520607"/>
            <a:ext cx="5014836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Antara muka — HTML, CSS, 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735415"/>
            <a:ext cx="752109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Lima modul responsif, Chart.js untuk carta, html5-qrcode untuk kamera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887815"/>
            <a:ext cx="565705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imbasan, dan html2pdf untuk menjana PDF ringkasan.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3187700"/>
            <a:ext cx="5080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71500" y="3187700"/>
            <a:ext cx="44450" cy="838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0100" y="3337268"/>
            <a:ext cx="2100898" cy="1474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0">
                <a:solidFill>
                  <a:srgbClr val="7C3AED"/>
                </a:solidFill>
                <a:latin typeface="JetBrains Mono ExtraBold"/>
              </a:rPr>
              <a:t>LAPISAN 2 · PELAYAN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3485807"/>
            <a:ext cx="2665057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Google Apps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3700615"/>
            <a:ext cx="778351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Semua logik pengesahan, pengesahan kunci API, dan pemprosesan rekod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853015"/>
            <a:ext cx="520461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dijalankan di sisi pelayan, bukan di dalam pelayar.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" y="4152900"/>
            <a:ext cx="5080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52400" dist="28575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71500" y="4152900"/>
            <a:ext cx="44450" cy="838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0100" y="4302468"/>
            <a:ext cx="1998345" cy="1474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0">
                <a:solidFill>
                  <a:srgbClr val="059669"/>
                </a:solidFill>
                <a:latin typeface="JetBrains Mono ExtraBold"/>
              </a:rPr>
              <a:t>LAPISAN 3 · STORAN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4451007"/>
            <a:ext cx="2044916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Google Sheets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4665815"/>
            <a:ext cx="6498590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Pangkalan data yang mudah diaudit, boleh dibaca guru besar,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" y="4818215"/>
            <a:ext cx="528605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dan boleh dieksport ke Excel pada bila-bila masa.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1961807"/>
            <a:ext cx="3483185" cy="2360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1" spc="-16">
                <a:solidFill>
                  <a:srgbClr val="0F172A"/>
                </a:solidFill>
                <a:latin typeface="Plus Jakarta Sans ExtraBold"/>
              </a:rPr>
              <a:t>Roadmap pengembangan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40500" y="2222500"/>
            <a:ext cx="5080000" cy="622300"/>
          </a:xfrm>
          <a:prstGeom prst="roundRect">
            <a:avLst>
              <a:gd name="adj" fmla="val 16326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43700" y="2348078"/>
            <a:ext cx="3017838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0E7490"/>
                </a:solidFill>
                <a:latin typeface="JetBrains Mono ExtraBold"/>
              </a:rPr>
              <a:t>FASA 1 · SEDAP BEROPERASI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3700" y="2519515"/>
            <a:ext cx="8555672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Pemimbas QR, dashboard, portal guru dan portal ibu bapa, dan sejarah intervensi.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3700" y="2671915"/>
            <a:ext cx="458628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Semua sudah digunakan oleh guru sekolah.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0500" y="2933700"/>
            <a:ext cx="5080000" cy="622300"/>
          </a:xfrm>
          <a:prstGeom prst="roundRect">
            <a:avLst>
              <a:gd name="adj" fmla="val 16326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43700" y="3059278"/>
            <a:ext cx="2903220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JetBrains Mono ExtraBold"/>
              </a:rPr>
              <a:t>FASA 2 · SEDANG BERJALAN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700" y="3230715"/>
            <a:ext cx="7074694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Analitik punca lewat, laporan bulanan automatik, dan ringkasan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700" y="3383115"/>
            <a:ext cx="3111341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automatik untuk fail sekolah.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40500" y="3644900"/>
            <a:ext cx="5080000" cy="622300"/>
          </a:xfrm>
          <a:prstGeom prst="roundRect">
            <a:avLst>
              <a:gd name="adj" fmla="val 16326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743700" y="3770478"/>
            <a:ext cx="2330132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B45309"/>
                </a:solidFill>
                <a:latin typeface="JetBrains Mono ExtraBold"/>
              </a:rPr>
              <a:t>FASA 3 · SETERUSNYA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3700" y="3941915"/>
            <a:ext cx="694197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Amaran awal kepada guru kelas apabila seorang murid mengulang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3700" y="4094315"/>
            <a:ext cx="2776538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tiga kali dalam seminggu.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40500" y="4356100"/>
            <a:ext cx="5080000" cy="622300"/>
          </a:xfrm>
          <a:prstGeom prst="roundRect">
            <a:avLst>
              <a:gd name="adj" fmla="val 16326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743700" y="4481678"/>
            <a:ext cx="2788602" cy="1685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00" b="0">
                <a:solidFill>
                  <a:srgbClr val="15803D"/>
                </a:solidFill>
                <a:latin typeface="JetBrains Mono ExtraBold"/>
              </a:rPr>
              <a:t>FASA 4 · JANGKA PANJANG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3700" y="4653115"/>
            <a:ext cx="6926897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Pakej untuk sekolah lain: tambah senarai murid, sesuaikan jenama,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3700" y="4805515"/>
            <a:ext cx="2399506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tanpa perlu ubah kod.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1500" y="5245100"/>
            <a:ext cx="35306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5401323"/>
            <a:ext cx="1985677" cy="1502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1" spc="105">
                <a:solidFill>
                  <a:srgbClr val="22D3EE"/>
                </a:solidFill>
                <a:latin typeface="Plus Jakarta Sans ExtraBold"/>
              </a:rPr>
              <a:t>KOS PENGEKODAN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400" y="5523814"/>
            <a:ext cx="1458436" cy="4721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 ExtraBold"/>
              </a:rPr>
              <a:t>RM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0200" y="5687892"/>
            <a:ext cx="3020854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Plus Jakarta Sans"/>
              </a:rPr>
              <a:t>seluruhnya pada tier percuma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30700" y="5245100"/>
            <a:ext cx="35306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546600" y="5401323"/>
            <a:ext cx="1733518" cy="1502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1" spc="105">
                <a:solidFill>
                  <a:srgbClr val="22D3EE"/>
                </a:solidFill>
                <a:latin typeface="Plus Jakarta Sans ExtraBold"/>
              </a:rPr>
              <a:t>MUDAH DIPAKAI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6600" y="5523814"/>
            <a:ext cx="1277461" cy="4721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 ExtraBold"/>
              </a:rPr>
              <a:t>4 ×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35600" y="5687892"/>
            <a:ext cx="3283267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Plus Jakarta Sans"/>
              </a:rPr>
              <a:t>guru besar atau guru kecil, tanpa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89900" y="5245100"/>
            <a:ext cx="35306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5800" y="5401323"/>
            <a:ext cx="1037971" cy="1502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00" b="1" spc="105">
                <a:solidFill>
                  <a:srgbClr val="22D3EE"/>
                </a:solidFill>
                <a:latin typeface="Plus Jakarta Sans ExtraBold"/>
              </a:rPr>
              <a:t>HOSTING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5800" y="5523814"/>
            <a:ext cx="1820386" cy="4721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 ExtraBold"/>
              </a:rPr>
              <a:t>HTTPS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3700" y="5687892"/>
            <a:ext cx="2143125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Plus Jakarta Sans"/>
              </a:rPr>
              <a:t>gratis dan kekal aktif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" y="6240615"/>
            <a:ext cx="7086759" cy="1931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Plus Jakarta Sans SemiBold"/>
              </a:rPr>
              <a:t>Isi sendiri: ⟨ bilangan sekolah yang bermula ⟩ · ⟨ kos pengekodan 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" y="6449892"/>
            <a:ext cx="8953818" cy="1824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Plus Jakarta Sans SemiBold"/>
              </a:rPr>
              <a:t>Q-TIBA boleh digunakan di mana-mana sekolah yang mempunyai telefon dengan kamera.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Q-TIBA - Sistem Disiplin Sekolah</dc:title>
  <dc:subject>Pertandingan Inovasi 2026: daripada kertas kepada data</dc:subject>
  <dc:creator>SK Pulau Indah</dc:creator>
  <cp:keywords/>
  <dc:description>Semua slaid dibina daripada bentuk PowerPoint native yang boleh diedit. Hanya logo ialah gambar.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