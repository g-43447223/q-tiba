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63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-1715294" y="-1524706"/>
            <a:ext cx="6289412" cy="4764706"/>
          </a:xfrm>
          <a:prstGeom prst="ellipse">
            <a:avLst/>
          </a:prstGeom>
          <a:gradFill flip="none" rotWithShape="1">
            <a:gsLst>
              <a:gs pos="0">
                <a:srgbClr val="06B6D4">
                  <a:alpha val="16000"/>
                </a:srgbClr>
              </a:gs>
              <a:gs pos="10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6194118" y="4574118"/>
            <a:ext cx="6861176" cy="4955294"/>
          </a:xfrm>
          <a:prstGeom prst="ellipse">
            <a:avLst/>
          </a:prstGeom>
          <a:gradFill flip="none" rotWithShape="1">
            <a:gsLst>
              <a:gs pos="0">
                <a:srgbClr val="8B5CF6">
                  <a:alpha val="14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0692000" cy="66706"/>
          </a:xfrm>
          <a:prstGeom prst="rect">
            <a:avLst/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33647" y="362118"/>
            <a:ext cx="590824" cy="590824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28941" y="457412"/>
            <a:ext cx="400235" cy="400235"/>
          </a:xfrm>
          <a:prstGeom prst="roundRect">
            <a:avLst>
              <a:gd name="adj" fmla="val 2619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Freeform 7"/>
          <p:cNvSpPr/>
          <p:nvPr/>
        </p:nvSpPr>
        <p:spPr>
          <a:xfrm>
            <a:off x="676588" y="543176"/>
            <a:ext cx="181059" cy="171530"/>
          </a:xfrm>
          <a:custGeom>
            <a:avLst/>
            <a:gdLst/>
            <a:ahLst/>
            <a:cxnLst/>
            <a:rect l="l" t="t" r="r" b="b"/>
            <a:pathLst>
              <a:path w="181059" h="171530">
                <a:moveTo>
                  <a:pt x="28588" y="9530"/>
                </a:moveTo>
                <a:lnTo>
                  <a:pt x="123883" y="9530"/>
                </a:lnTo>
                <a:lnTo>
                  <a:pt x="171530" y="57177"/>
                </a:lnTo>
                <a:lnTo>
                  <a:pt x="171530" y="142942"/>
                </a:lnTo>
                <a:lnTo>
                  <a:pt x="177419" y="141269"/>
                </a:lnTo>
                <a:lnTo>
                  <a:pt x="178982" y="143819"/>
                </a:lnTo>
                <a:lnTo>
                  <a:pt x="180126" y="146582"/>
                </a:lnTo>
                <a:lnTo>
                  <a:pt x="180824" y="149490"/>
                </a:lnTo>
                <a:lnTo>
                  <a:pt x="181059" y="152471"/>
                </a:lnTo>
                <a:lnTo>
                  <a:pt x="180824" y="155453"/>
                </a:lnTo>
                <a:lnTo>
                  <a:pt x="180126" y="158361"/>
                </a:lnTo>
                <a:lnTo>
                  <a:pt x="178982" y="161124"/>
                </a:lnTo>
                <a:lnTo>
                  <a:pt x="177419" y="163674"/>
                </a:lnTo>
                <a:lnTo>
                  <a:pt x="175477" y="165948"/>
                </a:lnTo>
                <a:lnTo>
                  <a:pt x="173203" y="167890"/>
                </a:lnTo>
                <a:lnTo>
                  <a:pt x="170653" y="169453"/>
                </a:lnTo>
                <a:lnTo>
                  <a:pt x="167890" y="170597"/>
                </a:lnTo>
                <a:lnTo>
                  <a:pt x="164982" y="171295"/>
                </a:lnTo>
                <a:lnTo>
                  <a:pt x="162000" y="171530"/>
                </a:lnTo>
                <a:lnTo>
                  <a:pt x="159019" y="171295"/>
                </a:lnTo>
                <a:lnTo>
                  <a:pt x="156111" y="170597"/>
                </a:lnTo>
                <a:lnTo>
                  <a:pt x="153348" y="169453"/>
                </a:lnTo>
                <a:lnTo>
                  <a:pt x="150798" y="167890"/>
                </a:lnTo>
                <a:lnTo>
                  <a:pt x="148524" y="165948"/>
                </a:lnTo>
                <a:lnTo>
                  <a:pt x="28588" y="162000"/>
                </a:lnTo>
                <a:lnTo>
                  <a:pt x="30262" y="167890"/>
                </a:lnTo>
                <a:lnTo>
                  <a:pt x="27712" y="169453"/>
                </a:lnTo>
                <a:lnTo>
                  <a:pt x="24949" y="170597"/>
                </a:lnTo>
                <a:lnTo>
                  <a:pt x="22041" y="171295"/>
                </a:lnTo>
                <a:lnTo>
                  <a:pt x="19059" y="171530"/>
                </a:lnTo>
                <a:lnTo>
                  <a:pt x="16078" y="171295"/>
                </a:lnTo>
                <a:lnTo>
                  <a:pt x="13170" y="170597"/>
                </a:lnTo>
                <a:lnTo>
                  <a:pt x="10407" y="169453"/>
                </a:lnTo>
                <a:lnTo>
                  <a:pt x="7857" y="167890"/>
                </a:lnTo>
                <a:lnTo>
                  <a:pt x="5582" y="165948"/>
                </a:lnTo>
                <a:lnTo>
                  <a:pt x="3640" y="163674"/>
                </a:lnTo>
                <a:lnTo>
                  <a:pt x="2078" y="161124"/>
                </a:lnTo>
                <a:lnTo>
                  <a:pt x="933" y="158361"/>
                </a:lnTo>
                <a:lnTo>
                  <a:pt x="235" y="155453"/>
                </a:lnTo>
                <a:lnTo>
                  <a:pt x="0" y="152471"/>
                </a:lnTo>
                <a:lnTo>
                  <a:pt x="235" y="149490"/>
                </a:lnTo>
                <a:lnTo>
                  <a:pt x="933" y="146582"/>
                </a:lnTo>
                <a:lnTo>
                  <a:pt x="2078" y="143819"/>
                </a:lnTo>
                <a:lnTo>
                  <a:pt x="3640" y="141269"/>
                </a:lnTo>
                <a:lnTo>
                  <a:pt x="5582" y="138994"/>
                </a:lnTo>
                <a:lnTo>
                  <a:pt x="9530" y="28589"/>
                </a:lnTo>
                <a:lnTo>
                  <a:pt x="3640" y="30262"/>
                </a:lnTo>
                <a:lnTo>
                  <a:pt x="2078" y="27712"/>
                </a:lnTo>
                <a:lnTo>
                  <a:pt x="933" y="24949"/>
                </a:lnTo>
                <a:lnTo>
                  <a:pt x="235" y="22041"/>
                </a:lnTo>
                <a:lnTo>
                  <a:pt x="0" y="19059"/>
                </a:lnTo>
                <a:lnTo>
                  <a:pt x="235" y="16078"/>
                </a:lnTo>
                <a:lnTo>
                  <a:pt x="933" y="13170"/>
                </a:lnTo>
                <a:lnTo>
                  <a:pt x="2078" y="10407"/>
                </a:lnTo>
                <a:lnTo>
                  <a:pt x="3640" y="7857"/>
                </a:lnTo>
                <a:lnTo>
                  <a:pt x="5582" y="5583"/>
                </a:lnTo>
                <a:lnTo>
                  <a:pt x="7857" y="3640"/>
                </a:lnTo>
                <a:lnTo>
                  <a:pt x="10407" y="2078"/>
                </a:lnTo>
                <a:lnTo>
                  <a:pt x="13170" y="933"/>
                </a:lnTo>
                <a:lnTo>
                  <a:pt x="16078" y="235"/>
                </a:lnTo>
                <a:lnTo>
                  <a:pt x="19059" y="0"/>
                </a:lnTo>
                <a:lnTo>
                  <a:pt x="22041" y="235"/>
                </a:lnTo>
                <a:lnTo>
                  <a:pt x="24949" y="933"/>
                </a:lnTo>
                <a:lnTo>
                  <a:pt x="27712" y="2078"/>
                </a:lnTo>
                <a:lnTo>
                  <a:pt x="30262" y="3640"/>
                </a:lnTo>
                <a:lnTo>
                  <a:pt x="32536" y="5583"/>
                </a:lnTo>
                <a:close/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Freeform 8"/>
          <p:cNvSpPr/>
          <p:nvPr/>
        </p:nvSpPr>
        <p:spPr>
          <a:xfrm>
            <a:off x="800471" y="552706"/>
            <a:ext cx="47647" cy="47647"/>
          </a:xfrm>
          <a:custGeom>
            <a:avLst/>
            <a:gdLst/>
            <a:ahLst/>
            <a:cxnLst/>
            <a:rect l="l" t="t" r="r" b="b"/>
            <a:pathLst>
              <a:path w="47647" h="47647">
                <a:moveTo>
                  <a:pt x="0" y="0"/>
                </a:moveTo>
                <a:lnTo>
                  <a:pt x="0" y="47647"/>
                </a:lnTo>
                <a:lnTo>
                  <a:pt x="47647" y="47647"/>
                </a:lnTo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Freeform 9"/>
          <p:cNvSpPr/>
          <p:nvPr/>
        </p:nvSpPr>
        <p:spPr>
          <a:xfrm>
            <a:off x="724235" y="657529"/>
            <a:ext cx="76236" cy="47647"/>
          </a:xfrm>
          <a:custGeom>
            <a:avLst/>
            <a:gdLst/>
            <a:ahLst/>
            <a:cxnLst/>
            <a:rect l="l" t="t" r="r" b="b"/>
            <a:pathLst>
              <a:path w="76236" h="47647">
                <a:moveTo>
                  <a:pt x="0" y="0"/>
                </a:moveTo>
                <a:lnTo>
                  <a:pt x="76236" y="0"/>
                </a:lnTo>
                <a:lnTo>
                  <a:pt x="0" y="47647"/>
                </a:lnTo>
                <a:lnTo>
                  <a:pt x="57177" y="47647"/>
                </a:lnTo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257882" y="362832"/>
            <a:ext cx="1908026" cy="40257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1" spc="-19">
                <a:solidFill>
                  <a:srgbClr val="0F172A"/>
                </a:solidFill>
                <a:latin typeface="Plus Jakarta Sans ExtraBold"/>
              </a:rPr>
              <a:t>Q-TIBA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7882" y="676946"/>
            <a:ext cx="6126697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64748B"/>
                </a:solidFill>
                <a:latin typeface="Plus Jakarta Sans SemiBold"/>
              </a:rPr>
              <a:t>Dokumentasi Aliran Pembuatan &amp;#183; SK Pulau Indah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4235" y="461633"/>
            <a:ext cx="1334118" cy="2055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75" b="0">
                <a:solidFill>
                  <a:srgbClr val="0891B2"/>
                </a:solidFill>
                <a:latin typeface="JetBrains Mono ExtraBol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4235" y="667006"/>
            <a:ext cx="1334118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62" b="0">
                <a:solidFill>
                  <a:srgbClr val="64748B"/>
                </a:solidFill>
                <a:latin typeface="Plus Jakarta Sans SemiBold"/>
              </a:rPr>
              <a:t>Kulit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3647" y="1162588"/>
            <a:ext cx="9624706" cy="0"/>
          </a:xfrm>
          <a:prstGeom prst="line">
            <a:avLst/>
          </a:prstGeom>
          <a:ln w="14294">
            <a:solidFill>
              <a:srgbClr val="E2E8F0"/>
            </a:solidFill>
          </a:ln>
        </p:spPr>
      </p:cxnSp>
      <p:sp>
        <p:nvSpPr>
          <p:cNvPr id="16" name="Rounded Rectangle 15"/>
          <p:cNvSpPr/>
          <p:nvPr/>
        </p:nvSpPr>
        <p:spPr>
          <a:xfrm>
            <a:off x="533647" y="1486588"/>
            <a:ext cx="2553882" cy="285882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 w="14294">
            <a:solidFill>
              <a:srgbClr val="A5F3F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-141150" y="1568794"/>
            <a:ext cx="3903476" cy="16907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87" b="1" spc="126">
                <a:solidFill>
                  <a:srgbClr val="0891B2"/>
                </a:solidFill>
                <a:latin typeface="Plus Jakarta Sans ExtraBold"/>
              </a:rPr>
              <a:t>DOKUMENTASI PEMBANGUNAN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647" y="1915202"/>
            <a:ext cx="5374579" cy="74072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451" b="1" spc="-69">
                <a:solidFill>
                  <a:srgbClr val="0F172A"/>
                </a:solidFill>
                <a:latin typeface="Plus Jakarta Sans ExtraBold"/>
              </a:rPr>
              <a:t>Cara Apps 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647" y="2410732"/>
            <a:ext cx="4674605" cy="74072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451" b="1" spc="-69">
                <a:solidFill>
                  <a:srgbClr val="0F172A"/>
                </a:solidFill>
                <a:latin typeface="Plus Jakarta Sans ExtraBold"/>
              </a:rPr>
              <a:t>Dibina, dan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647" y="2906261"/>
            <a:ext cx="3991289" cy="74072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451" b="1" spc="-69">
                <a:solidFill>
                  <a:srgbClr val="0F172A"/>
                </a:solidFill>
                <a:latin typeface="Plus Jakarta Sans ExtraBold"/>
              </a:rPr>
              <a:t>kenapa </a:t>
            </a:r>
            <a:r>
              <a:rPr sz="3451" b="1" spc="-69">
                <a:solidFill>
                  <a:srgbClr val="8B5CF6"/>
                </a:solidFill>
                <a:latin typeface="Plus Jakarta Sans ExtraBold"/>
              </a:rPr>
              <a:t>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3647" y="3602118"/>
            <a:ext cx="552706" cy="3811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647" y="3812942"/>
            <a:ext cx="6801141" cy="233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88" b="0">
                <a:solidFill>
                  <a:srgbClr val="475569"/>
                </a:solidFill>
                <a:latin typeface="Plus Jakarta Sans Medium"/>
              </a:rPr>
              <a:t>Rekod penuh bagaimana Q-TIBA dibina dari kosong,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647" y="4022589"/>
            <a:ext cx="7326212" cy="233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88" b="0">
                <a:solidFill>
                  <a:srgbClr val="475569"/>
                </a:solidFill>
                <a:latin typeface="Plus Jakarta Sans Medium"/>
              </a:rPr>
              <a:t>termasuk keputusan yang diubah, masalah yang ditemui,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647" y="4232236"/>
            <a:ext cx="6642715" cy="233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88" b="0">
                <a:solidFill>
                  <a:srgbClr val="475569"/>
                </a:solidFill>
                <a:latin typeface="Plus Jakarta Sans Medium"/>
              </a:rPr>
              <a:t>serta empat fasa keselamatan yang mengubahnya.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3647" y="4631294"/>
            <a:ext cx="4097647" cy="495529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533647" y="4631294"/>
            <a:ext cx="47647" cy="4955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62353" y="4754305"/>
            <a:ext cx="1334118" cy="15297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12" b="1" spc="114">
                <a:solidFill>
                  <a:srgbClr val="000000"/>
                </a:solidFill>
                <a:latin typeface="Plus Jakarta Sans ExtraBold"/>
              </a:rPr>
              <a:t>ARSIP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353" y="4908004"/>
            <a:ext cx="4592224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Idea, keputusan, dan perubahan direkod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3647" y="5203059"/>
            <a:ext cx="4097647" cy="495529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533647" y="5203059"/>
            <a:ext cx="47647" cy="4955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62353" y="5326069"/>
            <a:ext cx="1430755" cy="15297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12" b="1" spc="114">
                <a:solidFill>
                  <a:srgbClr val="000000"/>
                </a:solidFill>
                <a:latin typeface="Plus Jakarta Sans ExtraBold"/>
              </a:rPr>
              <a:t>PENGGUNA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353" y="5479769"/>
            <a:ext cx="3668824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Imbasan, analitik, dan intervensi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3647" y="5774824"/>
            <a:ext cx="4097647" cy="495529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533647" y="5774824"/>
            <a:ext cx="47647" cy="4955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2353" y="5897834"/>
            <a:ext cx="1334118" cy="15297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12" b="1" spc="114">
                <a:solidFill>
                  <a:srgbClr val="000000"/>
                </a:solidFill>
                <a:latin typeface="Plus Jakarta Sans ExtraBold"/>
              </a:rPr>
              <a:t>BUKTI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353" y="6051534"/>
            <a:ext cx="4501694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56 hari, 291 commit, 4 fasa keselamatan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50588" y="1677176"/>
            <a:ext cx="5107765" cy="1200706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5374588" y="1972588"/>
            <a:ext cx="609882" cy="609882"/>
          </a:xfrm>
          <a:prstGeom prst="ellipse">
            <a:avLst/>
          </a:prstGeom>
          <a:solidFill>
            <a:srgbClr val="ECFE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5374588" y="1972588"/>
            <a:ext cx="609882" cy="609882"/>
          </a:xfrm>
          <a:prstGeom prst="ellipse">
            <a:avLst/>
          </a:prstGeom>
          <a:noFill/>
          <a:ln w="14294">
            <a:solidFill>
              <a:srgbClr val="A5F3F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012471" y="2159975"/>
            <a:ext cx="1334118" cy="37942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JetBrains Mono ExtraBold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3176" y="1999433"/>
            <a:ext cx="1480003" cy="3059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425" b="1" spc="-14">
                <a:solidFill>
                  <a:srgbClr val="0F172A"/>
                </a:solidFill>
                <a:latin typeface="Plus Jakarta Sans ExtraBold"/>
              </a:rPr>
              <a:t>Pelayar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3176" y="2301915"/>
            <a:ext cx="3514924" cy="2093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75" b="0">
                <a:solidFill>
                  <a:srgbClr val="475569"/>
                </a:solidFill>
                <a:latin typeface="Plus Jakarta Sans Medium"/>
              </a:rPr>
              <a:t>Lima skrin HTML, satu set kod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50588" y="3030353"/>
            <a:ext cx="5107765" cy="1200706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5374588" y="3325765"/>
            <a:ext cx="609882" cy="609882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5374588" y="3325765"/>
            <a:ext cx="609882" cy="609882"/>
          </a:xfrm>
          <a:prstGeom prst="ellipse">
            <a:avLst/>
          </a:prstGeom>
          <a:noFill/>
          <a:ln w="14294">
            <a:solidFill>
              <a:srgbClr val="DDD6F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5012471" y="3513151"/>
            <a:ext cx="1334118" cy="37942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JetBrains Mono ExtraBold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3176" y="3352609"/>
            <a:ext cx="1334118" cy="3059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425" b="1" spc="-14">
                <a:solidFill>
                  <a:srgbClr val="0F172A"/>
                </a:solidFill>
                <a:latin typeface="Plus Jakarta Sans ExtraBold"/>
              </a:rPr>
              <a:t>Proksi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3176" y="3655092"/>
            <a:ext cx="4700859" cy="2093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75" b="0">
                <a:solidFill>
                  <a:srgbClr val="475569"/>
                </a:solidFill>
                <a:latin typeface="Plus Jakarta Sans Medium"/>
              </a:rPr>
              <a:t>Menyembunyikan kunci, tiga aras akses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50588" y="4383529"/>
            <a:ext cx="5107765" cy="1200706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5374588" y="4678941"/>
            <a:ext cx="609882" cy="609882"/>
          </a:xfrm>
          <a:prstGeom prst="ellipse">
            <a:avLst/>
          </a:prstGeom>
          <a:solidFill>
            <a:srgbClr val="FFFBE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5374588" y="4678941"/>
            <a:ext cx="609882" cy="609882"/>
          </a:xfrm>
          <a:prstGeom prst="ellipse">
            <a:avLst/>
          </a:prstGeom>
          <a:noFill/>
          <a:ln w="14294">
            <a:solidFill>
              <a:srgbClr val="FDE68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012471" y="4866328"/>
            <a:ext cx="1334118" cy="37942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JetBrains Mono ExtraBold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3176" y="4705786"/>
            <a:ext cx="1343123" cy="3059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425" b="1" spc="-14">
                <a:solidFill>
                  <a:srgbClr val="0F172A"/>
                </a:solidFill>
                <a:latin typeface="Plus Jakarta Sans ExtraBold"/>
              </a:rPr>
              <a:t>Storan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3176" y="5008268"/>
            <a:ext cx="4130524" cy="2093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75" b="0">
                <a:solidFill>
                  <a:srgbClr val="475569"/>
                </a:solidFill>
                <a:latin typeface="Plus Jakarta Sans Medium"/>
              </a:rPr>
              <a:t>Lima tab dalam satu Google Sheet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33647" y="6441882"/>
            <a:ext cx="9624706" cy="724235"/>
          </a:xfrm>
          <a:prstGeom prst="roundRect">
            <a:avLst>
              <a:gd name="adj" fmla="val 23684"/>
            </a:avLst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38588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22D3EE"/>
                </a:solidFill>
                <a:latin typeface="JetBrains Mono ExtraBold"/>
              </a:rPr>
              <a:t>291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8588" y="6846215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COMMIT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24518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67E8F9"/>
                </a:solidFill>
                <a:latin typeface="JetBrains Mono ExtraBold"/>
              </a:rPr>
              <a:t>56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24518" y="6846215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HARI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10447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A5B4FC"/>
                </a:solidFill>
                <a:latin typeface="JetBrains Mono ExtraBold"/>
              </a:rP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10447" y="6846215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SKRIN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96376" y="6515974"/>
            <a:ext cx="1586647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FCD34D"/>
                </a:solidFill>
                <a:latin typeface="JetBrains Mono ExtraBold"/>
              </a:rPr>
              <a:t>10.5k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96376" y="6846215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BARIS KOD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82306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86EFAC"/>
                </a:solidFill>
                <a:latin typeface="JetBrains Mono ExtraBold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82306" y="6846215"/>
            <a:ext cx="2061926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FASA KESELAMATAN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63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-1715294" y="-1524706"/>
            <a:ext cx="6289412" cy="4764706"/>
          </a:xfrm>
          <a:prstGeom prst="ellipse">
            <a:avLst/>
          </a:prstGeom>
          <a:gradFill flip="none" rotWithShape="1">
            <a:gsLst>
              <a:gs pos="0">
                <a:srgbClr val="06B6D4">
                  <a:alpha val="16000"/>
                </a:srgbClr>
              </a:gs>
              <a:gs pos="10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6194118" y="4574118"/>
            <a:ext cx="6861176" cy="4955294"/>
          </a:xfrm>
          <a:prstGeom prst="ellipse">
            <a:avLst/>
          </a:prstGeom>
          <a:gradFill flip="none" rotWithShape="1">
            <a:gsLst>
              <a:gs pos="0">
                <a:srgbClr val="8B5CF6">
                  <a:alpha val="14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0692000" cy="66706"/>
          </a:xfrm>
          <a:prstGeom prst="rect">
            <a:avLst/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33647" y="362118"/>
            <a:ext cx="590824" cy="590824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28941" y="457412"/>
            <a:ext cx="400235" cy="400235"/>
          </a:xfrm>
          <a:prstGeom prst="roundRect">
            <a:avLst>
              <a:gd name="adj" fmla="val 2619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Freeform 7"/>
          <p:cNvSpPr/>
          <p:nvPr/>
        </p:nvSpPr>
        <p:spPr>
          <a:xfrm>
            <a:off x="676588" y="543176"/>
            <a:ext cx="181059" cy="171530"/>
          </a:xfrm>
          <a:custGeom>
            <a:avLst/>
            <a:gdLst/>
            <a:ahLst/>
            <a:cxnLst/>
            <a:rect l="l" t="t" r="r" b="b"/>
            <a:pathLst>
              <a:path w="181059" h="171530">
                <a:moveTo>
                  <a:pt x="28588" y="9530"/>
                </a:moveTo>
                <a:lnTo>
                  <a:pt x="123883" y="9530"/>
                </a:lnTo>
                <a:lnTo>
                  <a:pt x="171530" y="57177"/>
                </a:lnTo>
                <a:lnTo>
                  <a:pt x="171530" y="142942"/>
                </a:lnTo>
                <a:lnTo>
                  <a:pt x="177419" y="141269"/>
                </a:lnTo>
                <a:lnTo>
                  <a:pt x="178982" y="143819"/>
                </a:lnTo>
                <a:lnTo>
                  <a:pt x="180126" y="146582"/>
                </a:lnTo>
                <a:lnTo>
                  <a:pt x="180824" y="149490"/>
                </a:lnTo>
                <a:lnTo>
                  <a:pt x="181059" y="152471"/>
                </a:lnTo>
                <a:lnTo>
                  <a:pt x="180824" y="155453"/>
                </a:lnTo>
                <a:lnTo>
                  <a:pt x="180126" y="158361"/>
                </a:lnTo>
                <a:lnTo>
                  <a:pt x="178982" y="161124"/>
                </a:lnTo>
                <a:lnTo>
                  <a:pt x="177419" y="163674"/>
                </a:lnTo>
                <a:lnTo>
                  <a:pt x="175477" y="165948"/>
                </a:lnTo>
                <a:lnTo>
                  <a:pt x="173203" y="167890"/>
                </a:lnTo>
                <a:lnTo>
                  <a:pt x="170653" y="169453"/>
                </a:lnTo>
                <a:lnTo>
                  <a:pt x="167890" y="170597"/>
                </a:lnTo>
                <a:lnTo>
                  <a:pt x="164982" y="171295"/>
                </a:lnTo>
                <a:lnTo>
                  <a:pt x="162000" y="171530"/>
                </a:lnTo>
                <a:lnTo>
                  <a:pt x="159019" y="171295"/>
                </a:lnTo>
                <a:lnTo>
                  <a:pt x="156111" y="170597"/>
                </a:lnTo>
                <a:lnTo>
                  <a:pt x="153348" y="169453"/>
                </a:lnTo>
                <a:lnTo>
                  <a:pt x="150798" y="167890"/>
                </a:lnTo>
                <a:lnTo>
                  <a:pt x="148524" y="165948"/>
                </a:lnTo>
                <a:lnTo>
                  <a:pt x="28588" y="162000"/>
                </a:lnTo>
                <a:lnTo>
                  <a:pt x="30262" y="167890"/>
                </a:lnTo>
                <a:lnTo>
                  <a:pt x="27712" y="169453"/>
                </a:lnTo>
                <a:lnTo>
                  <a:pt x="24949" y="170597"/>
                </a:lnTo>
                <a:lnTo>
                  <a:pt x="22041" y="171295"/>
                </a:lnTo>
                <a:lnTo>
                  <a:pt x="19059" y="171530"/>
                </a:lnTo>
                <a:lnTo>
                  <a:pt x="16078" y="171295"/>
                </a:lnTo>
                <a:lnTo>
                  <a:pt x="13170" y="170597"/>
                </a:lnTo>
                <a:lnTo>
                  <a:pt x="10407" y="169453"/>
                </a:lnTo>
                <a:lnTo>
                  <a:pt x="7857" y="167890"/>
                </a:lnTo>
                <a:lnTo>
                  <a:pt x="5582" y="165948"/>
                </a:lnTo>
                <a:lnTo>
                  <a:pt x="3640" y="163674"/>
                </a:lnTo>
                <a:lnTo>
                  <a:pt x="2078" y="161124"/>
                </a:lnTo>
                <a:lnTo>
                  <a:pt x="933" y="158361"/>
                </a:lnTo>
                <a:lnTo>
                  <a:pt x="235" y="155453"/>
                </a:lnTo>
                <a:lnTo>
                  <a:pt x="0" y="152471"/>
                </a:lnTo>
                <a:lnTo>
                  <a:pt x="235" y="149490"/>
                </a:lnTo>
                <a:lnTo>
                  <a:pt x="933" y="146582"/>
                </a:lnTo>
                <a:lnTo>
                  <a:pt x="2078" y="143819"/>
                </a:lnTo>
                <a:lnTo>
                  <a:pt x="3640" y="141269"/>
                </a:lnTo>
                <a:lnTo>
                  <a:pt x="5582" y="138994"/>
                </a:lnTo>
                <a:lnTo>
                  <a:pt x="9530" y="28589"/>
                </a:lnTo>
                <a:lnTo>
                  <a:pt x="3640" y="30262"/>
                </a:lnTo>
                <a:lnTo>
                  <a:pt x="2078" y="27712"/>
                </a:lnTo>
                <a:lnTo>
                  <a:pt x="933" y="24949"/>
                </a:lnTo>
                <a:lnTo>
                  <a:pt x="235" y="22041"/>
                </a:lnTo>
                <a:lnTo>
                  <a:pt x="0" y="19059"/>
                </a:lnTo>
                <a:lnTo>
                  <a:pt x="235" y="16078"/>
                </a:lnTo>
                <a:lnTo>
                  <a:pt x="933" y="13170"/>
                </a:lnTo>
                <a:lnTo>
                  <a:pt x="2078" y="10407"/>
                </a:lnTo>
                <a:lnTo>
                  <a:pt x="3640" y="7857"/>
                </a:lnTo>
                <a:lnTo>
                  <a:pt x="5582" y="5583"/>
                </a:lnTo>
                <a:lnTo>
                  <a:pt x="7857" y="3640"/>
                </a:lnTo>
                <a:lnTo>
                  <a:pt x="10407" y="2078"/>
                </a:lnTo>
                <a:lnTo>
                  <a:pt x="13170" y="933"/>
                </a:lnTo>
                <a:lnTo>
                  <a:pt x="16078" y="235"/>
                </a:lnTo>
                <a:lnTo>
                  <a:pt x="19059" y="0"/>
                </a:lnTo>
                <a:lnTo>
                  <a:pt x="22041" y="235"/>
                </a:lnTo>
                <a:lnTo>
                  <a:pt x="24949" y="933"/>
                </a:lnTo>
                <a:lnTo>
                  <a:pt x="27712" y="2078"/>
                </a:lnTo>
                <a:lnTo>
                  <a:pt x="30262" y="3640"/>
                </a:lnTo>
                <a:lnTo>
                  <a:pt x="32536" y="5583"/>
                </a:lnTo>
                <a:close/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Freeform 8"/>
          <p:cNvSpPr/>
          <p:nvPr/>
        </p:nvSpPr>
        <p:spPr>
          <a:xfrm>
            <a:off x="800471" y="552706"/>
            <a:ext cx="47647" cy="47647"/>
          </a:xfrm>
          <a:custGeom>
            <a:avLst/>
            <a:gdLst/>
            <a:ahLst/>
            <a:cxnLst/>
            <a:rect l="l" t="t" r="r" b="b"/>
            <a:pathLst>
              <a:path w="47647" h="47647">
                <a:moveTo>
                  <a:pt x="0" y="0"/>
                </a:moveTo>
                <a:lnTo>
                  <a:pt x="0" y="47647"/>
                </a:lnTo>
                <a:lnTo>
                  <a:pt x="47647" y="47647"/>
                </a:lnTo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Freeform 9"/>
          <p:cNvSpPr/>
          <p:nvPr/>
        </p:nvSpPr>
        <p:spPr>
          <a:xfrm>
            <a:off x="724235" y="657529"/>
            <a:ext cx="76236" cy="47647"/>
          </a:xfrm>
          <a:custGeom>
            <a:avLst/>
            <a:gdLst/>
            <a:ahLst/>
            <a:cxnLst/>
            <a:rect l="l" t="t" r="r" b="b"/>
            <a:pathLst>
              <a:path w="76236" h="47647">
                <a:moveTo>
                  <a:pt x="0" y="0"/>
                </a:moveTo>
                <a:lnTo>
                  <a:pt x="76236" y="0"/>
                </a:lnTo>
                <a:lnTo>
                  <a:pt x="0" y="47647"/>
                </a:lnTo>
                <a:lnTo>
                  <a:pt x="57177" y="47647"/>
                </a:lnTo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257882" y="362832"/>
            <a:ext cx="1908026" cy="40257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1" spc="-19">
                <a:solidFill>
                  <a:srgbClr val="0F172A"/>
                </a:solidFill>
                <a:latin typeface="Plus Jakarta Sans ExtraBold"/>
              </a:rPr>
              <a:t>Q-TIBA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7882" y="676946"/>
            <a:ext cx="6126697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64748B"/>
                </a:solidFill>
                <a:latin typeface="Plus Jakarta Sans SemiBold"/>
              </a:rPr>
              <a:t>Dokumentasi Aliran Pembuatan &amp;#183; SK Pulau Indah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4235" y="461633"/>
            <a:ext cx="1334118" cy="2055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75" b="0">
                <a:solidFill>
                  <a:srgbClr val="0891B2"/>
                </a:solidFill>
                <a:latin typeface="JetBrains Mono Extra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4235" y="667006"/>
            <a:ext cx="1334118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62" b="0">
                <a:solidFill>
                  <a:srgbClr val="64748B"/>
                </a:solidFill>
                <a:latin typeface="Plus Jakarta Sans SemiBold"/>
              </a:rPr>
              <a:t>Ringkasan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3647" y="1162588"/>
            <a:ext cx="9624706" cy="0"/>
          </a:xfrm>
          <a:prstGeom prst="line">
            <a:avLst/>
          </a:prstGeom>
          <a:ln w="14294">
            <a:solidFill>
              <a:srgbClr val="E2E8F0"/>
            </a:solidFill>
          </a:ln>
        </p:spPr>
      </p:cxnSp>
      <p:sp>
        <p:nvSpPr>
          <p:cNvPr id="16" name="Rounded Rectangle 15"/>
          <p:cNvSpPr/>
          <p:nvPr/>
        </p:nvSpPr>
        <p:spPr>
          <a:xfrm>
            <a:off x="533647" y="1486588"/>
            <a:ext cx="1429412" cy="285882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 w="14294">
            <a:solidFill>
              <a:srgbClr val="A5F3F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5203" y="1568794"/>
            <a:ext cx="1626299" cy="16907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87" b="1" spc="126">
                <a:solidFill>
                  <a:srgbClr val="0891B2"/>
                </a:solidFill>
                <a:latin typeface="Plus Jakarta Sans ExtraBold"/>
              </a:rPr>
              <a:t>RINGKASAN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647" y="1709348"/>
            <a:ext cx="9773403" cy="51529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401" b="1" spc="-48">
                <a:solidFill>
                  <a:srgbClr val="0F172A"/>
                </a:solidFill>
                <a:latin typeface="Plus Jakarta Sans ExtraBold"/>
              </a:rPr>
              <a:t>Enam angka yang meringkas projek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3647" y="2572941"/>
            <a:ext cx="3030353" cy="171529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533647" y="2572941"/>
            <a:ext cx="3030353" cy="3811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316607" y="3165842"/>
            <a:ext cx="1464432" cy="6007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2851" b="0">
                <a:solidFill>
                  <a:srgbClr val="0891B2"/>
                </a:solidFill>
                <a:latin typeface="JetBrains Mono ExtraBold"/>
              </a:rPr>
              <a:t>291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1765" y="3658832"/>
            <a:ext cx="1334118" cy="16907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87" b="0">
                <a:solidFill>
                  <a:srgbClr val="64748B"/>
                </a:solidFill>
                <a:latin typeface="Plus Jakarta Sans SemiBold"/>
              </a:rPr>
              <a:t>COMMIT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5519" y="3825802"/>
            <a:ext cx="3546609" cy="17713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825" b="0">
                <a:solidFill>
                  <a:srgbClr val="64748B"/>
                </a:solidFill>
                <a:latin typeface="Plus Jakarta Sans Medium"/>
              </a:rPr>
              <a:t>3 Ogos hingga 27 September 2026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30824" y="2572941"/>
            <a:ext cx="3030353" cy="171529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3830824" y="2572941"/>
            <a:ext cx="3030353" cy="3811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678941" y="3165842"/>
            <a:ext cx="1334118" cy="6007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2851" b="0">
                <a:solidFill>
                  <a:srgbClr val="7C3AED"/>
                </a:solidFill>
                <a:latin typeface="JetBrains Mono ExtraBold"/>
              </a:rPr>
              <a:t>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44876" y="3658832"/>
            <a:ext cx="2202247" cy="16907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87" b="0">
                <a:solidFill>
                  <a:srgbClr val="64748B"/>
                </a:solidFill>
                <a:latin typeface="Plus Jakarta Sans SemiBold"/>
              </a:rPr>
              <a:t>HARI PEMBANGUNAN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6979" y="3825802"/>
            <a:ext cx="2338041" cy="17713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825" b="0">
                <a:solidFill>
                  <a:srgbClr val="64748B"/>
                </a:solidFill>
                <a:latin typeface="Plus Jakarta Sans Medium"/>
              </a:rPr>
              <a:t>kira-kira lapan minggu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28000" y="2572941"/>
            <a:ext cx="3030353" cy="171529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7128000" y="2572941"/>
            <a:ext cx="3030353" cy="3811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293097" y="3165842"/>
            <a:ext cx="2700159" cy="6007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2851" b="0">
                <a:solidFill>
                  <a:srgbClr val="0369A1"/>
                </a:solidFill>
                <a:latin typeface="JetBrains Mono ExtraBold"/>
              </a:rPr>
              <a:t>10,511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6118" y="3658832"/>
            <a:ext cx="1334118" cy="16907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87" b="0">
                <a:solidFill>
                  <a:srgbClr val="64748B"/>
                </a:solidFill>
                <a:latin typeface="Plus Jakarta Sans SemiBold"/>
              </a:rPr>
              <a:t>BARIS KOD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75826" y="3825802"/>
            <a:ext cx="3134700" cy="17713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825" b="0">
                <a:solidFill>
                  <a:srgbClr val="64748B"/>
                </a:solidFill>
                <a:latin typeface="Plus Jakarta Sans Medium"/>
              </a:rPr>
              <a:t>HTML, CSS, JS dan Apps Script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3647" y="4478824"/>
            <a:ext cx="3030353" cy="171529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533647" y="4478824"/>
            <a:ext cx="3030353" cy="3811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381765" y="5071724"/>
            <a:ext cx="1334118" cy="6007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2851" b="0">
                <a:solidFill>
                  <a:srgbClr val="047857"/>
                </a:solidFill>
                <a:latin typeface="JetBrains Mono ExtraBold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21551" y="5564714"/>
            <a:ext cx="1654544" cy="16907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87" b="0">
                <a:solidFill>
                  <a:srgbClr val="64748B"/>
                </a:solidFill>
                <a:latin typeface="Plus Jakarta Sans SemiBold"/>
              </a:rPr>
              <a:t>SKRIN APLIKASI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1731" y="5731684"/>
            <a:ext cx="3474185" cy="17713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825" b="0">
                <a:solidFill>
                  <a:srgbClr val="64748B"/>
                </a:solidFill>
                <a:latin typeface="Plus Jakarta Sans Medium"/>
              </a:rPr>
              <a:t>admin, guru, ibu bapa, pintu, panel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30824" y="4478824"/>
            <a:ext cx="3030353" cy="171529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3830824" y="4478824"/>
            <a:ext cx="3030353" cy="3811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678941" y="5071724"/>
            <a:ext cx="1334118" cy="6007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2851" b="0">
                <a:solidFill>
                  <a:srgbClr val="B45309"/>
                </a:solidFill>
                <a:latin typeface="JetBrains Mono ExtraBold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81088" y="5564714"/>
            <a:ext cx="2129824" cy="16907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87" b="0">
                <a:solidFill>
                  <a:srgbClr val="64748B"/>
                </a:solidFill>
                <a:latin typeface="Plus Jakarta Sans SemiBold"/>
              </a:rPr>
              <a:t>FASA KESELAMATAN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62982" y="5731684"/>
            <a:ext cx="2166035" cy="17713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825" b="0">
                <a:solidFill>
                  <a:srgbClr val="64748B"/>
                </a:solidFill>
                <a:latin typeface="Plus Jakarta Sans Medium"/>
              </a:rPr>
              <a:t>Batch A, B, C dan C4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28000" y="4478824"/>
            <a:ext cx="3030353" cy="171529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7128000" y="4478824"/>
            <a:ext cx="3030353" cy="3811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976118" y="5071724"/>
            <a:ext cx="1334118" cy="6007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2851" b="0">
                <a:solidFill>
                  <a:srgbClr val="BE123C"/>
                </a:solidFill>
                <a:latin typeface="JetBrains Mono ExtraBold"/>
              </a:rP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8697" y="5564714"/>
            <a:ext cx="1468959" cy="16907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87" b="0">
                <a:solidFill>
                  <a:srgbClr val="64748B"/>
                </a:solidFill>
                <a:latin typeface="Plus Jakarta Sans SemiBold"/>
              </a:rPr>
              <a:t>FRAMEWORK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79100" y="5731684"/>
            <a:ext cx="2528153" cy="17713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825" b="0">
                <a:solidFill>
                  <a:srgbClr val="64748B"/>
                </a:solidFill>
                <a:latin typeface="Plus Jakarta Sans Medium"/>
              </a:rPr>
              <a:t>tiada langkah build perlu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3647" y="6441882"/>
            <a:ext cx="9624706" cy="724235"/>
          </a:xfrm>
          <a:prstGeom prst="roundRect">
            <a:avLst>
              <a:gd name="adj" fmla="val 23684"/>
            </a:avLst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38588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22D3EE"/>
                </a:solidFill>
                <a:latin typeface="JetBrains Mono ExtraBold"/>
              </a:rPr>
              <a:t>291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588" y="6846215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COMMIT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24518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67E8F9"/>
                </a:solidFill>
                <a:latin typeface="JetBrains Mono ExtraBold"/>
              </a:rPr>
              <a:t>56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24518" y="6846215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HARI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10447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A5B4FC"/>
                </a:solidFill>
                <a:latin typeface="JetBrains Mono ExtraBold"/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10447" y="6846215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SKRIN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96376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FCD34D"/>
                </a:solidFill>
                <a:latin typeface="JetBrains Mono ExtraBold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96376" y="6846215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FASA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82306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86EFAC"/>
                </a:solidFill>
                <a:latin typeface="JetBrains Mono ExtraBold"/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82306" y="6846215"/>
            <a:ext cx="1423694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FRAMEWORK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63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-1715294" y="-1524706"/>
            <a:ext cx="6289412" cy="4764706"/>
          </a:xfrm>
          <a:prstGeom prst="ellipse">
            <a:avLst/>
          </a:prstGeom>
          <a:gradFill flip="none" rotWithShape="1">
            <a:gsLst>
              <a:gs pos="0">
                <a:srgbClr val="06B6D4">
                  <a:alpha val="16000"/>
                </a:srgbClr>
              </a:gs>
              <a:gs pos="10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6194118" y="4574118"/>
            <a:ext cx="6861176" cy="4955294"/>
          </a:xfrm>
          <a:prstGeom prst="ellipse">
            <a:avLst/>
          </a:prstGeom>
          <a:gradFill flip="none" rotWithShape="1">
            <a:gsLst>
              <a:gs pos="0">
                <a:srgbClr val="8B5CF6">
                  <a:alpha val="14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0692000" cy="66706"/>
          </a:xfrm>
          <a:prstGeom prst="rect">
            <a:avLst/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33647" y="362118"/>
            <a:ext cx="590824" cy="590824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28941" y="457412"/>
            <a:ext cx="400235" cy="400235"/>
          </a:xfrm>
          <a:prstGeom prst="roundRect">
            <a:avLst>
              <a:gd name="adj" fmla="val 2619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Freeform 7"/>
          <p:cNvSpPr/>
          <p:nvPr/>
        </p:nvSpPr>
        <p:spPr>
          <a:xfrm>
            <a:off x="676588" y="543176"/>
            <a:ext cx="181059" cy="171530"/>
          </a:xfrm>
          <a:custGeom>
            <a:avLst/>
            <a:gdLst/>
            <a:ahLst/>
            <a:cxnLst/>
            <a:rect l="l" t="t" r="r" b="b"/>
            <a:pathLst>
              <a:path w="181059" h="171530">
                <a:moveTo>
                  <a:pt x="28588" y="9530"/>
                </a:moveTo>
                <a:lnTo>
                  <a:pt x="123883" y="9530"/>
                </a:lnTo>
                <a:lnTo>
                  <a:pt x="171530" y="57177"/>
                </a:lnTo>
                <a:lnTo>
                  <a:pt x="171530" y="142942"/>
                </a:lnTo>
                <a:lnTo>
                  <a:pt x="177419" y="141269"/>
                </a:lnTo>
                <a:lnTo>
                  <a:pt x="178982" y="143819"/>
                </a:lnTo>
                <a:lnTo>
                  <a:pt x="180126" y="146582"/>
                </a:lnTo>
                <a:lnTo>
                  <a:pt x="180824" y="149490"/>
                </a:lnTo>
                <a:lnTo>
                  <a:pt x="181059" y="152471"/>
                </a:lnTo>
                <a:lnTo>
                  <a:pt x="180824" y="155453"/>
                </a:lnTo>
                <a:lnTo>
                  <a:pt x="180126" y="158361"/>
                </a:lnTo>
                <a:lnTo>
                  <a:pt x="178982" y="161124"/>
                </a:lnTo>
                <a:lnTo>
                  <a:pt x="177419" y="163674"/>
                </a:lnTo>
                <a:lnTo>
                  <a:pt x="175477" y="165948"/>
                </a:lnTo>
                <a:lnTo>
                  <a:pt x="173203" y="167890"/>
                </a:lnTo>
                <a:lnTo>
                  <a:pt x="170653" y="169453"/>
                </a:lnTo>
                <a:lnTo>
                  <a:pt x="167890" y="170597"/>
                </a:lnTo>
                <a:lnTo>
                  <a:pt x="164982" y="171295"/>
                </a:lnTo>
                <a:lnTo>
                  <a:pt x="162000" y="171530"/>
                </a:lnTo>
                <a:lnTo>
                  <a:pt x="159019" y="171295"/>
                </a:lnTo>
                <a:lnTo>
                  <a:pt x="156111" y="170597"/>
                </a:lnTo>
                <a:lnTo>
                  <a:pt x="153348" y="169453"/>
                </a:lnTo>
                <a:lnTo>
                  <a:pt x="150798" y="167890"/>
                </a:lnTo>
                <a:lnTo>
                  <a:pt x="148524" y="165948"/>
                </a:lnTo>
                <a:lnTo>
                  <a:pt x="28588" y="162000"/>
                </a:lnTo>
                <a:lnTo>
                  <a:pt x="30262" y="167890"/>
                </a:lnTo>
                <a:lnTo>
                  <a:pt x="27712" y="169453"/>
                </a:lnTo>
                <a:lnTo>
                  <a:pt x="24949" y="170597"/>
                </a:lnTo>
                <a:lnTo>
                  <a:pt x="22041" y="171295"/>
                </a:lnTo>
                <a:lnTo>
                  <a:pt x="19059" y="171530"/>
                </a:lnTo>
                <a:lnTo>
                  <a:pt x="16078" y="171295"/>
                </a:lnTo>
                <a:lnTo>
                  <a:pt x="13170" y="170597"/>
                </a:lnTo>
                <a:lnTo>
                  <a:pt x="10407" y="169453"/>
                </a:lnTo>
                <a:lnTo>
                  <a:pt x="7857" y="167890"/>
                </a:lnTo>
                <a:lnTo>
                  <a:pt x="5582" y="165948"/>
                </a:lnTo>
                <a:lnTo>
                  <a:pt x="3640" y="163674"/>
                </a:lnTo>
                <a:lnTo>
                  <a:pt x="2078" y="161124"/>
                </a:lnTo>
                <a:lnTo>
                  <a:pt x="933" y="158361"/>
                </a:lnTo>
                <a:lnTo>
                  <a:pt x="235" y="155453"/>
                </a:lnTo>
                <a:lnTo>
                  <a:pt x="0" y="152471"/>
                </a:lnTo>
                <a:lnTo>
                  <a:pt x="235" y="149490"/>
                </a:lnTo>
                <a:lnTo>
                  <a:pt x="933" y="146582"/>
                </a:lnTo>
                <a:lnTo>
                  <a:pt x="2078" y="143819"/>
                </a:lnTo>
                <a:lnTo>
                  <a:pt x="3640" y="141269"/>
                </a:lnTo>
                <a:lnTo>
                  <a:pt x="5582" y="138994"/>
                </a:lnTo>
                <a:lnTo>
                  <a:pt x="9530" y="28589"/>
                </a:lnTo>
                <a:lnTo>
                  <a:pt x="3640" y="30262"/>
                </a:lnTo>
                <a:lnTo>
                  <a:pt x="2078" y="27712"/>
                </a:lnTo>
                <a:lnTo>
                  <a:pt x="933" y="24949"/>
                </a:lnTo>
                <a:lnTo>
                  <a:pt x="235" y="22041"/>
                </a:lnTo>
                <a:lnTo>
                  <a:pt x="0" y="19059"/>
                </a:lnTo>
                <a:lnTo>
                  <a:pt x="235" y="16078"/>
                </a:lnTo>
                <a:lnTo>
                  <a:pt x="933" y="13170"/>
                </a:lnTo>
                <a:lnTo>
                  <a:pt x="2078" y="10407"/>
                </a:lnTo>
                <a:lnTo>
                  <a:pt x="3640" y="7857"/>
                </a:lnTo>
                <a:lnTo>
                  <a:pt x="5582" y="5583"/>
                </a:lnTo>
                <a:lnTo>
                  <a:pt x="7857" y="3640"/>
                </a:lnTo>
                <a:lnTo>
                  <a:pt x="10407" y="2078"/>
                </a:lnTo>
                <a:lnTo>
                  <a:pt x="13170" y="933"/>
                </a:lnTo>
                <a:lnTo>
                  <a:pt x="16078" y="235"/>
                </a:lnTo>
                <a:lnTo>
                  <a:pt x="19059" y="0"/>
                </a:lnTo>
                <a:lnTo>
                  <a:pt x="22041" y="235"/>
                </a:lnTo>
                <a:lnTo>
                  <a:pt x="24949" y="933"/>
                </a:lnTo>
                <a:lnTo>
                  <a:pt x="27712" y="2078"/>
                </a:lnTo>
                <a:lnTo>
                  <a:pt x="30262" y="3640"/>
                </a:lnTo>
                <a:lnTo>
                  <a:pt x="32536" y="5583"/>
                </a:lnTo>
                <a:close/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Freeform 8"/>
          <p:cNvSpPr/>
          <p:nvPr/>
        </p:nvSpPr>
        <p:spPr>
          <a:xfrm>
            <a:off x="800471" y="552706"/>
            <a:ext cx="47647" cy="47647"/>
          </a:xfrm>
          <a:custGeom>
            <a:avLst/>
            <a:gdLst/>
            <a:ahLst/>
            <a:cxnLst/>
            <a:rect l="l" t="t" r="r" b="b"/>
            <a:pathLst>
              <a:path w="47647" h="47647">
                <a:moveTo>
                  <a:pt x="0" y="0"/>
                </a:moveTo>
                <a:lnTo>
                  <a:pt x="0" y="47647"/>
                </a:lnTo>
                <a:lnTo>
                  <a:pt x="47647" y="47647"/>
                </a:lnTo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Freeform 9"/>
          <p:cNvSpPr/>
          <p:nvPr/>
        </p:nvSpPr>
        <p:spPr>
          <a:xfrm>
            <a:off x="724235" y="657529"/>
            <a:ext cx="76236" cy="47647"/>
          </a:xfrm>
          <a:custGeom>
            <a:avLst/>
            <a:gdLst/>
            <a:ahLst/>
            <a:cxnLst/>
            <a:rect l="l" t="t" r="r" b="b"/>
            <a:pathLst>
              <a:path w="76236" h="47647">
                <a:moveTo>
                  <a:pt x="0" y="0"/>
                </a:moveTo>
                <a:lnTo>
                  <a:pt x="76236" y="0"/>
                </a:lnTo>
                <a:lnTo>
                  <a:pt x="0" y="47647"/>
                </a:lnTo>
                <a:lnTo>
                  <a:pt x="57177" y="47647"/>
                </a:lnTo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257882" y="362832"/>
            <a:ext cx="1908026" cy="40257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1" spc="-19">
                <a:solidFill>
                  <a:srgbClr val="0F172A"/>
                </a:solidFill>
                <a:latin typeface="Plus Jakarta Sans ExtraBold"/>
              </a:rPr>
              <a:t>Q-TIBA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7882" y="676946"/>
            <a:ext cx="6126697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64748B"/>
                </a:solidFill>
                <a:latin typeface="Plus Jakarta Sans SemiBold"/>
              </a:rPr>
              <a:t>Dokumentasi Aliran Pembuatan &amp;#183; SK Pulau Indah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4235" y="461633"/>
            <a:ext cx="1334118" cy="2055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75" b="0">
                <a:solidFill>
                  <a:srgbClr val="0891B2"/>
                </a:solidFill>
                <a:latin typeface="JetBrains Mono ExtraBold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4235" y="667006"/>
            <a:ext cx="1334118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62" b="0">
                <a:solidFill>
                  <a:srgbClr val="64748B"/>
                </a:solidFill>
                <a:latin typeface="Plus Jakarta Sans SemiBold"/>
              </a:rPr>
              <a:t>Masalah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3647" y="1162588"/>
            <a:ext cx="9624706" cy="0"/>
          </a:xfrm>
          <a:prstGeom prst="line">
            <a:avLst/>
          </a:prstGeom>
          <a:ln w="14294">
            <a:solidFill>
              <a:srgbClr val="E2E8F0"/>
            </a:solidFill>
          </a:ln>
        </p:spPr>
      </p:cxnSp>
      <p:sp>
        <p:nvSpPr>
          <p:cNvPr id="16" name="Rounded Rectangle 15"/>
          <p:cNvSpPr/>
          <p:nvPr/>
        </p:nvSpPr>
        <p:spPr>
          <a:xfrm>
            <a:off x="533647" y="1486588"/>
            <a:ext cx="1905882" cy="285882"/>
          </a:xfrm>
          <a:prstGeom prst="roundRect">
            <a:avLst>
              <a:gd name="adj" fmla="val 50000"/>
            </a:avLst>
          </a:prstGeom>
          <a:solidFill>
            <a:srgbClr val="FFF1F2"/>
          </a:solidFill>
          <a:ln w="14294">
            <a:solidFill>
              <a:srgbClr val="FECDD3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2227" y="1568794"/>
            <a:ext cx="2088723" cy="16907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87" b="1" spc="126">
                <a:solidFill>
                  <a:srgbClr val="0891B2"/>
                </a:solidFill>
                <a:latin typeface="Plus Jakarta Sans ExtraBold"/>
              </a:rPr>
              <a:t>MASALAH ASAL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647" y="1709348"/>
            <a:ext cx="8043386" cy="51529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401" b="1" spc="-48">
                <a:solidFill>
                  <a:srgbClr val="0F172A"/>
                </a:solidFill>
                <a:latin typeface="Plus Jakarta Sans ExtraBold"/>
              </a:rPr>
              <a:t>Daripada kertas kepada data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31529" y="4040471"/>
            <a:ext cx="562236" cy="0"/>
          </a:xfrm>
          <a:prstGeom prst="line">
            <a:avLst/>
          </a:prstGeom>
          <a:ln w="23824">
            <a:solidFill>
              <a:srgbClr val="94A3B8"/>
            </a:solidFill>
          </a:ln>
        </p:spPr>
      </p:cxnSp>
      <p:sp>
        <p:nvSpPr>
          <p:cNvPr id="20" name="Freeform 19"/>
          <p:cNvSpPr/>
          <p:nvPr/>
        </p:nvSpPr>
        <p:spPr>
          <a:xfrm>
            <a:off x="5593765" y="3997588"/>
            <a:ext cx="66706" cy="85765"/>
          </a:xfrm>
          <a:custGeom>
            <a:avLst/>
            <a:gdLst/>
            <a:ahLst/>
            <a:cxnLst/>
            <a:rect l="l" t="t" r="r" b="b"/>
            <a:pathLst>
              <a:path w="66706" h="85765">
                <a:moveTo>
                  <a:pt x="0" y="0"/>
                </a:moveTo>
                <a:lnTo>
                  <a:pt x="66706" y="42883"/>
                </a:lnTo>
                <a:lnTo>
                  <a:pt x="0" y="85765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533647" y="2496706"/>
            <a:ext cx="4345412" cy="34305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533647" y="2496706"/>
            <a:ext cx="4345412" cy="38118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00471" y="2743546"/>
            <a:ext cx="1876160" cy="33815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575" b="1" spc="-16">
                <a:solidFill>
                  <a:srgbClr val="0F172A"/>
                </a:solidFill>
                <a:latin typeface="Plus Jakarta Sans ExtraBold"/>
              </a:rPr>
              <a:t>Sebelum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471" y="3054329"/>
            <a:ext cx="3026065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Plus Jakarta Sans SemiBold"/>
              </a:rPr>
              <a:t>Kaedah manual setiap pagi</a:t>
            </a:r>
          </a:p>
        </p:txBody>
      </p:sp>
      <p:sp>
        <p:nvSpPr>
          <p:cNvPr id="25" name="Oval 24"/>
          <p:cNvSpPr/>
          <p:nvPr/>
        </p:nvSpPr>
        <p:spPr>
          <a:xfrm>
            <a:off x="795706" y="3549706"/>
            <a:ext cx="85765" cy="85765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10118" y="3517120"/>
            <a:ext cx="4121471" cy="2173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0">
                <a:solidFill>
                  <a:srgbClr val="475569"/>
                </a:solidFill>
                <a:latin typeface="Plus Jakarta Sans Medium"/>
              </a:rPr>
              <a:t>Guru menyusun kertas kehadiran,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118" y="3707708"/>
            <a:ext cx="3664297" cy="2173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0">
                <a:solidFill>
                  <a:srgbClr val="475569"/>
                </a:solidFill>
                <a:latin typeface="Plus Jakarta Sans Medium"/>
              </a:rPr>
              <a:t>untuk setiap kelas, setiap hari</a:t>
            </a:r>
          </a:p>
        </p:txBody>
      </p:sp>
      <p:sp>
        <p:nvSpPr>
          <p:cNvPr id="28" name="Oval 27"/>
          <p:cNvSpPr/>
          <p:nvPr/>
        </p:nvSpPr>
        <p:spPr>
          <a:xfrm>
            <a:off x="795706" y="4140529"/>
            <a:ext cx="85765" cy="85765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10118" y="4107944"/>
            <a:ext cx="4148629" cy="2173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0">
                <a:solidFill>
                  <a:srgbClr val="475569"/>
                </a:solidFill>
                <a:latin typeface="Plus Jakarta Sans Medium"/>
              </a:rPr>
              <a:t>Semakan berganda: salin, semak,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118" y="4298532"/>
            <a:ext cx="3003432" cy="2173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0">
                <a:solidFill>
                  <a:srgbClr val="475569"/>
                </a:solidFill>
                <a:latin typeface="Plus Jakarta Sans Medium"/>
              </a:rPr>
              <a:t>kemudian susun semula</a:t>
            </a:r>
          </a:p>
        </p:txBody>
      </p:sp>
      <p:sp>
        <p:nvSpPr>
          <p:cNvPr id="31" name="Oval 30"/>
          <p:cNvSpPr/>
          <p:nvPr/>
        </p:nvSpPr>
        <p:spPr>
          <a:xfrm>
            <a:off x="795706" y="4731353"/>
            <a:ext cx="85765" cy="85765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10118" y="4698767"/>
            <a:ext cx="3329338" cy="2173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0">
                <a:solidFill>
                  <a:srgbClr val="475569"/>
                </a:solidFill>
                <a:latin typeface="Plus Jakarta Sans Medium"/>
              </a:rPr>
              <a:t>Ibu bapa bergantung pada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118" y="4889355"/>
            <a:ext cx="2111718" cy="2173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0">
                <a:solidFill>
                  <a:srgbClr val="475569"/>
                </a:solidFill>
                <a:latin typeface="Plus Jakarta Sans Medium"/>
              </a:rPr>
              <a:t>kata guru sahaja</a:t>
            </a:r>
          </a:p>
        </p:txBody>
      </p:sp>
      <p:sp>
        <p:nvSpPr>
          <p:cNvPr id="34" name="Oval 33"/>
          <p:cNvSpPr/>
          <p:nvPr/>
        </p:nvSpPr>
        <p:spPr>
          <a:xfrm>
            <a:off x="795706" y="5322176"/>
            <a:ext cx="85765" cy="85765"/>
          </a:xfrm>
          <a:prstGeom prst="ellipse">
            <a:avLst/>
          </a:prstGeom>
          <a:solidFill>
            <a:srgbClr val="BE123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010118" y="5289591"/>
            <a:ext cx="3311232" cy="2173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0">
                <a:solidFill>
                  <a:srgbClr val="475569"/>
                </a:solidFill>
                <a:latin typeface="Plus Jakarta Sans Medium"/>
              </a:rPr>
              <a:t>Tiada jejak siapa ubah apa,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118" y="5480179"/>
            <a:ext cx="2242985" cy="2173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0">
                <a:solidFill>
                  <a:srgbClr val="475569"/>
                </a:solidFill>
                <a:latin typeface="Plus Jakarta Sans Medium"/>
              </a:rPr>
              <a:t>atau bila dia ubah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12941" y="2496706"/>
            <a:ext cx="4345412" cy="34305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5812941" y="2496706"/>
            <a:ext cx="4345412" cy="3811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079765" y="2743546"/>
            <a:ext cx="1994573" cy="33815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575" b="1" spc="-16">
                <a:solidFill>
                  <a:srgbClr val="0F172A"/>
                </a:solidFill>
                <a:latin typeface="Plus Jakarta Sans ExtraBold"/>
              </a:rPr>
              <a:t>Sekarang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79765" y="3054329"/>
            <a:ext cx="2016662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Plus Jakarta Sans SemiBold"/>
              </a:rPr>
              <a:t>Satu imbasan QR</a:t>
            </a:r>
          </a:p>
        </p:txBody>
      </p:sp>
      <p:sp>
        <p:nvSpPr>
          <p:cNvPr id="41" name="Oval 40"/>
          <p:cNvSpPr/>
          <p:nvPr/>
        </p:nvSpPr>
        <p:spPr>
          <a:xfrm>
            <a:off x="6075000" y="3549706"/>
            <a:ext cx="85765" cy="85765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289412" y="3517120"/>
            <a:ext cx="3202597" cy="2173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0">
                <a:solidFill>
                  <a:srgbClr val="475569"/>
                </a:solidFill>
                <a:latin typeface="Plus Jakarta Sans Medium"/>
              </a:rPr>
              <a:t>Satu imbasan QR menjadi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89412" y="3707708"/>
            <a:ext cx="2265618" cy="2173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0">
                <a:solidFill>
                  <a:srgbClr val="475569"/>
                </a:solidFill>
                <a:latin typeface="Plus Jakarta Sans Medium"/>
              </a:rPr>
              <a:t>satu rekod digital</a:t>
            </a:r>
          </a:p>
        </p:txBody>
      </p:sp>
      <p:sp>
        <p:nvSpPr>
          <p:cNvPr id="44" name="Oval 43"/>
          <p:cNvSpPr/>
          <p:nvPr/>
        </p:nvSpPr>
        <p:spPr>
          <a:xfrm>
            <a:off x="6075000" y="4140529"/>
            <a:ext cx="85765" cy="85765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289412" y="4107944"/>
            <a:ext cx="3265968" cy="2173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0">
                <a:solidFill>
                  <a:srgbClr val="475569"/>
                </a:solidFill>
                <a:latin typeface="Plus Jakarta Sans Medium"/>
              </a:rPr>
              <a:t>Pelayan menolak imbasan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89412" y="4298532"/>
            <a:ext cx="3999256" cy="2173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0">
                <a:solidFill>
                  <a:srgbClr val="475569"/>
                </a:solidFill>
                <a:latin typeface="Plus Jakarta Sans Medium"/>
              </a:rPr>
              <a:t>berulang untuk murid yang sama</a:t>
            </a:r>
          </a:p>
        </p:txBody>
      </p:sp>
      <p:sp>
        <p:nvSpPr>
          <p:cNvPr id="47" name="Oval 46"/>
          <p:cNvSpPr/>
          <p:nvPr/>
        </p:nvSpPr>
        <p:spPr>
          <a:xfrm>
            <a:off x="6075000" y="4731353"/>
            <a:ext cx="85765" cy="85765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289412" y="4698767"/>
            <a:ext cx="3523976" cy="2173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0">
                <a:solidFill>
                  <a:srgbClr val="475569"/>
                </a:solidFill>
                <a:latin typeface="Plus Jakarta Sans Medium"/>
              </a:rPr>
              <a:t>Ibu bapa buka portal sendiri,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89412" y="4889355"/>
            <a:ext cx="2188668" cy="2173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0">
                <a:solidFill>
                  <a:srgbClr val="475569"/>
                </a:solidFill>
                <a:latin typeface="Plus Jakarta Sans Medium"/>
              </a:rPr>
              <a:t>tanpa perlu login</a:t>
            </a:r>
          </a:p>
        </p:txBody>
      </p:sp>
      <p:sp>
        <p:nvSpPr>
          <p:cNvPr id="50" name="Oval 49"/>
          <p:cNvSpPr/>
          <p:nvPr/>
        </p:nvSpPr>
        <p:spPr>
          <a:xfrm>
            <a:off x="6075000" y="5322176"/>
            <a:ext cx="85765" cy="85765"/>
          </a:xfrm>
          <a:prstGeom prst="ellipse">
            <a:avLst/>
          </a:prstGeom>
          <a:solidFill>
            <a:srgbClr val="04785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289412" y="5289591"/>
            <a:ext cx="3573768" cy="2173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0">
                <a:solidFill>
                  <a:srgbClr val="475569"/>
                </a:solidFill>
                <a:latin typeface="Plus Jakarta Sans Medium"/>
              </a:rPr>
              <a:t>Sejarah penuh: masa, punca,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89412" y="5480179"/>
            <a:ext cx="2668474" cy="2173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0">
                <a:solidFill>
                  <a:srgbClr val="475569"/>
                </a:solidFill>
                <a:latin typeface="Plus Jakarta Sans Medium"/>
              </a:rPr>
              <a:t>dan tindakan susulan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33647" y="6441882"/>
            <a:ext cx="9624706" cy="724235"/>
          </a:xfrm>
          <a:prstGeom prst="roundRect">
            <a:avLst>
              <a:gd name="adj" fmla="val 23684"/>
            </a:avLst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38588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22D3EE"/>
                </a:solidFill>
                <a:latin typeface="JetBrains Mono ExtraBold"/>
              </a:rPr>
              <a:t>291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8588" y="6846215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COMMIT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21000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67E8F9"/>
                </a:solidFill>
                <a:latin typeface="JetBrains Mono ExtraBold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21000" y="6846215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SKRIN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03412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A5B4FC"/>
                </a:solidFill>
                <a:latin typeface="JetBrains Mono ExtraBold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03412" y="6846215"/>
            <a:ext cx="163643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GOOGLE SHEET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85824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FCD34D"/>
                </a:solidFill>
                <a:latin typeface="JetBrains Mono ExtraBold"/>
              </a:rP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85824" y="6846215"/>
            <a:ext cx="186728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KUNCI DI PELAYAR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63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-1715294" y="-1524706"/>
            <a:ext cx="6289412" cy="4764706"/>
          </a:xfrm>
          <a:prstGeom prst="ellipse">
            <a:avLst/>
          </a:prstGeom>
          <a:gradFill flip="none" rotWithShape="1">
            <a:gsLst>
              <a:gs pos="0">
                <a:srgbClr val="06B6D4">
                  <a:alpha val="16000"/>
                </a:srgbClr>
              </a:gs>
              <a:gs pos="10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6194118" y="4574118"/>
            <a:ext cx="6861176" cy="4955294"/>
          </a:xfrm>
          <a:prstGeom prst="ellipse">
            <a:avLst/>
          </a:prstGeom>
          <a:gradFill flip="none" rotWithShape="1">
            <a:gsLst>
              <a:gs pos="0">
                <a:srgbClr val="8B5CF6">
                  <a:alpha val="14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0692000" cy="66706"/>
          </a:xfrm>
          <a:prstGeom prst="rect">
            <a:avLst/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33647" y="362118"/>
            <a:ext cx="590824" cy="590824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28941" y="457412"/>
            <a:ext cx="400235" cy="400235"/>
          </a:xfrm>
          <a:prstGeom prst="roundRect">
            <a:avLst>
              <a:gd name="adj" fmla="val 2619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Freeform 7"/>
          <p:cNvSpPr/>
          <p:nvPr/>
        </p:nvSpPr>
        <p:spPr>
          <a:xfrm>
            <a:off x="676588" y="543176"/>
            <a:ext cx="181059" cy="171530"/>
          </a:xfrm>
          <a:custGeom>
            <a:avLst/>
            <a:gdLst/>
            <a:ahLst/>
            <a:cxnLst/>
            <a:rect l="l" t="t" r="r" b="b"/>
            <a:pathLst>
              <a:path w="181059" h="171530">
                <a:moveTo>
                  <a:pt x="28588" y="9530"/>
                </a:moveTo>
                <a:lnTo>
                  <a:pt x="123883" y="9530"/>
                </a:lnTo>
                <a:lnTo>
                  <a:pt x="171530" y="57177"/>
                </a:lnTo>
                <a:lnTo>
                  <a:pt x="171530" y="142942"/>
                </a:lnTo>
                <a:lnTo>
                  <a:pt x="177419" y="141269"/>
                </a:lnTo>
                <a:lnTo>
                  <a:pt x="178982" y="143819"/>
                </a:lnTo>
                <a:lnTo>
                  <a:pt x="180126" y="146582"/>
                </a:lnTo>
                <a:lnTo>
                  <a:pt x="180824" y="149490"/>
                </a:lnTo>
                <a:lnTo>
                  <a:pt x="181059" y="152471"/>
                </a:lnTo>
                <a:lnTo>
                  <a:pt x="180824" y="155453"/>
                </a:lnTo>
                <a:lnTo>
                  <a:pt x="180126" y="158361"/>
                </a:lnTo>
                <a:lnTo>
                  <a:pt x="178982" y="161124"/>
                </a:lnTo>
                <a:lnTo>
                  <a:pt x="177419" y="163674"/>
                </a:lnTo>
                <a:lnTo>
                  <a:pt x="175477" y="165948"/>
                </a:lnTo>
                <a:lnTo>
                  <a:pt x="173203" y="167890"/>
                </a:lnTo>
                <a:lnTo>
                  <a:pt x="170653" y="169453"/>
                </a:lnTo>
                <a:lnTo>
                  <a:pt x="167890" y="170597"/>
                </a:lnTo>
                <a:lnTo>
                  <a:pt x="164982" y="171295"/>
                </a:lnTo>
                <a:lnTo>
                  <a:pt x="162000" y="171530"/>
                </a:lnTo>
                <a:lnTo>
                  <a:pt x="159019" y="171295"/>
                </a:lnTo>
                <a:lnTo>
                  <a:pt x="156111" y="170597"/>
                </a:lnTo>
                <a:lnTo>
                  <a:pt x="153348" y="169453"/>
                </a:lnTo>
                <a:lnTo>
                  <a:pt x="150798" y="167890"/>
                </a:lnTo>
                <a:lnTo>
                  <a:pt x="148524" y="165948"/>
                </a:lnTo>
                <a:lnTo>
                  <a:pt x="28588" y="162000"/>
                </a:lnTo>
                <a:lnTo>
                  <a:pt x="30262" y="167890"/>
                </a:lnTo>
                <a:lnTo>
                  <a:pt x="27712" y="169453"/>
                </a:lnTo>
                <a:lnTo>
                  <a:pt x="24949" y="170597"/>
                </a:lnTo>
                <a:lnTo>
                  <a:pt x="22041" y="171295"/>
                </a:lnTo>
                <a:lnTo>
                  <a:pt x="19059" y="171530"/>
                </a:lnTo>
                <a:lnTo>
                  <a:pt x="16078" y="171295"/>
                </a:lnTo>
                <a:lnTo>
                  <a:pt x="13170" y="170597"/>
                </a:lnTo>
                <a:lnTo>
                  <a:pt x="10407" y="169453"/>
                </a:lnTo>
                <a:lnTo>
                  <a:pt x="7857" y="167890"/>
                </a:lnTo>
                <a:lnTo>
                  <a:pt x="5582" y="165948"/>
                </a:lnTo>
                <a:lnTo>
                  <a:pt x="3640" y="163674"/>
                </a:lnTo>
                <a:lnTo>
                  <a:pt x="2078" y="161124"/>
                </a:lnTo>
                <a:lnTo>
                  <a:pt x="933" y="158361"/>
                </a:lnTo>
                <a:lnTo>
                  <a:pt x="235" y="155453"/>
                </a:lnTo>
                <a:lnTo>
                  <a:pt x="0" y="152471"/>
                </a:lnTo>
                <a:lnTo>
                  <a:pt x="235" y="149490"/>
                </a:lnTo>
                <a:lnTo>
                  <a:pt x="933" y="146582"/>
                </a:lnTo>
                <a:lnTo>
                  <a:pt x="2078" y="143819"/>
                </a:lnTo>
                <a:lnTo>
                  <a:pt x="3640" y="141269"/>
                </a:lnTo>
                <a:lnTo>
                  <a:pt x="5582" y="138994"/>
                </a:lnTo>
                <a:lnTo>
                  <a:pt x="9530" y="28589"/>
                </a:lnTo>
                <a:lnTo>
                  <a:pt x="3640" y="30262"/>
                </a:lnTo>
                <a:lnTo>
                  <a:pt x="2078" y="27712"/>
                </a:lnTo>
                <a:lnTo>
                  <a:pt x="933" y="24949"/>
                </a:lnTo>
                <a:lnTo>
                  <a:pt x="235" y="22041"/>
                </a:lnTo>
                <a:lnTo>
                  <a:pt x="0" y="19059"/>
                </a:lnTo>
                <a:lnTo>
                  <a:pt x="235" y="16078"/>
                </a:lnTo>
                <a:lnTo>
                  <a:pt x="933" y="13170"/>
                </a:lnTo>
                <a:lnTo>
                  <a:pt x="2078" y="10407"/>
                </a:lnTo>
                <a:lnTo>
                  <a:pt x="3640" y="7857"/>
                </a:lnTo>
                <a:lnTo>
                  <a:pt x="5582" y="5583"/>
                </a:lnTo>
                <a:lnTo>
                  <a:pt x="7857" y="3640"/>
                </a:lnTo>
                <a:lnTo>
                  <a:pt x="10407" y="2078"/>
                </a:lnTo>
                <a:lnTo>
                  <a:pt x="13170" y="933"/>
                </a:lnTo>
                <a:lnTo>
                  <a:pt x="16078" y="235"/>
                </a:lnTo>
                <a:lnTo>
                  <a:pt x="19059" y="0"/>
                </a:lnTo>
                <a:lnTo>
                  <a:pt x="22041" y="235"/>
                </a:lnTo>
                <a:lnTo>
                  <a:pt x="24949" y="933"/>
                </a:lnTo>
                <a:lnTo>
                  <a:pt x="27712" y="2078"/>
                </a:lnTo>
                <a:lnTo>
                  <a:pt x="30262" y="3640"/>
                </a:lnTo>
                <a:lnTo>
                  <a:pt x="32536" y="5583"/>
                </a:lnTo>
                <a:close/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Freeform 8"/>
          <p:cNvSpPr/>
          <p:nvPr/>
        </p:nvSpPr>
        <p:spPr>
          <a:xfrm>
            <a:off x="800471" y="552706"/>
            <a:ext cx="47647" cy="47647"/>
          </a:xfrm>
          <a:custGeom>
            <a:avLst/>
            <a:gdLst/>
            <a:ahLst/>
            <a:cxnLst/>
            <a:rect l="l" t="t" r="r" b="b"/>
            <a:pathLst>
              <a:path w="47647" h="47647">
                <a:moveTo>
                  <a:pt x="0" y="0"/>
                </a:moveTo>
                <a:lnTo>
                  <a:pt x="0" y="47647"/>
                </a:lnTo>
                <a:lnTo>
                  <a:pt x="47647" y="47647"/>
                </a:lnTo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Freeform 9"/>
          <p:cNvSpPr/>
          <p:nvPr/>
        </p:nvSpPr>
        <p:spPr>
          <a:xfrm>
            <a:off x="724235" y="657529"/>
            <a:ext cx="76236" cy="47647"/>
          </a:xfrm>
          <a:custGeom>
            <a:avLst/>
            <a:gdLst/>
            <a:ahLst/>
            <a:cxnLst/>
            <a:rect l="l" t="t" r="r" b="b"/>
            <a:pathLst>
              <a:path w="76236" h="47647">
                <a:moveTo>
                  <a:pt x="0" y="0"/>
                </a:moveTo>
                <a:lnTo>
                  <a:pt x="76236" y="0"/>
                </a:lnTo>
                <a:lnTo>
                  <a:pt x="0" y="47647"/>
                </a:lnTo>
                <a:lnTo>
                  <a:pt x="57177" y="47647"/>
                </a:lnTo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257882" y="362832"/>
            <a:ext cx="1908026" cy="40257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1" spc="-19">
                <a:solidFill>
                  <a:srgbClr val="0F172A"/>
                </a:solidFill>
                <a:latin typeface="Plus Jakarta Sans ExtraBold"/>
              </a:rPr>
              <a:t>Q-TIBA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7882" y="676946"/>
            <a:ext cx="6126697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64748B"/>
                </a:solidFill>
                <a:latin typeface="Plus Jakarta Sans SemiBold"/>
              </a:rPr>
              <a:t>Dokumentasi Aliran Pembuatan &amp;#183; SK Pulau Indah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4235" y="461633"/>
            <a:ext cx="1334118" cy="2055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75" b="0">
                <a:solidFill>
                  <a:srgbClr val="0891B2"/>
                </a:solidFill>
                <a:latin typeface="JetBrains Mono ExtraBold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4235" y="667006"/>
            <a:ext cx="1334118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62" b="0">
                <a:solidFill>
                  <a:srgbClr val="64748B"/>
                </a:solidFill>
                <a:latin typeface="Plus Jakarta Sans SemiBold"/>
              </a:rPr>
              <a:t>Prinsip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3647" y="1162588"/>
            <a:ext cx="9624706" cy="0"/>
          </a:xfrm>
          <a:prstGeom prst="line">
            <a:avLst/>
          </a:prstGeom>
          <a:ln w="14294">
            <a:solidFill>
              <a:srgbClr val="E2E8F0"/>
            </a:solidFill>
          </a:ln>
        </p:spPr>
      </p:cxnSp>
      <p:sp>
        <p:nvSpPr>
          <p:cNvPr id="16" name="Rounded Rectangle 15"/>
          <p:cNvSpPr/>
          <p:nvPr/>
        </p:nvSpPr>
        <p:spPr>
          <a:xfrm>
            <a:off x="533647" y="1486588"/>
            <a:ext cx="1810588" cy="285882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 w="14294">
            <a:solidFill>
              <a:srgbClr val="A5F3F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213" y="1568794"/>
            <a:ext cx="2867457" cy="16907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87" b="1" spc="126">
                <a:solidFill>
                  <a:srgbClr val="0891B2"/>
                </a:solidFill>
                <a:latin typeface="Plus Jakarta Sans ExtraBold"/>
              </a:rPr>
              <a:t>PRINSIP REKA BENTUK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647" y="1709348"/>
            <a:ext cx="6463285" cy="51529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401" b="1" spc="-48">
                <a:solidFill>
                  <a:srgbClr val="0F172A"/>
                </a:solidFill>
                <a:latin typeface="Plus Jakarta Sans ExtraBold"/>
              </a:rPr>
              <a:t>Empat keputusan yang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647" y="2071465"/>
            <a:ext cx="8064026" cy="51529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401" b="1" spc="-48">
                <a:solidFill>
                  <a:srgbClr val="0F172A"/>
                </a:solidFill>
                <a:latin typeface="Plus Jakarta Sans ExtraBold"/>
              </a:rPr>
              <a:t>menentukan semua yang lain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3647" y="2858824"/>
            <a:ext cx="2234647" cy="3240000"/>
          </a:xfrm>
          <a:prstGeom prst="roundRect">
            <a:avLst>
              <a:gd name="adj" fmla="val 7675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686118" y="3068471"/>
            <a:ext cx="495529" cy="495529"/>
          </a:xfrm>
          <a:prstGeom prst="ellipse">
            <a:avLst/>
          </a:prstGeom>
          <a:solidFill>
            <a:srgbClr val="ECFE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86118" y="3068471"/>
            <a:ext cx="495529" cy="495529"/>
          </a:xfrm>
          <a:prstGeom prst="ellipse">
            <a:avLst/>
          </a:prstGeom>
          <a:noFill/>
          <a:ln w="14294">
            <a:solidFill>
              <a:srgbClr val="A5F3F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66824" y="3221980"/>
            <a:ext cx="1334118" cy="30037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425" b="0">
                <a:solidFill>
                  <a:srgbClr val="000000"/>
                </a:solidFill>
                <a:latin typeface="JetBrains Mono ExtraBold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353" y="3708528"/>
            <a:ext cx="2511496" cy="2495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63" b="1" spc="-12">
                <a:solidFill>
                  <a:srgbClr val="0F172A"/>
                </a:solidFill>
                <a:latin typeface="Plus Jakarta Sans ExtraBold"/>
              </a:rPr>
              <a:t>Tiada framework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353" y="4231416"/>
            <a:ext cx="3686929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HTML, CSS dan JavaScript tulen.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353" y="4441063"/>
            <a:ext cx="3415341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Tiada pustaka wajib dan tiada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353" y="4650710"/>
            <a:ext cx="3234282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langkah build, jadi fail boleh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353" y="4860357"/>
            <a:ext cx="3012485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dibuka terus dari pelayan.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97000" y="2858824"/>
            <a:ext cx="2234647" cy="3240000"/>
          </a:xfrm>
          <a:prstGeom prst="roundRect">
            <a:avLst>
              <a:gd name="adj" fmla="val 7675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3149471" y="3068471"/>
            <a:ext cx="495529" cy="495529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3149471" y="3068471"/>
            <a:ext cx="495529" cy="495529"/>
          </a:xfrm>
          <a:prstGeom prst="ellipse">
            <a:avLst/>
          </a:prstGeom>
          <a:noFill/>
          <a:ln w="14294">
            <a:solidFill>
              <a:srgbClr val="DDD6F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730176" y="3221980"/>
            <a:ext cx="1334118" cy="30037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425" b="0">
                <a:solidFill>
                  <a:srgbClr val="000000"/>
                </a:solidFill>
                <a:latin typeface="JetBrains Mono ExtraBold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25706" y="3708528"/>
            <a:ext cx="2411913" cy="2495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63" b="1" spc="-12">
                <a:solidFill>
                  <a:srgbClr val="0F172A"/>
                </a:solidFill>
                <a:latin typeface="Plus Jakarta Sans ExtraBold"/>
              </a:rPr>
              <a:t>Tiada pangkalan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25706" y="3918175"/>
            <a:ext cx="1839224" cy="2495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63" b="1" spc="-12">
                <a:solidFill>
                  <a:srgbClr val="0F172A"/>
                </a:solidFill>
                <a:latin typeface="Plus Jakarta Sans ExtraBold"/>
              </a:rPr>
              <a:t>data baharu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25706" y="4231416"/>
            <a:ext cx="3686929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Google Sheet sedia ada sekolah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25706" y="4441063"/>
            <a:ext cx="3741247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digunakan terus sebagai sumber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25706" y="4650710"/>
            <a:ext cx="3659771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kebenaran. Data tersedia serta-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25706" y="4860357"/>
            <a:ext cx="3392709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merta, tiada import berulang.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60353" y="2858824"/>
            <a:ext cx="2234647" cy="3240000"/>
          </a:xfrm>
          <a:prstGeom prst="roundRect">
            <a:avLst>
              <a:gd name="adj" fmla="val 7675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5612824" y="3068471"/>
            <a:ext cx="495529" cy="495529"/>
          </a:xfrm>
          <a:prstGeom prst="ellipse">
            <a:avLst/>
          </a:prstGeom>
          <a:solidFill>
            <a:srgbClr val="FFFBE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5612824" y="3068471"/>
            <a:ext cx="495529" cy="495529"/>
          </a:xfrm>
          <a:prstGeom prst="ellipse">
            <a:avLst/>
          </a:prstGeom>
          <a:noFill/>
          <a:ln w="14294">
            <a:solidFill>
              <a:srgbClr val="FDE68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193529" y="3221980"/>
            <a:ext cx="1334118" cy="30037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425" b="0">
                <a:solidFill>
                  <a:srgbClr val="000000"/>
                </a:solidFill>
                <a:latin typeface="JetBrains Mono ExtraBold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89059" y="3708528"/>
            <a:ext cx="1730589" cy="2495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63" b="1" spc="-12">
                <a:solidFill>
                  <a:srgbClr val="0F172A"/>
                </a:solidFill>
                <a:latin typeface="Plus Jakarta Sans ExtraBold"/>
              </a:rPr>
              <a:t>Kunci tidak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89059" y="3918175"/>
            <a:ext cx="1842031" cy="2495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63" b="1" spc="-12">
                <a:solidFill>
                  <a:srgbClr val="0F172A"/>
                </a:solidFill>
                <a:latin typeface="Plus Jakarta Sans ExtraBold"/>
              </a:rPr>
              <a:t>didedahkan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89059" y="4231416"/>
            <a:ext cx="3695982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Pelayar hanya bercakap dengan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89059" y="4441063"/>
            <a:ext cx="3460606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domain sendiri. Kunci sebenar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89059" y="4650710"/>
            <a:ext cx="3505871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tinggal di pelayan dan disuntik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89059" y="4860357"/>
            <a:ext cx="2034768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bila perlu sahaja.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23706" y="2858824"/>
            <a:ext cx="2234647" cy="3240000"/>
          </a:xfrm>
          <a:prstGeom prst="roundRect">
            <a:avLst>
              <a:gd name="adj" fmla="val 7675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8076176" y="3068471"/>
            <a:ext cx="495529" cy="495529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8076176" y="3068471"/>
            <a:ext cx="495529" cy="495529"/>
          </a:xfrm>
          <a:prstGeom prst="ellipse">
            <a:avLst/>
          </a:prstGeom>
          <a:noFill/>
          <a:ln w="14294">
            <a:solidFill>
              <a:srgbClr val="A7F3D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656882" y="3221980"/>
            <a:ext cx="1334118" cy="30037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425" b="0">
                <a:solidFill>
                  <a:srgbClr val="000000"/>
                </a:solidFill>
                <a:latin typeface="JetBrains Mono ExtraBold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52412" y="3708528"/>
            <a:ext cx="2357596" cy="2495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63" b="1" spc="-12">
                <a:solidFill>
                  <a:srgbClr val="0F172A"/>
                </a:solidFill>
                <a:latin typeface="Plus Jakarta Sans ExtraBold"/>
              </a:rPr>
              <a:t>Berfungsi tanpa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52412" y="3918175"/>
            <a:ext cx="1334118" cy="2495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63" b="1" spc="-12">
                <a:solidFill>
                  <a:srgbClr val="0F172A"/>
                </a:solidFill>
                <a:latin typeface="Plus Jakarta Sans ExtraBold"/>
              </a:rPr>
              <a:t>internet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52412" y="4231416"/>
            <a:ext cx="3478712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Senarai murid disimpan dalam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52412" y="4441063"/>
            <a:ext cx="3293126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peranti. Imbasan tetap jalan,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52412" y="4650710"/>
            <a:ext cx="2940062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dan data dihantar semula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52412" y="4860357"/>
            <a:ext cx="2736371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bila rangkaian kembali.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33647" y="6441882"/>
            <a:ext cx="9624706" cy="724235"/>
          </a:xfrm>
          <a:prstGeom prst="roundRect">
            <a:avLst>
              <a:gd name="adj" fmla="val 23684"/>
            </a:avLst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838588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22D3EE"/>
                </a:solidFill>
                <a:latin typeface="JetBrains Mono ExtraBold"/>
              </a:rP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8588" y="6846215"/>
            <a:ext cx="1423694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FRAMEWORK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21000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67E8F9"/>
                </a:solidFill>
                <a:latin typeface="JetBrains Mono ExtraBold"/>
              </a:rP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21000" y="6846215"/>
            <a:ext cx="1677176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LANGKAH BUILD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03412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A5B4FC"/>
                </a:solidFill>
                <a:latin typeface="JetBrains Mono ExtraBold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03412" y="6846215"/>
            <a:ext cx="2120771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SUMBER KEBENARAN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85824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FCD34D"/>
                </a:solidFill>
                <a:latin typeface="JetBrains Mono ExtraBold"/>
              </a:rPr>
              <a:t>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85824" y="6846215"/>
            <a:ext cx="186728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KUNCI DI PELAYAR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63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-1715294" y="-1524706"/>
            <a:ext cx="6289412" cy="4764706"/>
          </a:xfrm>
          <a:prstGeom prst="ellipse">
            <a:avLst/>
          </a:prstGeom>
          <a:gradFill flip="none" rotWithShape="1">
            <a:gsLst>
              <a:gs pos="0">
                <a:srgbClr val="06B6D4">
                  <a:alpha val="16000"/>
                </a:srgbClr>
              </a:gs>
              <a:gs pos="10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6194118" y="4574118"/>
            <a:ext cx="6861176" cy="4955294"/>
          </a:xfrm>
          <a:prstGeom prst="ellipse">
            <a:avLst/>
          </a:prstGeom>
          <a:gradFill flip="none" rotWithShape="1">
            <a:gsLst>
              <a:gs pos="0">
                <a:srgbClr val="8B5CF6">
                  <a:alpha val="14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0692000" cy="66706"/>
          </a:xfrm>
          <a:prstGeom prst="rect">
            <a:avLst/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33647" y="362118"/>
            <a:ext cx="590824" cy="590824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28941" y="457412"/>
            <a:ext cx="400235" cy="400235"/>
          </a:xfrm>
          <a:prstGeom prst="roundRect">
            <a:avLst>
              <a:gd name="adj" fmla="val 2619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Freeform 7"/>
          <p:cNvSpPr/>
          <p:nvPr/>
        </p:nvSpPr>
        <p:spPr>
          <a:xfrm>
            <a:off x="676588" y="543176"/>
            <a:ext cx="181059" cy="171530"/>
          </a:xfrm>
          <a:custGeom>
            <a:avLst/>
            <a:gdLst/>
            <a:ahLst/>
            <a:cxnLst/>
            <a:rect l="l" t="t" r="r" b="b"/>
            <a:pathLst>
              <a:path w="181059" h="171530">
                <a:moveTo>
                  <a:pt x="28588" y="9530"/>
                </a:moveTo>
                <a:lnTo>
                  <a:pt x="123883" y="9530"/>
                </a:lnTo>
                <a:lnTo>
                  <a:pt x="171530" y="57177"/>
                </a:lnTo>
                <a:lnTo>
                  <a:pt x="171530" y="142942"/>
                </a:lnTo>
                <a:lnTo>
                  <a:pt x="177419" y="141269"/>
                </a:lnTo>
                <a:lnTo>
                  <a:pt x="178982" y="143819"/>
                </a:lnTo>
                <a:lnTo>
                  <a:pt x="180126" y="146582"/>
                </a:lnTo>
                <a:lnTo>
                  <a:pt x="180824" y="149490"/>
                </a:lnTo>
                <a:lnTo>
                  <a:pt x="181059" y="152471"/>
                </a:lnTo>
                <a:lnTo>
                  <a:pt x="180824" y="155453"/>
                </a:lnTo>
                <a:lnTo>
                  <a:pt x="180126" y="158361"/>
                </a:lnTo>
                <a:lnTo>
                  <a:pt x="178982" y="161124"/>
                </a:lnTo>
                <a:lnTo>
                  <a:pt x="177419" y="163674"/>
                </a:lnTo>
                <a:lnTo>
                  <a:pt x="175477" y="165948"/>
                </a:lnTo>
                <a:lnTo>
                  <a:pt x="173203" y="167890"/>
                </a:lnTo>
                <a:lnTo>
                  <a:pt x="170653" y="169453"/>
                </a:lnTo>
                <a:lnTo>
                  <a:pt x="167890" y="170597"/>
                </a:lnTo>
                <a:lnTo>
                  <a:pt x="164982" y="171295"/>
                </a:lnTo>
                <a:lnTo>
                  <a:pt x="162000" y="171530"/>
                </a:lnTo>
                <a:lnTo>
                  <a:pt x="159019" y="171295"/>
                </a:lnTo>
                <a:lnTo>
                  <a:pt x="156111" y="170597"/>
                </a:lnTo>
                <a:lnTo>
                  <a:pt x="153348" y="169453"/>
                </a:lnTo>
                <a:lnTo>
                  <a:pt x="150798" y="167890"/>
                </a:lnTo>
                <a:lnTo>
                  <a:pt x="148524" y="165948"/>
                </a:lnTo>
                <a:lnTo>
                  <a:pt x="28588" y="162000"/>
                </a:lnTo>
                <a:lnTo>
                  <a:pt x="30262" y="167890"/>
                </a:lnTo>
                <a:lnTo>
                  <a:pt x="27712" y="169453"/>
                </a:lnTo>
                <a:lnTo>
                  <a:pt x="24949" y="170597"/>
                </a:lnTo>
                <a:lnTo>
                  <a:pt x="22041" y="171295"/>
                </a:lnTo>
                <a:lnTo>
                  <a:pt x="19059" y="171530"/>
                </a:lnTo>
                <a:lnTo>
                  <a:pt x="16078" y="171295"/>
                </a:lnTo>
                <a:lnTo>
                  <a:pt x="13170" y="170597"/>
                </a:lnTo>
                <a:lnTo>
                  <a:pt x="10407" y="169453"/>
                </a:lnTo>
                <a:lnTo>
                  <a:pt x="7857" y="167890"/>
                </a:lnTo>
                <a:lnTo>
                  <a:pt x="5582" y="165948"/>
                </a:lnTo>
                <a:lnTo>
                  <a:pt x="3640" y="163674"/>
                </a:lnTo>
                <a:lnTo>
                  <a:pt x="2078" y="161124"/>
                </a:lnTo>
                <a:lnTo>
                  <a:pt x="933" y="158361"/>
                </a:lnTo>
                <a:lnTo>
                  <a:pt x="235" y="155453"/>
                </a:lnTo>
                <a:lnTo>
                  <a:pt x="0" y="152471"/>
                </a:lnTo>
                <a:lnTo>
                  <a:pt x="235" y="149490"/>
                </a:lnTo>
                <a:lnTo>
                  <a:pt x="933" y="146582"/>
                </a:lnTo>
                <a:lnTo>
                  <a:pt x="2078" y="143819"/>
                </a:lnTo>
                <a:lnTo>
                  <a:pt x="3640" y="141269"/>
                </a:lnTo>
                <a:lnTo>
                  <a:pt x="5582" y="138994"/>
                </a:lnTo>
                <a:lnTo>
                  <a:pt x="9530" y="28589"/>
                </a:lnTo>
                <a:lnTo>
                  <a:pt x="3640" y="30262"/>
                </a:lnTo>
                <a:lnTo>
                  <a:pt x="2078" y="27712"/>
                </a:lnTo>
                <a:lnTo>
                  <a:pt x="933" y="24949"/>
                </a:lnTo>
                <a:lnTo>
                  <a:pt x="235" y="22041"/>
                </a:lnTo>
                <a:lnTo>
                  <a:pt x="0" y="19059"/>
                </a:lnTo>
                <a:lnTo>
                  <a:pt x="235" y="16078"/>
                </a:lnTo>
                <a:lnTo>
                  <a:pt x="933" y="13170"/>
                </a:lnTo>
                <a:lnTo>
                  <a:pt x="2078" y="10407"/>
                </a:lnTo>
                <a:lnTo>
                  <a:pt x="3640" y="7857"/>
                </a:lnTo>
                <a:lnTo>
                  <a:pt x="5582" y="5583"/>
                </a:lnTo>
                <a:lnTo>
                  <a:pt x="7857" y="3640"/>
                </a:lnTo>
                <a:lnTo>
                  <a:pt x="10407" y="2078"/>
                </a:lnTo>
                <a:lnTo>
                  <a:pt x="13170" y="933"/>
                </a:lnTo>
                <a:lnTo>
                  <a:pt x="16078" y="235"/>
                </a:lnTo>
                <a:lnTo>
                  <a:pt x="19059" y="0"/>
                </a:lnTo>
                <a:lnTo>
                  <a:pt x="22041" y="235"/>
                </a:lnTo>
                <a:lnTo>
                  <a:pt x="24949" y="933"/>
                </a:lnTo>
                <a:lnTo>
                  <a:pt x="27712" y="2078"/>
                </a:lnTo>
                <a:lnTo>
                  <a:pt x="30262" y="3640"/>
                </a:lnTo>
                <a:lnTo>
                  <a:pt x="32536" y="5583"/>
                </a:lnTo>
                <a:close/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Freeform 8"/>
          <p:cNvSpPr/>
          <p:nvPr/>
        </p:nvSpPr>
        <p:spPr>
          <a:xfrm>
            <a:off x="800471" y="552706"/>
            <a:ext cx="47647" cy="47647"/>
          </a:xfrm>
          <a:custGeom>
            <a:avLst/>
            <a:gdLst/>
            <a:ahLst/>
            <a:cxnLst/>
            <a:rect l="l" t="t" r="r" b="b"/>
            <a:pathLst>
              <a:path w="47647" h="47647">
                <a:moveTo>
                  <a:pt x="0" y="0"/>
                </a:moveTo>
                <a:lnTo>
                  <a:pt x="0" y="47647"/>
                </a:lnTo>
                <a:lnTo>
                  <a:pt x="47647" y="47647"/>
                </a:lnTo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Freeform 9"/>
          <p:cNvSpPr/>
          <p:nvPr/>
        </p:nvSpPr>
        <p:spPr>
          <a:xfrm>
            <a:off x="724235" y="657529"/>
            <a:ext cx="76236" cy="47647"/>
          </a:xfrm>
          <a:custGeom>
            <a:avLst/>
            <a:gdLst/>
            <a:ahLst/>
            <a:cxnLst/>
            <a:rect l="l" t="t" r="r" b="b"/>
            <a:pathLst>
              <a:path w="76236" h="47647">
                <a:moveTo>
                  <a:pt x="0" y="0"/>
                </a:moveTo>
                <a:lnTo>
                  <a:pt x="76236" y="0"/>
                </a:lnTo>
                <a:lnTo>
                  <a:pt x="0" y="47647"/>
                </a:lnTo>
                <a:lnTo>
                  <a:pt x="57177" y="47647"/>
                </a:lnTo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257882" y="362832"/>
            <a:ext cx="1908026" cy="40257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1" spc="-19">
                <a:solidFill>
                  <a:srgbClr val="0F172A"/>
                </a:solidFill>
                <a:latin typeface="Plus Jakarta Sans ExtraBold"/>
              </a:rPr>
              <a:t>Q-TIBA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7882" y="676946"/>
            <a:ext cx="6126697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64748B"/>
                </a:solidFill>
                <a:latin typeface="Plus Jakarta Sans SemiBold"/>
              </a:rPr>
              <a:t>Dokumentasi Aliran Pembuatan &amp;#183; SK Pulau Indah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4235" y="461633"/>
            <a:ext cx="1334118" cy="2055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75" b="0">
                <a:solidFill>
                  <a:srgbClr val="0891B2"/>
                </a:solidFill>
                <a:latin typeface="JetBrains Mono ExtraBold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4235" y="667006"/>
            <a:ext cx="1334118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62" b="0">
                <a:solidFill>
                  <a:srgbClr val="64748B"/>
                </a:solidFill>
                <a:latin typeface="Plus Jakarta Sans SemiBold"/>
              </a:rPr>
              <a:t>Lima Skrin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3647" y="1162588"/>
            <a:ext cx="9624706" cy="0"/>
          </a:xfrm>
          <a:prstGeom prst="line">
            <a:avLst/>
          </a:prstGeom>
          <a:ln w="14294">
            <a:solidFill>
              <a:srgbClr val="E2E8F0"/>
            </a:solidFill>
          </a:ln>
        </p:spPr>
      </p:cxnSp>
      <p:sp>
        <p:nvSpPr>
          <p:cNvPr id="16" name="Rounded Rectangle 15"/>
          <p:cNvSpPr/>
          <p:nvPr/>
        </p:nvSpPr>
        <p:spPr>
          <a:xfrm>
            <a:off x="533647" y="1486588"/>
            <a:ext cx="1524706" cy="285882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 w="14294">
            <a:solidFill>
              <a:srgbClr val="A5F3F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31325" y="1568794"/>
            <a:ext cx="2329350" cy="16907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87" b="1" spc="126">
                <a:solidFill>
                  <a:srgbClr val="0891B2"/>
                </a:solidFill>
                <a:latin typeface="Plus Jakarta Sans ExtraBold"/>
              </a:rPr>
              <a:t>BENTUK APLIKASI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647" y="1709348"/>
            <a:ext cx="6536614" cy="51529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401" b="1" spc="-48">
                <a:solidFill>
                  <a:srgbClr val="0F172A"/>
                </a:solidFill>
                <a:latin typeface="Plus Jakarta Sans ExtraBold"/>
              </a:rPr>
              <a:t>Lima skrin, satu aplikasi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647" y="2178443"/>
            <a:ext cx="7425794" cy="22543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Plus Jakarta Sans Medium"/>
              </a:rPr>
              <a:t>Setiap skrin berdiri sendiri tetapi membaca data yang sama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3647" y="2668235"/>
            <a:ext cx="1787718" cy="3411529"/>
          </a:xfrm>
          <a:prstGeom prst="roundRect">
            <a:avLst>
              <a:gd name="adj" fmla="val 9594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533647" y="2668235"/>
            <a:ext cx="1787718" cy="3811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705176" y="2877882"/>
            <a:ext cx="1444659" cy="228706"/>
          </a:xfrm>
          <a:prstGeom prst="roundRect">
            <a:avLst>
              <a:gd name="adj" fmla="val 29166"/>
            </a:avLst>
          </a:prstGeom>
          <a:solidFill>
            <a:srgbClr val="ECFE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7344" y="2950930"/>
            <a:ext cx="1360324" cy="16599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87" b="0">
                <a:solidFill>
                  <a:srgbClr val="000000"/>
                </a:solidFill>
                <a:latin typeface="JetBrains Mono ExtraBold"/>
              </a:rPr>
              <a:t>index.html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176" y="3260236"/>
            <a:ext cx="2495924" cy="233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88" b="1" spc="-11">
                <a:solidFill>
                  <a:srgbClr val="0F172A"/>
                </a:solidFill>
                <a:latin typeface="Plus Jakarta Sans ExtraBold"/>
              </a:rPr>
              <a:t>Dashboard 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176" y="3587976"/>
            <a:ext cx="2021188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KPI, carta dan tab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176" y="3788094"/>
            <a:ext cx="2265618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analitik. Skrin utama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176" y="3988211"/>
            <a:ext cx="2242985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guru dan pentadbir.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05176" y="5546118"/>
            <a:ext cx="1444659" cy="0"/>
          </a:xfrm>
          <a:prstGeom prst="line">
            <a:avLst/>
          </a:prstGeom>
          <a:ln w="14294">
            <a:solidFill>
              <a:srgbClr val="E2E8F0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705176" y="5630806"/>
            <a:ext cx="1334118" cy="26875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75" b="0">
                <a:solidFill>
                  <a:srgbClr val="000000"/>
                </a:solidFill>
                <a:latin typeface="JetBrains Mono ExtraBold"/>
              </a:rPr>
              <a:t>3824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176" y="5855156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Plus Jakarta Sans SemiBold"/>
              </a:rPr>
              <a:t>baris kod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92894" y="2668235"/>
            <a:ext cx="1787718" cy="3411529"/>
          </a:xfrm>
          <a:prstGeom prst="roundRect">
            <a:avLst>
              <a:gd name="adj" fmla="val 9594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2492894" y="2668235"/>
            <a:ext cx="1787718" cy="3811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2664424" y="2877882"/>
            <a:ext cx="1444659" cy="228706"/>
          </a:xfrm>
          <a:prstGeom prst="roundRect">
            <a:avLst>
              <a:gd name="adj" fmla="val 29166"/>
            </a:avLst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2719694" y="2950930"/>
            <a:ext cx="1334118" cy="16599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87" b="0">
                <a:solidFill>
                  <a:srgbClr val="000000"/>
                </a:solidFill>
                <a:latin typeface="JetBrains Mono ExtraBold"/>
              </a:rPr>
              <a:t>scan.html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64424" y="3260236"/>
            <a:ext cx="2013041" cy="233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88" b="1" spc="-11">
                <a:solidFill>
                  <a:srgbClr val="0F172A"/>
                </a:solidFill>
                <a:latin typeface="Plus Jakarta Sans ExtraBold"/>
              </a:rPr>
              <a:t>Pemimbas QR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64424" y="3587976"/>
            <a:ext cx="3039644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Kamera telefon dan kod QR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64424" y="3788094"/>
            <a:ext cx="2632262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murid, termasuk antrian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64424" y="3988211"/>
            <a:ext cx="1663597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bila luar talian.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664424" y="5546118"/>
            <a:ext cx="1444658" cy="0"/>
          </a:xfrm>
          <a:prstGeom prst="line">
            <a:avLst/>
          </a:prstGeom>
          <a:ln w="14294">
            <a:solidFill>
              <a:srgbClr val="E2E8F0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2664424" y="5630806"/>
            <a:ext cx="1334118" cy="26875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75" b="0">
                <a:solidFill>
                  <a:srgbClr val="000000"/>
                </a:solidFill>
                <a:latin typeface="JetBrains Mono ExtraBold"/>
              </a:rPr>
              <a:t>1553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64424" y="5855156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Plus Jakarta Sans SemiBold"/>
              </a:rPr>
              <a:t>baris kod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52141" y="2668235"/>
            <a:ext cx="1787718" cy="3411529"/>
          </a:xfrm>
          <a:prstGeom prst="roundRect">
            <a:avLst>
              <a:gd name="adj" fmla="val 9594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4452141" y="2668235"/>
            <a:ext cx="1787718" cy="3811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4623671" y="2877882"/>
            <a:ext cx="1444659" cy="228706"/>
          </a:xfrm>
          <a:prstGeom prst="roundRect">
            <a:avLst>
              <a:gd name="adj" fmla="val 29166"/>
            </a:avLst>
          </a:prstGeom>
          <a:solidFill>
            <a:srgbClr val="ECFD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609257" y="2950930"/>
            <a:ext cx="1473485" cy="16599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87" b="0">
                <a:solidFill>
                  <a:srgbClr val="000000"/>
                </a:solidFill>
                <a:latin typeface="JetBrains Mono ExtraBold"/>
              </a:rPr>
              <a:t>parent.html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23671" y="3260236"/>
            <a:ext cx="2133807" cy="233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88" b="1" spc="-11">
                <a:solidFill>
                  <a:srgbClr val="0F172A"/>
                </a:solidFill>
                <a:latin typeface="Plus Jakarta Sans ExtraBold"/>
              </a:rPr>
              <a:t>Portal Ibu Bapa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23671" y="3587976"/>
            <a:ext cx="1953291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Status kehadiran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23671" y="3788094"/>
            <a:ext cx="2170562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ringkas tanpa perlu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23671" y="3988211"/>
            <a:ext cx="1337691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log masuk.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623671" y="5546118"/>
            <a:ext cx="1444658" cy="0"/>
          </a:xfrm>
          <a:prstGeom prst="line">
            <a:avLst/>
          </a:prstGeom>
          <a:ln w="14294">
            <a:solidFill>
              <a:srgbClr val="E2E8F0"/>
            </a:solidFill>
          </a:ln>
        </p:spPr>
      </p:cxnSp>
      <p:sp>
        <p:nvSpPr>
          <p:cNvPr id="51" name="TextBox 50"/>
          <p:cNvSpPr txBox="1"/>
          <p:nvPr/>
        </p:nvSpPr>
        <p:spPr>
          <a:xfrm>
            <a:off x="4623671" y="5630806"/>
            <a:ext cx="1334118" cy="26875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75" b="0">
                <a:solidFill>
                  <a:srgbClr val="000000"/>
                </a:solidFill>
                <a:latin typeface="JetBrains Mono ExtraBold"/>
              </a:rPr>
              <a:t>1228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23671" y="5855156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Plus Jakarta Sans SemiBold"/>
              </a:rPr>
              <a:t>baris kod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11388" y="2668235"/>
            <a:ext cx="1787718" cy="3411529"/>
          </a:xfrm>
          <a:prstGeom prst="roundRect">
            <a:avLst>
              <a:gd name="adj" fmla="val 9594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6411388" y="2668235"/>
            <a:ext cx="1787718" cy="3811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6582918" y="2877882"/>
            <a:ext cx="1444659" cy="228706"/>
          </a:xfrm>
          <a:prstGeom prst="roundRect">
            <a:avLst>
              <a:gd name="adj" fmla="val 29166"/>
            </a:avLst>
          </a:prstGeom>
          <a:solidFill>
            <a:srgbClr val="FFFBE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638188" y="2950930"/>
            <a:ext cx="1334118" cy="16599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87" b="0">
                <a:solidFill>
                  <a:srgbClr val="000000"/>
                </a:solidFill>
                <a:latin typeface="JetBrains Mono ExtraBold"/>
              </a:rPr>
              <a:t>gate.html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2918" y="3260236"/>
            <a:ext cx="1976105" cy="233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88" b="1" spc="-11">
                <a:solidFill>
                  <a:srgbClr val="0F172A"/>
                </a:solidFill>
                <a:latin typeface="Plus Jakarta Sans ExtraBold"/>
              </a:rPr>
              <a:t>Paparan Pintu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2918" y="3587976"/>
            <a:ext cx="2858585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Skrin besar di pintu pagar: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2918" y="3788094"/>
            <a:ext cx="1699809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jam digital dan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2918" y="3988211"/>
            <a:ext cx="2577944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senarai lewat berputar.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582918" y="5546118"/>
            <a:ext cx="1444658" cy="0"/>
          </a:xfrm>
          <a:prstGeom prst="line">
            <a:avLst/>
          </a:prstGeom>
          <a:ln w="14294">
            <a:solidFill>
              <a:srgbClr val="E2E8F0"/>
            </a:solidFill>
          </a:ln>
        </p:spPr>
      </p:cxnSp>
      <p:sp>
        <p:nvSpPr>
          <p:cNvPr id="62" name="TextBox 61"/>
          <p:cNvSpPr txBox="1"/>
          <p:nvPr/>
        </p:nvSpPr>
        <p:spPr>
          <a:xfrm>
            <a:off x="6582918" y="5630806"/>
            <a:ext cx="1334118" cy="26875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75" b="0">
                <a:solidFill>
                  <a:srgbClr val="000000"/>
                </a:solidFill>
                <a:latin typeface="JetBrains Mono ExtraBold"/>
              </a:rPr>
              <a:t>1222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2918" y="5855156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Plus Jakarta Sans SemiBold"/>
              </a:rPr>
              <a:t>baris kod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370635" y="2668235"/>
            <a:ext cx="1787718" cy="3411529"/>
          </a:xfrm>
          <a:prstGeom prst="roundRect">
            <a:avLst>
              <a:gd name="adj" fmla="val 9594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65" name="Rounded Rectangle 64"/>
          <p:cNvSpPr/>
          <p:nvPr/>
        </p:nvSpPr>
        <p:spPr>
          <a:xfrm>
            <a:off x="8370635" y="2668235"/>
            <a:ext cx="1787718" cy="3811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6" name="Rounded Rectangle 65"/>
          <p:cNvSpPr/>
          <p:nvPr/>
        </p:nvSpPr>
        <p:spPr>
          <a:xfrm>
            <a:off x="8542165" y="2877882"/>
            <a:ext cx="1444659" cy="228706"/>
          </a:xfrm>
          <a:prstGeom prst="roundRect">
            <a:avLst>
              <a:gd name="adj" fmla="val 29166"/>
            </a:avLst>
          </a:prstGeom>
          <a:solidFill>
            <a:srgbClr val="FFF1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8584332" y="2950930"/>
            <a:ext cx="1360324" cy="16599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87" b="0">
                <a:solidFill>
                  <a:srgbClr val="000000"/>
                </a:solidFill>
                <a:latin typeface="JetBrains Mono ExtraBold"/>
              </a:rPr>
              <a:t>Panel.html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42165" y="3260236"/>
            <a:ext cx="2219810" cy="233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88" b="1" spc="-11">
                <a:solidFill>
                  <a:srgbClr val="0F172A"/>
                </a:solidFill>
                <a:latin typeface="Plus Jakarta Sans ExtraBold"/>
              </a:rPr>
              <a:t>Panel Pentadbir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42165" y="3587976"/>
            <a:ext cx="2736371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Sidebar di dalam Google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42165" y="3788094"/>
            <a:ext cx="2985326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Sheet untuk tambah murid,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42165" y="3988211"/>
            <a:ext cx="2107191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kelas dan tetapan.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8542165" y="5546118"/>
            <a:ext cx="1444659" cy="0"/>
          </a:xfrm>
          <a:prstGeom prst="line">
            <a:avLst/>
          </a:prstGeom>
          <a:ln w="14294">
            <a:solidFill>
              <a:srgbClr val="E2E8F0"/>
            </a:solidFill>
          </a:ln>
        </p:spPr>
      </p:cxnSp>
      <p:sp>
        <p:nvSpPr>
          <p:cNvPr id="73" name="TextBox 72"/>
          <p:cNvSpPr txBox="1"/>
          <p:nvPr/>
        </p:nvSpPr>
        <p:spPr>
          <a:xfrm>
            <a:off x="8542165" y="5630806"/>
            <a:ext cx="1334118" cy="26875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75" b="0">
                <a:solidFill>
                  <a:srgbClr val="000000"/>
                </a:solidFill>
                <a:latin typeface="JetBrains Mono ExtraBold"/>
              </a:rPr>
              <a:t>297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42165" y="5855156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Plus Jakarta Sans SemiBold"/>
              </a:rPr>
              <a:t>baris kod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33647" y="6441882"/>
            <a:ext cx="9624706" cy="724235"/>
          </a:xfrm>
          <a:prstGeom prst="roundRect">
            <a:avLst>
              <a:gd name="adj" fmla="val 23684"/>
            </a:avLst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838588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22D3EE"/>
                </a:solidFill>
                <a:latin typeface="JetBrains Mono ExtraBold"/>
              </a:rPr>
              <a:t>3824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8588" y="6846215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index.html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24518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67E8F9"/>
                </a:solidFill>
                <a:latin typeface="JetBrains Mono ExtraBold"/>
              </a:rPr>
              <a:t>1553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24518" y="6846215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scan.html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10447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A5B4FC"/>
                </a:solidFill>
                <a:latin typeface="JetBrains Mono ExtraBold"/>
              </a:rPr>
              <a:t>1228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810447" y="6846215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parent.html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96376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FCD34D"/>
                </a:solidFill>
                <a:latin typeface="JetBrains Mono ExtraBold"/>
              </a:rPr>
              <a:t>1222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96376" y="6846215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gate.html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782306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E11D48"/>
                </a:solidFill>
                <a:latin typeface="JetBrains Mono ExtraBold"/>
              </a:rPr>
              <a:t>297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782306" y="6846215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Panel.html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63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-1715294" y="-1524706"/>
            <a:ext cx="6289412" cy="4764706"/>
          </a:xfrm>
          <a:prstGeom prst="ellipse">
            <a:avLst/>
          </a:prstGeom>
          <a:gradFill flip="none" rotWithShape="1">
            <a:gsLst>
              <a:gs pos="0">
                <a:srgbClr val="06B6D4">
                  <a:alpha val="16000"/>
                </a:srgbClr>
              </a:gs>
              <a:gs pos="10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6194118" y="4574118"/>
            <a:ext cx="6861176" cy="4955294"/>
          </a:xfrm>
          <a:prstGeom prst="ellipse">
            <a:avLst/>
          </a:prstGeom>
          <a:gradFill flip="none" rotWithShape="1">
            <a:gsLst>
              <a:gs pos="0">
                <a:srgbClr val="8B5CF6">
                  <a:alpha val="14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0692000" cy="66706"/>
          </a:xfrm>
          <a:prstGeom prst="rect">
            <a:avLst/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33647" y="362118"/>
            <a:ext cx="590824" cy="590824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28941" y="457412"/>
            <a:ext cx="400235" cy="400235"/>
          </a:xfrm>
          <a:prstGeom prst="roundRect">
            <a:avLst>
              <a:gd name="adj" fmla="val 2619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Freeform 7"/>
          <p:cNvSpPr/>
          <p:nvPr/>
        </p:nvSpPr>
        <p:spPr>
          <a:xfrm>
            <a:off x="676588" y="543176"/>
            <a:ext cx="181059" cy="171530"/>
          </a:xfrm>
          <a:custGeom>
            <a:avLst/>
            <a:gdLst/>
            <a:ahLst/>
            <a:cxnLst/>
            <a:rect l="l" t="t" r="r" b="b"/>
            <a:pathLst>
              <a:path w="181059" h="171530">
                <a:moveTo>
                  <a:pt x="28588" y="9530"/>
                </a:moveTo>
                <a:lnTo>
                  <a:pt x="123883" y="9530"/>
                </a:lnTo>
                <a:lnTo>
                  <a:pt x="171530" y="57177"/>
                </a:lnTo>
                <a:lnTo>
                  <a:pt x="171530" y="142942"/>
                </a:lnTo>
                <a:lnTo>
                  <a:pt x="177419" y="141269"/>
                </a:lnTo>
                <a:lnTo>
                  <a:pt x="178982" y="143819"/>
                </a:lnTo>
                <a:lnTo>
                  <a:pt x="180126" y="146582"/>
                </a:lnTo>
                <a:lnTo>
                  <a:pt x="180824" y="149490"/>
                </a:lnTo>
                <a:lnTo>
                  <a:pt x="181059" y="152471"/>
                </a:lnTo>
                <a:lnTo>
                  <a:pt x="180824" y="155453"/>
                </a:lnTo>
                <a:lnTo>
                  <a:pt x="180126" y="158361"/>
                </a:lnTo>
                <a:lnTo>
                  <a:pt x="178982" y="161124"/>
                </a:lnTo>
                <a:lnTo>
                  <a:pt x="177419" y="163674"/>
                </a:lnTo>
                <a:lnTo>
                  <a:pt x="175477" y="165948"/>
                </a:lnTo>
                <a:lnTo>
                  <a:pt x="173203" y="167890"/>
                </a:lnTo>
                <a:lnTo>
                  <a:pt x="170653" y="169453"/>
                </a:lnTo>
                <a:lnTo>
                  <a:pt x="167890" y="170597"/>
                </a:lnTo>
                <a:lnTo>
                  <a:pt x="164982" y="171295"/>
                </a:lnTo>
                <a:lnTo>
                  <a:pt x="162000" y="171530"/>
                </a:lnTo>
                <a:lnTo>
                  <a:pt x="159019" y="171295"/>
                </a:lnTo>
                <a:lnTo>
                  <a:pt x="156111" y="170597"/>
                </a:lnTo>
                <a:lnTo>
                  <a:pt x="153348" y="169453"/>
                </a:lnTo>
                <a:lnTo>
                  <a:pt x="150798" y="167890"/>
                </a:lnTo>
                <a:lnTo>
                  <a:pt x="148524" y="165948"/>
                </a:lnTo>
                <a:lnTo>
                  <a:pt x="28588" y="162000"/>
                </a:lnTo>
                <a:lnTo>
                  <a:pt x="30262" y="167890"/>
                </a:lnTo>
                <a:lnTo>
                  <a:pt x="27712" y="169453"/>
                </a:lnTo>
                <a:lnTo>
                  <a:pt x="24949" y="170597"/>
                </a:lnTo>
                <a:lnTo>
                  <a:pt x="22041" y="171295"/>
                </a:lnTo>
                <a:lnTo>
                  <a:pt x="19059" y="171530"/>
                </a:lnTo>
                <a:lnTo>
                  <a:pt x="16078" y="171295"/>
                </a:lnTo>
                <a:lnTo>
                  <a:pt x="13170" y="170597"/>
                </a:lnTo>
                <a:lnTo>
                  <a:pt x="10407" y="169453"/>
                </a:lnTo>
                <a:lnTo>
                  <a:pt x="7857" y="167890"/>
                </a:lnTo>
                <a:lnTo>
                  <a:pt x="5582" y="165948"/>
                </a:lnTo>
                <a:lnTo>
                  <a:pt x="3640" y="163674"/>
                </a:lnTo>
                <a:lnTo>
                  <a:pt x="2078" y="161124"/>
                </a:lnTo>
                <a:lnTo>
                  <a:pt x="933" y="158361"/>
                </a:lnTo>
                <a:lnTo>
                  <a:pt x="235" y="155453"/>
                </a:lnTo>
                <a:lnTo>
                  <a:pt x="0" y="152471"/>
                </a:lnTo>
                <a:lnTo>
                  <a:pt x="235" y="149490"/>
                </a:lnTo>
                <a:lnTo>
                  <a:pt x="933" y="146582"/>
                </a:lnTo>
                <a:lnTo>
                  <a:pt x="2078" y="143819"/>
                </a:lnTo>
                <a:lnTo>
                  <a:pt x="3640" y="141269"/>
                </a:lnTo>
                <a:lnTo>
                  <a:pt x="5582" y="138994"/>
                </a:lnTo>
                <a:lnTo>
                  <a:pt x="9530" y="28589"/>
                </a:lnTo>
                <a:lnTo>
                  <a:pt x="3640" y="30262"/>
                </a:lnTo>
                <a:lnTo>
                  <a:pt x="2078" y="27712"/>
                </a:lnTo>
                <a:lnTo>
                  <a:pt x="933" y="24949"/>
                </a:lnTo>
                <a:lnTo>
                  <a:pt x="235" y="22041"/>
                </a:lnTo>
                <a:lnTo>
                  <a:pt x="0" y="19059"/>
                </a:lnTo>
                <a:lnTo>
                  <a:pt x="235" y="16078"/>
                </a:lnTo>
                <a:lnTo>
                  <a:pt x="933" y="13170"/>
                </a:lnTo>
                <a:lnTo>
                  <a:pt x="2078" y="10407"/>
                </a:lnTo>
                <a:lnTo>
                  <a:pt x="3640" y="7857"/>
                </a:lnTo>
                <a:lnTo>
                  <a:pt x="5582" y="5583"/>
                </a:lnTo>
                <a:lnTo>
                  <a:pt x="7857" y="3640"/>
                </a:lnTo>
                <a:lnTo>
                  <a:pt x="10407" y="2078"/>
                </a:lnTo>
                <a:lnTo>
                  <a:pt x="13170" y="933"/>
                </a:lnTo>
                <a:lnTo>
                  <a:pt x="16078" y="235"/>
                </a:lnTo>
                <a:lnTo>
                  <a:pt x="19059" y="0"/>
                </a:lnTo>
                <a:lnTo>
                  <a:pt x="22041" y="235"/>
                </a:lnTo>
                <a:lnTo>
                  <a:pt x="24949" y="933"/>
                </a:lnTo>
                <a:lnTo>
                  <a:pt x="27712" y="2078"/>
                </a:lnTo>
                <a:lnTo>
                  <a:pt x="30262" y="3640"/>
                </a:lnTo>
                <a:lnTo>
                  <a:pt x="32536" y="5583"/>
                </a:lnTo>
                <a:close/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Freeform 8"/>
          <p:cNvSpPr/>
          <p:nvPr/>
        </p:nvSpPr>
        <p:spPr>
          <a:xfrm>
            <a:off x="800471" y="552706"/>
            <a:ext cx="47647" cy="47647"/>
          </a:xfrm>
          <a:custGeom>
            <a:avLst/>
            <a:gdLst/>
            <a:ahLst/>
            <a:cxnLst/>
            <a:rect l="l" t="t" r="r" b="b"/>
            <a:pathLst>
              <a:path w="47647" h="47647">
                <a:moveTo>
                  <a:pt x="0" y="0"/>
                </a:moveTo>
                <a:lnTo>
                  <a:pt x="0" y="47647"/>
                </a:lnTo>
                <a:lnTo>
                  <a:pt x="47647" y="47647"/>
                </a:lnTo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Freeform 9"/>
          <p:cNvSpPr/>
          <p:nvPr/>
        </p:nvSpPr>
        <p:spPr>
          <a:xfrm>
            <a:off x="724235" y="657529"/>
            <a:ext cx="76236" cy="47647"/>
          </a:xfrm>
          <a:custGeom>
            <a:avLst/>
            <a:gdLst/>
            <a:ahLst/>
            <a:cxnLst/>
            <a:rect l="l" t="t" r="r" b="b"/>
            <a:pathLst>
              <a:path w="76236" h="47647">
                <a:moveTo>
                  <a:pt x="0" y="0"/>
                </a:moveTo>
                <a:lnTo>
                  <a:pt x="76236" y="0"/>
                </a:lnTo>
                <a:lnTo>
                  <a:pt x="0" y="47647"/>
                </a:lnTo>
                <a:lnTo>
                  <a:pt x="57177" y="47647"/>
                </a:lnTo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257882" y="362832"/>
            <a:ext cx="1908026" cy="40257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1" spc="-19">
                <a:solidFill>
                  <a:srgbClr val="0F172A"/>
                </a:solidFill>
                <a:latin typeface="Plus Jakarta Sans ExtraBold"/>
              </a:rPr>
              <a:t>Q-TIBA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7882" y="676946"/>
            <a:ext cx="6126697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64748B"/>
                </a:solidFill>
                <a:latin typeface="Plus Jakarta Sans SemiBold"/>
              </a:rPr>
              <a:t>Dokumentasi Aliran Pembuatan &amp;#183; SK Pulau Indah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4235" y="461633"/>
            <a:ext cx="1334118" cy="2055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75" b="0">
                <a:solidFill>
                  <a:srgbClr val="0891B2"/>
                </a:solidFill>
                <a:latin typeface="JetBrains Mono ExtraBold"/>
              </a:rP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6844" y="667006"/>
            <a:ext cx="2161509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62" b="0">
                <a:solidFill>
                  <a:srgbClr val="64748B"/>
                </a:solidFill>
                <a:latin typeface="Plus Jakarta Sans SemiBold"/>
              </a:rPr>
              <a:t>Penggunaan Harian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3647" y="1162588"/>
            <a:ext cx="9624706" cy="0"/>
          </a:xfrm>
          <a:prstGeom prst="line">
            <a:avLst/>
          </a:prstGeom>
          <a:ln w="14294">
            <a:solidFill>
              <a:srgbClr val="E2E8F0"/>
            </a:solidFill>
          </a:ln>
        </p:spPr>
      </p:cxnSp>
      <p:sp>
        <p:nvSpPr>
          <p:cNvPr id="16" name="Rounded Rectangle 15"/>
          <p:cNvSpPr/>
          <p:nvPr/>
        </p:nvSpPr>
        <p:spPr>
          <a:xfrm>
            <a:off x="533647" y="1486588"/>
            <a:ext cx="1905882" cy="285882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 w="14294">
            <a:solidFill>
              <a:srgbClr val="A5F3F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9329" y="1568794"/>
            <a:ext cx="2874518" cy="16907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87" b="1" spc="126">
                <a:solidFill>
                  <a:srgbClr val="0891B2"/>
                </a:solidFill>
                <a:latin typeface="Plus Jakarta Sans ExtraBold"/>
              </a:rPr>
              <a:t>PENGGUNAAN HARIAN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647" y="1709348"/>
            <a:ext cx="4768937" cy="51529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401" b="1" spc="-48">
                <a:solidFill>
                  <a:srgbClr val="0F172A"/>
                </a:solidFill>
                <a:latin typeface="Plus Jakarta Sans ExtraBold"/>
              </a:rPr>
              <a:t>Sehari di sekolah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647" y="2178443"/>
            <a:ext cx="6429971" cy="22543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Plus Jakarta Sans Medium"/>
              </a:rPr>
              <a:t>Apa yang berlaku kepada sistem dari jam tujuh pagi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52941" y="3773647"/>
            <a:ext cx="8786118" cy="0"/>
          </a:xfrm>
          <a:prstGeom prst="line">
            <a:avLst/>
          </a:prstGeom>
          <a:ln w="23824">
            <a:solidFill>
              <a:srgbClr val="E2E8F0"/>
            </a:solidFill>
          </a:ln>
        </p:spPr>
      </p:cxnSp>
      <p:sp>
        <p:nvSpPr>
          <p:cNvPr id="21" name="Rounded Rectangle 20"/>
          <p:cNvSpPr/>
          <p:nvPr/>
        </p:nvSpPr>
        <p:spPr>
          <a:xfrm>
            <a:off x="533647" y="2515765"/>
            <a:ext cx="1787718" cy="991059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0447" y="2759279"/>
            <a:ext cx="1334118" cy="22133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JetBrains Mono ExtraBold"/>
              </a:rPr>
              <a:t>07:00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-24419" y="2992593"/>
            <a:ext cx="2903850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37" b="1" spc="-9">
                <a:solidFill>
                  <a:srgbClr val="0F172A"/>
                </a:solidFill>
                <a:latin typeface="Plus Jakarta Sans ExtraBold"/>
              </a:rPr>
              <a:t>Guru buka skrin imbasan</a:t>
            </a:r>
          </a:p>
        </p:txBody>
      </p:sp>
      <p:sp>
        <p:nvSpPr>
          <p:cNvPr id="24" name="Oval 23"/>
          <p:cNvSpPr/>
          <p:nvPr/>
        </p:nvSpPr>
        <p:spPr>
          <a:xfrm>
            <a:off x="1322682" y="3668824"/>
            <a:ext cx="209647" cy="20964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1322682" y="3668824"/>
            <a:ext cx="209647" cy="209647"/>
          </a:xfrm>
          <a:prstGeom prst="ellipse">
            <a:avLst/>
          </a:prstGeom>
          <a:noFill/>
          <a:ln w="28588">
            <a:solidFill>
              <a:srgbClr val="00000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1384624" y="3730765"/>
            <a:ext cx="85765" cy="8576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1793" y="4159741"/>
            <a:ext cx="2831426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Plus Jakarta Sans Medium"/>
              </a:rPr>
              <a:t>Skrin dibuka pada telefon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03" y="4359858"/>
            <a:ext cx="2845006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Plus Jakarta Sans Medium"/>
              </a:rPr>
              <a:t>atau tablet. Tiada internet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-271112" y="4559976"/>
            <a:ext cx="3397235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Plus Jakarta Sans Medium"/>
              </a:rPr>
              <a:t>perlu untuk baca senarai murid.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92894" y="2515765"/>
            <a:ext cx="1787718" cy="991059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719694" y="2759279"/>
            <a:ext cx="1334118" cy="22133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JetBrains Mono ExtraBold"/>
              </a:rPr>
              <a:t>07:00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63536" y="2992593"/>
            <a:ext cx="3046434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37" b="1" spc="-9">
                <a:solidFill>
                  <a:srgbClr val="0F172A"/>
                </a:solidFill>
                <a:latin typeface="Plus Jakarta Sans ExtraBold"/>
              </a:rPr>
              <a:t>Murid mengimbas kad QR</a:t>
            </a:r>
          </a:p>
        </p:txBody>
      </p:sp>
      <p:sp>
        <p:nvSpPr>
          <p:cNvPr id="33" name="Oval 32"/>
          <p:cNvSpPr/>
          <p:nvPr/>
        </p:nvSpPr>
        <p:spPr>
          <a:xfrm>
            <a:off x="3281929" y="3668824"/>
            <a:ext cx="209647" cy="20964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3281929" y="3668824"/>
            <a:ext cx="209647" cy="209647"/>
          </a:xfrm>
          <a:prstGeom prst="ellipse">
            <a:avLst/>
          </a:prstGeom>
          <a:noFill/>
          <a:ln w="28588">
            <a:solidFill>
              <a:srgbClr val="00000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3343871" y="3730765"/>
            <a:ext cx="85765" cy="8576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509340" y="4159741"/>
            <a:ext cx="3754826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Plus Jakarta Sans Medium"/>
              </a:rPr>
              <a:t>Kamera mengimbas kod pada kad.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17975" y="4359858"/>
            <a:ext cx="3537556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Plus Jakarta Sans Medium"/>
              </a:rPr>
              <a:t>Nama murid muncul serta-merta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9306" y="4559976"/>
            <a:ext cx="2654894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Plus Jakarta Sans Medium"/>
              </a:rPr>
              <a:t>berserta masa imbasan.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52141" y="2515765"/>
            <a:ext cx="1787718" cy="991059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231297" y="2759279"/>
            <a:ext cx="2229406" cy="22133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JetBrains Mono ExtraBold"/>
              </a:rPr>
              <a:t>Selepas 07:21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5197" y="2992593"/>
            <a:ext cx="1921606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37" b="1" spc="-9">
                <a:solidFill>
                  <a:srgbClr val="0F172A"/>
                </a:solidFill>
                <a:latin typeface="Plus Jakarta Sans ExtraBold"/>
              </a:rPr>
              <a:t>Ditanda LEWAT</a:t>
            </a:r>
          </a:p>
        </p:txBody>
      </p:sp>
      <p:sp>
        <p:nvSpPr>
          <p:cNvPr id="42" name="Oval 41"/>
          <p:cNvSpPr/>
          <p:nvPr/>
        </p:nvSpPr>
        <p:spPr>
          <a:xfrm>
            <a:off x="5241176" y="3668824"/>
            <a:ext cx="209647" cy="20964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5241176" y="3668824"/>
            <a:ext cx="209647" cy="209647"/>
          </a:xfrm>
          <a:prstGeom prst="ellipse">
            <a:avLst/>
          </a:prstGeom>
          <a:noFill/>
          <a:ln w="28588">
            <a:solidFill>
              <a:srgbClr val="00000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5303118" y="3730765"/>
            <a:ext cx="85765" cy="8576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3577222" y="4159741"/>
            <a:ext cx="3537556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Plus Jakarta Sans Medium"/>
              </a:rPr>
              <a:t>Masa cutoff dibaca daripada tab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95085" y="4359858"/>
            <a:ext cx="2301829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Plus Jakarta Sans Medium"/>
              </a:rPr>
              <a:t>Tetapan. Selepas itu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37912" y="4559976"/>
            <a:ext cx="3216176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Plus Jakarta Sans Medium"/>
              </a:rPr>
              <a:t>imbasan dikira sebagai lewat.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11388" y="2515765"/>
            <a:ext cx="1787718" cy="991059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638188" y="2759279"/>
            <a:ext cx="1334118" cy="22133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JetBrains Mono ExtraBold"/>
              </a:rPr>
              <a:t>Petang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42424" y="2992593"/>
            <a:ext cx="3125647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37" b="1" spc="-9">
                <a:solidFill>
                  <a:srgbClr val="0F172A"/>
                </a:solidFill>
                <a:latin typeface="Plus Jakarta Sans ExtraBold"/>
              </a:rPr>
              <a:t>Guru semak dan intervensi</a:t>
            </a:r>
          </a:p>
        </p:txBody>
      </p:sp>
      <p:sp>
        <p:nvSpPr>
          <p:cNvPr id="51" name="Oval 50"/>
          <p:cNvSpPr/>
          <p:nvPr/>
        </p:nvSpPr>
        <p:spPr>
          <a:xfrm>
            <a:off x="7200424" y="3668824"/>
            <a:ext cx="209647" cy="20964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7200424" y="3668824"/>
            <a:ext cx="209647" cy="209647"/>
          </a:xfrm>
          <a:prstGeom prst="ellipse">
            <a:avLst/>
          </a:prstGeom>
          <a:noFill/>
          <a:ln w="28588">
            <a:solidFill>
              <a:srgbClr val="00000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7262365" y="3730765"/>
            <a:ext cx="85765" cy="8576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5645104" y="4159741"/>
            <a:ext cx="3320285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Plus Jakarta Sans Medium"/>
              </a:rPr>
              <a:t>Carta kelas muncul automatik.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08475" y="4359858"/>
            <a:ext cx="3193544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Plus Jakarta Sans Medium"/>
              </a:rPr>
              <a:t>Guru boleh catat nota, status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93225" y="4559976"/>
            <a:ext cx="2424044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Plus Jakarta Sans Medium"/>
              </a:rPr>
              <a:t>dan tindakan susulan.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70635" y="2515765"/>
            <a:ext cx="1787718" cy="991059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8072841" y="2759279"/>
            <a:ext cx="2383306" cy="22133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JetBrains Mono ExtraBold"/>
              </a:rPr>
              <a:t>Bila-bila masa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17392" y="2992593"/>
            <a:ext cx="2494204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37" b="1" spc="-9">
                <a:solidFill>
                  <a:srgbClr val="0F172A"/>
                </a:solidFill>
                <a:latin typeface="Plus Jakarta Sans ExtraBold"/>
              </a:rPr>
              <a:t>Ibu bapa buka portal</a:t>
            </a:r>
          </a:p>
        </p:txBody>
      </p:sp>
      <p:sp>
        <p:nvSpPr>
          <p:cNvPr id="60" name="Oval 59"/>
          <p:cNvSpPr/>
          <p:nvPr/>
        </p:nvSpPr>
        <p:spPr>
          <a:xfrm>
            <a:off x="9159671" y="3668824"/>
            <a:ext cx="209647" cy="20964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9159671" y="3668824"/>
            <a:ext cx="209647" cy="209647"/>
          </a:xfrm>
          <a:prstGeom prst="ellipse">
            <a:avLst/>
          </a:prstGeom>
          <a:noFill/>
          <a:ln w="28588">
            <a:solidFill>
              <a:srgbClr val="00000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9221612" y="3730765"/>
            <a:ext cx="85765" cy="8576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7697144" y="4159741"/>
            <a:ext cx="3134700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Plus Jakarta Sans Medium"/>
              </a:rPr>
              <a:t>Ibu bapa lihat status sebenar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69568" y="4359858"/>
            <a:ext cx="2989853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Plus Jakarta Sans Medium"/>
              </a:rPr>
              <a:t>tanpa login dan tanpa perlu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75279" y="4559976"/>
            <a:ext cx="1378429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Plus Jakarta Sans Medium"/>
              </a:rPr>
              <a:t>tanya guru.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33647" y="6441882"/>
            <a:ext cx="9624706" cy="724235"/>
          </a:xfrm>
          <a:prstGeom prst="roundRect">
            <a:avLst>
              <a:gd name="adj" fmla="val 23684"/>
            </a:avLst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838588" y="6515974"/>
            <a:ext cx="1586647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22D3EE"/>
                </a:solidFill>
                <a:latin typeface="JetBrains Mono ExtraBold"/>
              </a:rPr>
              <a:t>07:21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8588" y="6846215"/>
            <a:ext cx="1527803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MASA CUTOFF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21000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67E8F9"/>
                </a:solidFill>
                <a:latin typeface="JetBrains Mono ExtraBold"/>
              </a:rPr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21000" y="6846215"/>
            <a:ext cx="1672650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LOGIN IBU BAPA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03412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A5B4FC"/>
                </a:solidFill>
                <a:latin typeface="JetBrains Mono ExtraBold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03412" y="6846215"/>
            <a:ext cx="1994029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IMBASAN = 1 REKOD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85824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FCD34D"/>
                </a:solidFill>
                <a:latin typeface="JetBrains Mono ExtraBold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85824" y="6846215"/>
            <a:ext cx="2283724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STATUS: HADIR, LEWAT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63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-1715294" y="-1524706"/>
            <a:ext cx="6289412" cy="4764706"/>
          </a:xfrm>
          <a:prstGeom prst="ellipse">
            <a:avLst/>
          </a:prstGeom>
          <a:gradFill flip="none" rotWithShape="1">
            <a:gsLst>
              <a:gs pos="0">
                <a:srgbClr val="06B6D4">
                  <a:alpha val="16000"/>
                </a:srgbClr>
              </a:gs>
              <a:gs pos="10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6194118" y="4574118"/>
            <a:ext cx="6861176" cy="4955294"/>
          </a:xfrm>
          <a:prstGeom prst="ellipse">
            <a:avLst/>
          </a:prstGeom>
          <a:gradFill flip="none" rotWithShape="1">
            <a:gsLst>
              <a:gs pos="0">
                <a:srgbClr val="8B5CF6">
                  <a:alpha val="14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0692000" cy="66706"/>
          </a:xfrm>
          <a:prstGeom prst="rect">
            <a:avLst/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33647" y="362118"/>
            <a:ext cx="590824" cy="590824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28941" y="457412"/>
            <a:ext cx="400235" cy="400235"/>
          </a:xfrm>
          <a:prstGeom prst="roundRect">
            <a:avLst>
              <a:gd name="adj" fmla="val 2619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Freeform 7"/>
          <p:cNvSpPr/>
          <p:nvPr/>
        </p:nvSpPr>
        <p:spPr>
          <a:xfrm>
            <a:off x="676588" y="543176"/>
            <a:ext cx="181059" cy="171530"/>
          </a:xfrm>
          <a:custGeom>
            <a:avLst/>
            <a:gdLst/>
            <a:ahLst/>
            <a:cxnLst/>
            <a:rect l="l" t="t" r="r" b="b"/>
            <a:pathLst>
              <a:path w="181059" h="171530">
                <a:moveTo>
                  <a:pt x="28588" y="9530"/>
                </a:moveTo>
                <a:lnTo>
                  <a:pt x="123883" y="9530"/>
                </a:lnTo>
                <a:lnTo>
                  <a:pt x="171530" y="57177"/>
                </a:lnTo>
                <a:lnTo>
                  <a:pt x="171530" y="142942"/>
                </a:lnTo>
                <a:lnTo>
                  <a:pt x="177419" y="141269"/>
                </a:lnTo>
                <a:lnTo>
                  <a:pt x="178982" y="143819"/>
                </a:lnTo>
                <a:lnTo>
                  <a:pt x="180126" y="146582"/>
                </a:lnTo>
                <a:lnTo>
                  <a:pt x="180824" y="149490"/>
                </a:lnTo>
                <a:lnTo>
                  <a:pt x="181059" y="152471"/>
                </a:lnTo>
                <a:lnTo>
                  <a:pt x="180824" y="155453"/>
                </a:lnTo>
                <a:lnTo>
                  <a:pt x="180126" y="158361"/>
                </a:lnTo>
                <a:lnTo>
                  <a:pt x="178982" y="161124"/>
                </a:lnTo>
                <a:lnTo>
                  <a:pt x="177419" y="163674"/>
                </a:lnTo>
                <a:lnTo>
                  <a:pt x="175477" y="165948"/>
                </a:lnTo>
                <a:lnTo>
                  <a:pt x="173203" y="167890"/>
                </a:lnTo>
                <a:lnTo>
                  <a:pt x="170653" y="169453"/>
                </a:lnTo>
                <a:lnTo>
                  <a:pt x="167890" y="170597"/>
                </a:lnTo>
                <a:lnTo>
                  <a:pt x="164982" y="171295"/>
                </a:lnTo>
                <a:lnTo>
                  <a:pt x="162000" y="171530"/>
                </a:lnTo>
                <a:lnTo>
                  <a:pt x="159019" y="171295"/>
                </a:lnTo>
                <a:lnTo>
                  <a:pt x="156111" y="170597"/>
                </a:lnTo>
                <a:lnTo>
                  <a:pt x="153348" y="169453"/>
                </a:lnTo>
                <a:lnTo>
                  <a:pt x="150798" y="167890"/>
                </a:lnTo>
                <a:lnTo>
                  <a:pt x="148524" y="165948"/>
                </a:lnTo>
                <a:lnTo>
                  <a:pt x="28588" y="162000"/>
                </a:lnTo>
                <a:lnTo>
                  <a:pt x="30262" y="167890"/>
                </a:lnTo>
                <a:lnTo>
                  <a:pt x="27712" y="169453"/>
                </a:lnTo>
                <a:lnTo>
                  <a:pt x="24949" y="170597"/>
                </a:lnTo>
                <a:lnTo>
                  <a:pt x="22041" y="171295"/>
                </a:lnTo>
                <a:lnTo>
                  <a:pt x="19059" y="171530"/>
                </a:lnTo>
                <a:lnTo>
                  <a:pt x="16078" y="171295"/>
                </a:lnTo>
                <a:lnTo>
                  <a:pt x="13170" y="170597"/>
                </a:lnTo>
                <a:lnTo>
                  <a:pt x="10407" y="169453"/>
                </a:lnTo>
                <a:lnTo>
                  <a:pt x="7857" y="167890"/>
                </a:lnTo>
                <a:lnTo>
                  <a:pt x="5582" y="165948"/>
                </a:lnTo>
                <a:lnTo>
                  <a:pt x="3640" y="163674"/>
                </a:lnTo>
                <a:lnTo>
                  <a:pt x="2078" y="161124"/>
                </a:lnTo>
                <a:lnTo>
                  <a:pt x="933" y="158361"/>
                </a:lnTo>
                <a:lnTo>
                  <a:pt x="235" y="155453"/>
                </a:lnTo>
                <a:lnTo>
                  <a:pt x="0" y="152471"/>
                </a:lnTo>
                <a:lnTo>
                  <a:pt x="235" y="149490"/>
                </a:lnTo>
                <a:lnTo>
                  <a:pt x="933" y="146582"/>
                </a:lnTo>
                <a:lnTo>
                  <a:pt x="2078" y="143819"/>
                </a:lnTo>
                <a:lnTo>
                  <a:pt x="3640" y="141269"/>
                </a:lnTo>
                <a:lnTo>
                  <a:pt x="5582" y="138994"/>
                </a:lnTo>
                <a:lnTo>
                  <a:pt x="9530" y="28589"/>
                </a:lnTo>
                <a:lnTo>
                  <a:pt x="3640" y="30262"/>
                </a:lnTo>
                <a:lnTo>
                  <a:pt x="2078" y="27712"/>
                </a:lnTo>
                <a:lnTo>
                  <a:pt x="933" y="24949"/>
                </a:lnTo>
                <a:lnTo>
                  <a:pt x="235" y="22041"/>
                </a:lnTo>
                <a:lnTo>
                  <a:pt x="0" y="19059"/>
                </a:lnTo>
                <a:lnTo>
                  <a:pt x="235" y="16078"/>
                </a:lnTo>
                <a:lnTo>
                  <a:pt x="933" y="13170"/>
                </a:lnTo>
                <a:lnTo>
                  <a:pt x="2078" y="10407"/>
                </a:lnTo>
                <a:lnTo>
                  <a:pt x="3640" y="7857"/>
                </a:lnTo>
                <a:lnTo>
                  <a:pt x="5582" y="5583"/>
                </a:lnTo>
                <a:lnTo>
                  <a:pt x="7857" y="3640"/>
                </a:lnTo>
                <a:lnTo>
                  <a:pt x="10407" y="2078"/>
                </a:lnTo>
                <a:lnTo>
                  <a:pt x="13170" y="933"/>
                </a:lnTo>
                <a:lnTo>
                  <a:pt x="16078" y="235"/>
                </a:lnTo>
                <a:lnTo>
                  <a:pt x="19059" y="0"/>
                </a:lnTo>
                <a:lnTo>
                  <a:pt x="22041" y="235"/>
                </a:lnTo>
                <a:lnTo>
                  <a:pt x="24949" y="933"/>
                </a:lnTo>
                <a:lnTo>
                  <a:pt x="27712" y="2078"/>
                </a:lnTo>
                <a:lnTo>
                  <a:pt x="30262" y="3640"/>
                </a:lnTo>
                <a:lnTo>
                  <a:pt x="32536" y="5583"/>
                </a:lnTo>
                <a:close/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Freeform 8"/>
          <p:cNvSpPr/>
          <p:nvPr/>
        </p:nvSpPr>
        <p:spPr>
          <a:xfrm>
            <a:off x="800471" y="552706"/>
            <a:ext cx="47647" cy="47647"/>
          </a:xfrm>
          <a:custGeom>
            <a:avLst/>
            <a:gdLst/>
            <a:ahLst/>
            <a:cxnLst/>
            <a:rect l="l" t="t" r="r" b="b"/>
            <a:pathLst>
              <a:path w="47647" h="47647">
                <a:moveTo>
                  <a:pt x="0" y="0"/>
                </a:moveTo>
                <a:lnTo>
                  <a:pt x="0" y="47647"/>
                </a:lnTo>
                <a:lnTo>
                  <a:pt x="47647" y="47647"/>
                </a:lnTo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Freeform 9"/>
          <p:cNvSpPr/>
          <p:nvPr/>
        </p:nvSpPr>
        <p:spPr>
          <a:xfrm>
            <a:off x="724235" y="657529"/>
            <a:ext cx="76236" cy="47647"/>
          </a:xfrm>
          <a:custGeom>
            <a:avLst/>
            <a:gdLst/>
            <a:ahLst/>
            <a:cxnLst/>
            <a:rect l="l" t="t" r="r" b="b"/>
            <a:pathLst>
              <a:path w="76236" h="47647">
                <a:moveTo>
                  <a:pt x="0" y="0"/>
                </a:moveTo>
                <a:lnTo>
                  <a:pt x="76236" y="0"/>
                </a:lnTo>
                <a:lnTo>
                  <a:pt x="0" y="47647"/>
                </a:lnTo>
                <a:lnTo>
                  <a:pt x="57177" y="47647"/>
                </a:lnTo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257882" y="362832"/>
            <a:ext cx="1908026" cy="40257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1" spc="-19">
                <a:solidFill>
                  <a:srgbClr val="0F172A"/>
                </a:solidFill>
                <a:latin typeface="Plus Jakarta Sans ExtraBold"/>
              </a:rPr>
              <a:t>Q-TIBA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7882" y="676946"/>
            <a:ext cx="6126697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64748B"/>
                </a:solidFill>
                <a:latin typeface="Plus Jakarta Sans SemiBold"/>
              </a:rPr>
              <a:t>Dokumentasi Aliran Pembuatan &amp;#183; SK Pulau Indah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4235" y="461633"/>
            <a:ext cx="1334118" cy="2055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75" b="0">
                <a:solidFill>
                  <a:srgbClr val="0891B2"/>
                </a:solidFill>
                <a:latin typeface="JetBrains Mono ExtraBold"/>
              </a:rPr>
              <a:t>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2526" y="667006"/>
            <a:ext cx="2215826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62" b="0">
                <a:solidFill>
                  <a:srgbClr val="64748B"/>
                </a:solidFill>
                <a:latin typeface="Plus Jakarta Sans SemiBold"/>
              </a:rPr>
              <a:t>Pembatas Bahagian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3647" y="1162588"/>
            <a:ext cx="9624706" cy="0"/>
          </a:xfrm>
          <a:prstGeom prst="line">
            <a:avLst/>
          </a:prstGeom>
          <a:ln w="14294">
            <a:solidFill>
              <a:srgbClr val="E2E8F0"/>
            </a:solidFill>
          </a:ln>
        </p:spPr>
      </p:cxnSp>
      <p:sp>
        <p:nvSpPr>
          <p:cNvPr id="16" name="Rounded Rectangle 15"/>
          <p:cNvSpPr/>
          <p:nvPr/>
        </p:nvSpPr>
        <p:spPr>
          <a:xfrm>
            <a:off x="4764706" y="2039294"/>
            <a:ext cx="1162588" cy="285882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4294">
            <a:solidFill>
              <a:srgbClr val="DDD6F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99536" y="2121500"/>
            <a:ext cx="1692929" cy="16907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87" b="1" spc="126">
                <a:solidFill>
                  <a:srgbClr val="0891B2"/>
                </a:solidFill>
                <a:latin typeface="Plus Jakarta Sans ExtraBold"/>
              </a:rPr>
              <a:t>BAHAGIAN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53361" y="2610030"/>
            <a:ext cx="6985278" cy="70852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301" b="1" spc="-66">
                <a:solidFill>
                  <a:srgbClr val="0F172A"/>
                </a:solidFill>
                <a:latin typeface="Plus Jakarta Sans ExtraBold"/>
              </a:rPr>
              <a:t>Lampiran Teknikal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69647" y="3297176"/>
            <a:ext cx="552706" cy="3811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83797" y="3598735"/>
            <a:ext cx="9924406" cy="24154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125" b="0">
                <a:solidFill>
                  <a:srgbClr val="475569"/>
                </a:solidFill>
                <a:latin typeface="Plus Jakarta Sans Medium"/>
              </a:rPr>
              <a:t>Enam slaid seterusnya merangkum seni bina, aliran data, dan mod luar talian.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484" y="3846499"/>
            <a:ext cx="9775032" cy="24154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125" b="0">
                <a:solidFill>
                  <a:srgbClr val="475569"/>
                </a:solidFill>
                <a:latin typeface="Plus Jakarta Sans Medium"/>
              </a:rPr>
              <a:t>Kemudian tetapan, empat fasa keselamatan, dan cara aplikasi ini dideploy.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3647" y="4478824"/>
            <a:ext cx="1477059" cy="104823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695647" y="4698000"/>
            <a:ext cx="324000" cy="324000"/>
          </a:xfrm>
          <a:prstGeom prst="ellipse">
            <a:avLst/>
          </a:prstGeom>
          <a:solidFill>
            <a:srgbClr val="ECFE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90588" y="4802809"/>
            <a:ext cx="1334118" cy="2134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012" b="0">
                <a:solidFill>
                  <a:srgbClr val="000000"/>
                </a:solidFill>
                <a:latin typeface="JetBrains Mono ExtraBold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176" y="5175238"/>
            <a:ext cx="1334118" cy="2173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1" spc="-10">
                <a:solidFill>
                  <a:srgbClr val="0F172A"/>
                </a:solidFill>
                <a:latin typeface="Plus Jakarta Sans ExtraBold"/>
              </a:rPr>
              <a:t>Seni Bina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63176" y="4478824"/>
            <a:ext cx="1477059" cy="104823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2325176" y="4698000"/>
            <a:ext cx="324000" cy="324000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820118" y="4802809"/>
            <a:ext cx="1334118" cy="2134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012" b="0">
                <a:solidFill>
                  <a:srgbClr val="000000"/>
                </a:solidFill>
                <a:latin typeface="JetBrains Mono ExtraBold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4706" y="5175238"/>
            <a:ext cx="1503360" cy="2173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1" spc="-10">
                <a:solidFill>
                  <a:srgbClr val="0F172A"/>
                </a:solidFill>
                <a:latin typeface="Plus Jakarta Sans ExtraBold"/>
              </a:rPr>
              <a:t>Aliran 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92706" y="4478824"/>
            <a:ext cx="1477059" cy="104823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3954706" y="4698000"/>
            <a:ext cx="324000" cy="324000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449647" y="4802809"/>
            <a:ext cx="1334118" cy="2134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012" b="0">
                <a:solidFill>
                  <a:srgbClr val="000000"/>
                </a:solidFill>
                <a:latin typeface="JetBrains Mono ExtraBold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64235" y="5175238"/>
            <a:ext cx="1435463" cy="2173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1" spc="-10">
                <a:solidFill>
                  <a:srgbClr val="0F172A"/>
                </a:solidFill>
                <a:latin typeface="Plus Jakarta Sans ExtraBold"/>
              </a:rPr>
              <a:t>Luar talian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22235" y="4478824"/>
            <a:ext cx="1477059" cy="104823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5584235" y="4698000"/>
            <a:ext cx="324000" cy="324000"/>
          </a:xfrm>
          <a:prstGeom prst="ellipse">
            <a:avLst/>
          </a:prstGeom>
          <a:solidFill>
            <a:srgbClr val="FFFBE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079176" y="4802809"/>
            <a:ext cx="1334118" cy="2134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012" b="0">
                <a:solidFill>
                  <a:srgbClr val="000000"/>
                </a:solidFill>
                <a:latin typeface="JetBrains Mono ExtraBold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93765" y="5175238"/>
            <a:ext cx="1575784" cy="2173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1" spc="-10">
                <a:solidFill>
                  <a:srgbClr val="0F172A"/>
                </a:solidFill>
                <a:latin typeface="Plus Jakarta Sans ExtraBold"/>
              </a:rPr>
              <a:t>Konfigurasi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51765" y="4478824"/>
            <a:ext cx="1477059" cy="104823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7213765" y="4698000"/>
            <a:ext cx="324000" cy="324000"/>
          </a:xfrm>
          <a:prstGeom prst="ellipse">
            <a:avLst/>
          </a:prstGeom>
          <a:solidFill>
            <a:srgbClr val="FFF1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708706" y="4802809"/>
            <a:ext cx="1334118" cy="2134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012" b="0">
                <a:solidFill>
                  <a:srgbClr val="000000"/>
                </a:solidFill>
                <a:latin typeface="JetBrains Mono ExtraBold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294" y="5175238"/>
            <a:ext cx="1774948" cy="2173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1" spc="-10">
                <a:solidFill>
                  <a:srgbClr val="0F172A"/>
                </a:solidFill>
                <a:latin typeface="Plus Jakarta Sans ExtraBold"/>
              </a:rPr>
              <a:t>Keselamatan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1294" y="4478824"/>
            <a:ext cx="1477059" cy="104823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8843294" y="4698000"/>
            <a:ext cx="324000" cy="324000"/>
          </a:xfrm>
          <a:prstGeom prst="ellipse">
            <a:avLst/>
          </a:prstGeom>
          <a:solidFill>
            <a:srgbClr val="F8FAF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338235" y="4802809"/>
            <a:ext cx="1334118" cy="2134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012" b="0">
                <a:solidFill>
                  <a:srgbClr val="000000"/>
                </a:solidFill>
                <a:latin typeface="JetBrains Mono ExtraBold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52824" y="5175238"/>
            <a:ext cx="1334118" cy="2173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1" spc="-10">
                <a:solidFill>
                  <a:srgbClr val="0F172A"/>
                </a:solidFill>
                <a:latin typeface="Plus Jakarta Sans ExtraBold"/>
              </a:rPr>
              <a:t>Deploy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3647" y="6441882"/>
            <a:ext cx="9624706" cy="724235"/>
          </a:xfrm>
          <a:prstGeom prst="roundRect">
            <a:avLst>
              <a:gd name="adj" fmla="val 23684"/>
            </a:avLst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38588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22D3EE"/>
                </a:solidFill>
                <a:latin typeface="JetBrains Mono ExtraBold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588" y="6846215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LAYER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24518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67E8F9"/>
                </a:solidFill>
                <a:latin typeface="JetBrains Mono ExtraBold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24518" y="6846215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PROXY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10447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A5B4FC"/>
                </a:solidFill>
                <a:latin typeface="JetBrains Mono ExtraBold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10447" y="6846215"/>
            <a:ext cx="163643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GOOGLE SHEET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96376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FCD34D"/>
                </a:solidFill>
                <a:latin typeface="JetBrains Mono ExtraBold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96376" y="6846215"/>
            <a:ext cx="13422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ARAS AKSES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82306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86EFAC"/>
                </a:solidFill>
                <a:latin typeface="JetBrains Mono ExtraBold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82306" y="6846215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FASA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63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-1715294" y="-1524706"/>
            <a:ext cx="6289412" cy="4764706"/>
          </a:xfrm>
          <a:prstGeom prst="ellipse">
            <a:avLst/>
          </a:prstGeom>
          <a:gradFill flip="none" rotWithShape="1">
            <a:gsLst>
              <a:gs pos="0">
                <a:srgbClr val="06B6D4">
                  <a:alpha val="16000"/>
                </a:srgbClr>
              </a:gs>
              <a:gs pos="10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6194118" y="4574118"/>
            <a:ext cx="6861176" cy="4955294"/>
          </a:xfrm>
          <a:prstGeom prst="ellipse">
            <a:avLst/>
          </a:prstGeom>
          <a:gradFill flip="none" rotWithShape="1">
            <a:gsLst>
              <a:gs pos="0">
                <a:srgbClr val="8B5CF6">
                  <a:alpha val="14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0692000" cy="66706"/>
          </a:xfrm>
          <a:prstGeom prst="rect">
            <a:avLst/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33647" y="362118"/>
            <a:ext cx="590824" cy="590824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28941" y="457412"/>
            <a:ext cx="400235" cy="400235"/>
          </a:xfrm>
          <a:prstGeom prst="roundRect">
            <a:avLst>
              <a:gd name="adj" fmla="val 2619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Freeform 7"/>
          <p:cNvSpPr/>
          <p:nvPr/>
        </p:nvSpPr>
        <p:spPr>
          <a:xfrm>
            <a:off x="676588" y="543176"/>
            <a:ext cx="181059" cy="171530"/>
          </a:xfrm>
          <a:custGeom>
            <a:avLst/>
            <a:gdLst/>
            <a:ahLst/>
            <a:cxnLst/>
            <a:rect l="l" t="t" r="r" b="b"/>
            <a:pathLst>
              <a:path w="181059" h="171530">
                <a:moveTo>
                  <a:pt x="28588" y="9530"/>
                </a:moveTo>
                <a:lnTo>
                  <a:pt x="123883" y="9530"/>
                </a:lnTo>
                <a:lnTo>
                  <a:pt x="171530" y="57177"/>
                </a:lnTo>
                <a:lnTo>
                  <a:pt x="171530" y="142942"/>
                </a:lnTo>
                <a:lnTo>
                  <a:pt x="177419" y="141269"/>
                </a:lnTo>
                <a:lnTo>
                  <a:pt x="178982" y="143819"/>
                </a:lnTo>
                <a:lnTo>
                  <a:pt x="180126" y="146582"/>
                </a:lnTo>
                <a:lnTo>
                  <a:pt x="180824" y="149490"/>
                </a:lnTo>
                <a:lnTo>
                  <a:pt x="181059" y="152471"/>
                </a:lnTo>
                <a:lnTo>
                  <a:pt x="180824" y="155453"/>
                </a:lnTo>
                <a:lnTo>
                  <a:pt x="180126" y="158361"/>
                </a:lnTo>
                <a:lnTo>
                  <a:pt x="178982" y="161124"/>
                </a:lnTo>
                <a:lnTo>
                  <a:pt x="177419" y="163674"/>
                </a:lnTo>
                <a:lnTo>
                  <a:pt x="175477" y="165948"/>
                </a:lnTo>
                <a:lnTo>
                  <a:pt x="173203" y="167890"/>
                </a:lnTo>
                <a:lnTo>
                  <a:pt x="170653" y="169453"/>
                </a:lnTo>
                <a:lnTo>
                  <a:pt x="167890" y="170597"/>
                </a:lnTo>
                <a:lnTo>
                  <a:pt x="164982" y="171295"/>
                </a:lnTo>
                <a:lnTo>
                  <a:pt x="162000" y="171530"/>
                </a:lnTo>
                <a:lnTo>
                  <a:pt x="159019" y="171295"/>
                </a:lnTo>
                <a:lnTo>
                  <a:pt x="156111" y="170597"/>
                </a:lnTo>
                <a:lnTo>
                  <a:pt x="153348" y="169453"/>
                </a:lnTo>
                <a:lnTo>
                  <a:pt x="150798" y="167890"/>
                </a:lnTo>
                <a:lnTo>
                  <a:pt x="148524" y="165948"/>
                </a:lnTo>
                <a:lnTo>
                  <a:pt x="28588" y="162000"/>
                </a:lnTo>
                <a:lnTo>
                  <a:pt x="30262" y="167890"/>
                </a:lnTo>
                <a:lnTo>
                  <a:pt x="27712" y="169453"/>
                </a:lnTo>
                <a:lnTo>
                  <a:pt x="24949" y="170597"/>
                </a:lnTo>
                <a:lnTo>
                  <a:pt x="22041" y="171295"/>
                </a:lnTo>
                <a:lnTo>
                  <a:pt x="19059" y="171530"/>
                </a:lnTo>
                <a:lnTo>
                  <a:pt x="16078" y="171295"/>
                </a:lnTo>
                <a:lnTo>
                  <a:pt x="13170" y="170597"/>
                </a:lnTo>
                <a:lnTo>
                  <a:pt x="10407" y="169453"/>
                </a:lnTo>
                <a:lnTo>
                  <a:pt x="7857" y="167890"/>
                </a:lnTo>
                <a:lnTo>
                  <a:pt x="5582" y="165948"/>
                </a:lnTo>
                <a:lnTo>
                  <a:pt x="3640" y="163674"/>
                </a:lnTo>
                <a:lnTo>
                  <a:pt x="2078" y="161124"/>
                </a:lnTo>
                <a:lnTo>
                  <a:pt x="933" y="158361"/>
                </a:lnTo>
                <a:lnTo>
                  <a:pt x="235" y="155453"/>
                </a:lnTo>
                <a:lnTo>
                  <a:pt x="0" y="152471"/>
                </a:lnTo>
                <a:lnTo>
                  <a:pt x="235" y="149490"/>
                </a:lnTo>
                <a:lnTo>
                  <a:pt x="933" y="146582"/>
                </a:lnTo>
                <a:lnTo>
                  <a:pt x="2078" y="143819"/>
                </a:lnTo>
                <a:lnTo>
                  <a:pt x="3640" y="141269"/>
                </a:lnTo>
                <a:lnTo>
                  <a:pt x="5582" y="138994"/>
                </a:lnTo>
                <a:lnTo>
                  <a:pt x="9530" y="28589"/>
                </a:lnTo>
                <a:lnTo>
                  <a:pt x="3640" y="30262"/>
                </a:lnTo>
                <a:lnTo>
                  <a:pt x="2078" y="27712"/>
                </a:lnTo>
                <a:lnTo>
                  <a:pt x="933" y="24949"/>
                </a:lnTo>
                <a:lnTo>
                  <a:pt x="235" y="22041"/>
                </a:lnTo>
                <a:lnTo>
                  <a:pt x="0" y="19059"/>
                </a:lnTo>
                <a:lnTo>
                  <a:pt x="235" y="16078"/>
                </a:lnTo>
                <a:lnTo>
                  <a:pt x="933" y="13170"/>
                </a:lnTo>
                <a:lnTo>
                  <a:pt x="2078" y="10407"/>
                </a:lnTo>
                <a:lnTo>
                  <a:pt x="3640" y="7857"/>
                </a:lnTo>
                <a:lnTo>
                  <a:pt x="5582" y="5583"/>
                </a:lnTo>
                <a:lnTo>
                  <a:pt x="7857" y="3640"/>
                </a:lnTo>
                <a:lnTo>
                  <a:pt x="10407" y="2078"/>
                </a:lnTo>
                <a:lnTo>
                  <a:pt x="13170" y="933"/>
                </a:lnTo>
                <a:lnTo>
                  <a:pt x="16078" y="235"/>
                </a:lnTo>
                <a:lnTo>
                  <a:pt x="19059" y="0"/>
                </a:lnTo>
                <a:lnTo>
                  <a:pt x="22041" y="235"/>
                </a:lnTo>
                <a:lnTo>
                  <a:pt x="24949" y="933"/>
                </a:lnTo>
                <a:lnTo>
                  <a:pt x="27712" y="2078"/>
                </a:lnTo>
                <a:lnTo>
                  <a:pt x="30262" y="3640"/>
                </a:lnTo>
                <a:lnTo>
                  <a:pt x="32536" y="5583"/>
                </a:lnTo>
                <a:close/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Freeform 8"/>
          <p:cNvSpPr/>
          <p:nvPr/>
        </p:nvSpPr>
        <p:spPr>
          <a:xfrm>
            <a:off x="800471" y="552706"/>
            <a:ext cx="47647" cy="47647"/>
          </a:xfrm>
          <a:custGeom>
            <a:avLst/>
            <a:gdLst/>
            <a:ahLst/>
            <a:cxnLst/>
            <a:rect l="l" t="t" r="r" b="b"/>
            <a:pathLst>
              <a:path w="47647" h="47647">
                <a:moveTo>
                  <a:pt x="0" y="0"/>
                </a:moveTo>
                <a:lnTo>
                  <a:pt x="0" y="47647"/>
                </a:lnTo>
                <a:lnTo>
                  <a:pt x="47647" y="47647"/>
                </a:lnTo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Freeform 9"/>
          <p:cNvSpPr/>
          <p:nvPr/>
        </p:nvSpPr>
        <p:spPr>
          <a:xfrm>
            <a:off x="724235" y="657529"/>
            <a:ext cx="76236" cy="47647"/>
          </a:xfrm>
          <a:custGeom>
            <a:avLst/>
            <a:gdLst/>
            <a:ahLst/>
            <a:cxnLst/>
            <a:rect l="l" t="t" r="r" b="b"/>
            <a:pathLst>
              <a:path w="76236" h="47647">
                <a:moveTo>
                  <a:pt x="0" y="0"/>
                </a:moveTo>
                <a:lnTo>
                  <a:pt x="76236" y="0"/>
                </a:lnTo>
                <a:lnTo>
                  <a:pt x="0" y="47647"/>
                </a:lnTo>
                <a:lnTo>
                  <a:pt x="57177" y="47647"/>
                </a:lnTo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257882" y="362832"/>
            <a:ext cx="1908026" cy="40257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1" spc="-19">
                <a:solidFill>
                  <a:srgbClr val="0F172A"/>
                </a:solidFill>
                <a:latin typeface="Plus Jakarta Sans ExtraBold"/>
              </a:rPr>
              <a:t>Q-TIBA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7882" y="676946"/>
            <a:ext cx="6126697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64748B"/>
                </a:solidFill>
                <a:latin typeface="Plus Jakarta Sans SemiBold"/>
              </a:rPr>
              <a:t>Dokumentasi Aliran Pembuatan &amp;#183; SK Pulau Indah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4235" y="461633"/>
            <a:ext cx="1334118" cy="2055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75" b="0">
                <a:solidFill>
                  <a:srgbClr val="0891B2"/>
                </a:solidFill>
                <a:latin typeface="JetBrains Mono ExtraBold"/>
              </a:rPr>
              <a:t>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4235" y="667006"/>
            <a:ext cx="1334118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62" b="0">
                <a:solidFill>
                  <a:srgbClr val="64748B"/>
                </a:solidFill>
                <a:latin typeface="Plus Jakarta Sans SemiBold"/>
              </a:rPr>
              <a:t>Seni Bina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3647" y="1162588"/>
            <a:ext cx="9624706" cy="0"/>
          </a:xfrm>
          <a:prstGeom prst="line">
            <a:avLst/>
          </a:prstGeom>
          <a:ln w="14294">
            <a:solidFill>
              <a:srgbClr val="E2E8F0"/>
            </a:solidFill>
          </a:ln>
        </p:spPr>
      </p:cxnSp>
      <p:sp>
        <p:nvSpPr>
          <p:cNvPr id="16" name="Rounded Rectangle 15"/>
          <p:cNvSpPr/>
          <p:nvPr/>
        </p:nvSpPr>
        <p:spPr>
          <a:xfrm>
            <a:off x="533647" y="1486588"/>
            <a:ext cx="1238824" cy="285882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 w="14294">
            <a:solidFill>
              <a:srgbClr val="A5F3F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8545" y="1568794"/>
            <a:ext cx="1409028" cy="16907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87" b="1" spc="126">
                <a:solidFill>
                  <a:srgbClr val="0891B2"/>
                </a:solidFill>
                <a:latin typeface="Plus Jakarta Sans ExtraBold"/>
              </a:rPr>
              <a:t>SENI BINA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647" y="1709348"/>
            <a:ext cx="6581879" cy="51529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401" b="1" spc="-48">
                <a:solidFill>
                  <a:srgbClr val="0F172A"/>
                </a:solidFill>
                <a:latin typeface="Plus Jakarta Sans ExtraBold"/>
              </a:rPr>
              <a:t>Lima lapisan, satu aliran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647" y="2163944"/>
            <a:ext cx="6873565" cy="2173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0">
                <a:solidFill>
                  <a:srgbClr val="475569"/>
                </a:solidFill>
                <a:latin typeface="Plus Jakarta Sans Medium"/>
              </a:rPr>
              <a:t>Tiada pangkalan data baharu, tiada pelayan dibina sendiri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3647" y="2744471"/>
            <a:ext cx="9624706" cy="628941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533647" y="2744471"/>
            <a:ext cx="47647" cy="62894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790941" y="2858824"/>
            <a:ext cx="400235" cy="400235"/>
          </a:xfrm>
          <a:prstGeom prst="ellipse">
            <a:avLst/>
          </a:prstGeom>
          <a:solidFill>
            <a:srgbClr val="ECFE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24000" y="2972100"/>
            <a:ext cx="1334118" cy="26875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275" b="0">
                <a:solidFill>
                  <a:srgbClr val="000000"/>
                </a:solidFill>
                <a:latin typeface="JetBrains Mono ExtraBold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176" y="2908057"/>
            <a:ext cx="1334118" cy="2495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63" b="1" spc="-12">
                <a:solidFill>
                  <a:srgbClr val="0F172A"/>
                </a:solidFill>
                <a:latin typeface="Plus Jakarta Sans ExtraBold"/>
              </a:rPr>
              <a:t>Pelayar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176" y="3154593"/>
            <a:ext cx="4497168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Lima skrin HTML statik, tiada framework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3647" y="3449647"/>
            <a:ext cx="9624706" cy="628941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533647" y="3449647"/>
            <a:ext cx="47647" cy="62894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790941" y="3564000"/>
            <a:ext cx="400235" cy="400235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24000" y="3677276"/>
            <a:ext cx="1334118" cy="26875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275" b="0">
                <a:solidFill>
                  <a:srgbClr val="000000"/>
                </a:solidFill>
                <a:latin typeface="JetBrains Mono ExtraBold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176" y="3613234"/>
            <a:ext cx="1334118" cy="2495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63" b="1" spc="-12">
                <a:solidFill>
                  <a:srgbClr val="0F172A"/>
                </a:solidFill>
                <a:latin typeface="Plus Jakarta Sans ExtraBold"/>
              </a:rPr>
              <a:t>Peranti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53176" y="3859769"/>
            <a:ext cx="4030941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Service Worker, localStorage, PWA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3647" y="4154824"/>
            <a:ext cx="9624706" cy="628941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533647" y="4154824"/>
            <a:ext cx="47647" cy="62894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790941" y="4269176"/>
            <a:ext cx="400235" cy="400235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24000" y="4382453"/>
            <a:ext cx="1334118" cy="26875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275" b="0">
                <a:solidFill>
                  <a:srgbClr val="000000"/>
                </a:solidFill>
                <a:latin typeface="JetBrains Mono ExtraBold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53176" y="4318410"/>
            <a:ext cx="1334118" cy="2495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63" b="1" spc="-12">
                <a:solidFill>
                  <a:srgbClr val="0F172A"/>
                </a:solidFill>
                <a:latin typeface="Plus Jakarta Sans ExtraBold"/>
              </a:rPr>
              <a:t>Proksi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53176" y="4564946"/>
            <a:ext cx="5343618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functions/api/exec.js, kunci dan tiga aras akses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3647" y="4860000"/>
            <a:ext cx="9624706" cy="628941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533647" y="4860000"/>
            <a:ext cx="47647" cy="62894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790941" y="4974353"/>
            <a:ext cx="400235" cy="400235"/>
          </a:xfrm>
          <a:prstGeom prst="ellipse">
            <a:avLst/>
          </a:prstGeom>
          <a:solidFill>
            <a:srgbClr val="FFFBE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24000" y="5087629"/>
            <a:ext cx="1334118" cy="26875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275" b="0">
                <a:solidFill>
                  <a:srgbClr val="000000"/>
                </a:solidFill>
                <a:latin typeface="JetBrains Mono ExtraBold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53176" y="5023587"/>
            <a:ext cx="1434014" cy="2495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63" b="1" spc="-12">
                <a:solidFill>
                  <a:srgbClr val="0F172A"/>
                </a:solidFill>
                <a:latin typeface="Plus Jakarta Sans ExtraBold"/>
              </a:rPr>
              <a:t>Backend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53176" y="5270122"/>
            <a:ext cx="4868338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Apps Script, doGet dan doPost, 1,250 baris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3647" y="5565176"/>
            <a:ext cx="9624706" cy="628941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533647" y="5565176"/>
            <a:ext cx="47647" cy="62894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790941" y="5679529"/>
            <a:ext cx="400235" cy="400235"/>
          </a:xfrm>
          <a:prstGeom prst="ellipse">
            <a:avLst/>
          </a:prstGeom>
          <a:solidFill>
            <a:srgbClr val="FFF1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24000" y="5792806"/>
            <a:ext cx="1334118" cy="26875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275" b="0">
                <a:solidFill>
                  <a:srgbClr val="000000"/>
                </a:solidFill>
                <a:latin typeface="JetBrains Mono ExtraBold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53176" y="5728763"/>
            <a:ext cx="1334118" cy="24959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63" b="1" spc="-12">
                <a:solidFill>
                  <a:srgbClr val="0F172A"/>
                </a:solidFill>
                <a:latin typeface="Plus Jakarta Sans ExtraBold"/>
              </a:rPr>
              <a:t>Storan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53176" y="5975299"/>
            <a:ext cx="4515274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Google Sheet, 5 tab, sumber kebenaran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33647" y="6441882"/>
            <a:ext cx="9624706" cy="724235"/>
          </a:xfrm>
          <a:prstGeom prst="roundRect">
            <a:avLst>
              <a:gd name="adj" fmla="val 23684"/>
            </a:avLst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38588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22D3EE"/>
                </a:solidFill>
                <a:latin typeface="JetBrains Mono ExtraBold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588" y="6846215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SKRIN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24518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67E8F9"/>
                </a:solidFill>
                <a:latin typeface="JetBrains Mono ExtraBold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24518" y="6846215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PROXY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10447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A5B4FC"/>
                </a:solidFill>
                <a:latin typeface="JetBrains Mono ExtraBold"/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10447" y="6846215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SHEET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96376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FCD34D"/>
                </a:solidFill>
                <a:latin typeface="JetBrains Mono ExtraBold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96376" y="6846215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TAB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82306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86EFAC"/>
                </a:solidFill>
                <a:latin typeface="JetBrains Mono ExtraBold"/>
              </a:rPr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82306" y="6846215"/>
            <a:ext cx="2410465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PANGKALAN DATA BARU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63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-1715294" y="-1524706"/>
            <a:ext cx="6289412" cy="4764706"/>
          </a:xfrm>
          <a:prstGeom prst="ellipse">
            <a:avLst/>
          </a:prstGeom>
          <a:gradFill flip="none" rotWithShape="1">
            <a:gsLst>
              <a:gs pos="0">
                <a:srgbClr val="06B6D4">
                  <a:alpha val="16000"/>
                </a:srgbClr>
              </a:gs>
              <a:gs pos="10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6194118" y="4574118"/>
            <a:ext cx="6861176" cy="4955294"/>
          </a:xfrm>
          <a:prstGeom prst="ellipse">
            <a:avLst/>
          </a:prstGeom>
          <a:gradFill flip="none" rotWithShape="1">
            <a:gsLst>
              <a:gs pos="0">
                <a:srgbClr val="8B5CF6">
                  <a:alpha val="14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0692000" cy="66706"/>
          </a:xfrm>
          <a:prstGeom prst="rect">
            <a:avLst/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33647" y="362118"/>
            <a:ext cx="590824" cy="590824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28941" y="457412"/>
            <a:ext cx="400235" cy="400235"/>
          </a:xfrm>
          <a:prstGeom prst="roundRect">
            <a:avLst>
              <a:gd name="adj" fmla="val 2619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Freeform 7"/>
          <p:cNvSpPr/>
          <p:nvPr/>
        </p:nvSpPr>
        <p:spPr>
          <a:xfrm>
            <a:off x="676588" y="543176"/>
            <a:ext cx="181059" cy="171530"/>
          </a:xfrm>
          <a:custGeom>
            <a:avLst/>
            <a:gdLst/>
            <a:ahLst/>
            <a:cxnLst/>
            <a:rect l="l" t="t" r="r" b="b"/>
            <a:pathLst>
              <a:path w="181059" h="171530">
                <a:moveTo>
                  <a:pt x="28588" y="9530"/>
                </a:moveTo>
                <a:lnTo>
                  <a:pt x="123883" y="9530"/>
                </a:lnTo>
                <a:lnTo>
                  <a:pt x="171530" y="57177"/>
                </a:lnTo>
                <a:lnTo>
                  <a:pt x="171530" y="142942"/>
                </a:lnTo>
                <a:lnTo>
                  <a:pt x="177419" y="141269"/>
                </a:lnTo>
                <a:lnTo>
                  <a:pt x="178982" y="143819"/>
                </a:lnTo>
                <a:lnTo>
                  <a:pt x="180126" y="146582"/>
                </a:lnTo>
                <a:lnTo>
                  <a:pt x="180824" y="149490"/>
                </a:lnTo>
                <a:lnTo>
                  <a:pt x="181059" y="152471"/>
                </a:lnTo>
                <a:lnTo>
                  <a:pt x="180824" y="155453"/>
                </a:lnTo>
                <a:lnTo>
                  <a:pt x="180126" y="158361"/>
                </a:lnTo>
                <a:lnTo>
                  <a:pt x="178982" y="161124"/>
                </a:lnTo>
                <a:lnTo>
                  <a:pt x="177419" y="163674"/>
                </a:lnTo>
                <a:lnTo>
                  <a:pt x="175477" y="165948"/>
                </a:lnTo>
                <a:lnTo>
                  <a:pt x="173203" y="167890"/>
                </a:lnTo>
                <a:lnTo>
                  <a:pt x="170653" y="169453"/>
                </a:lnTo>
                <a:lnTo>
                  <a:pt x="167890" y="170597"/>
                </a:lnTo>
                <a:lnTo>
                  <a:pt x="164982" y="171295"/>
                </a:lnTo>
                <a:lnTo>
                  <a:pt x="162000" y="171530"/>
                </a:lnTo>
                <a:lnTo>
                  <a:pt x="159019" y="171295"/>
                </a:lnTo>
                <a:lnTo>
                  <a:pt x="156111" y="170597"/>
                </a:lnTo>
                <a:lnTo>
                  <a:pt x="153348" y="169453"/>
                </a:lnTo>
                <a:lnTo>
                  <a:pt x="150798" y="167890"/>
                </a:lnTo>
                <a:lnTo>
                  <a:pt x="148524" y="165948"/>
                </a:lnTo>
                <a:lnTo>
                  <a:pt x="28588" y="162000"/>
                </a:lnTo>
                <a:lnTo>
                  <a:pt x="30262" y="167890"/>
                </a:lnTo>
                <a:lnTo>
                  <a:pt x="27712" y="169453"/>
                </a:lnTo>
                <a:lnTo>
                  <a:pt x="24949" y="170597"/>
                </a:lnTo>
                <a:lnTo>
                  <a:pt x="22041" y="171295"/>
                </a:lnTo>
                <a:lnTo>
                  <a:pt x="19059" y="171530"/>
                </a:lnTo>
                <a:lnTo>
                  <a:pt x="16078" y="171295"/>
                </a:lnTo>
                <a:lnTo>
                  <a:pt x="13170" y="170597"/>
                </a:lnTo>
                <a:lnTo>
                  <a:pt x="10407" y="169453"/>
                </a:lnTo>
                <a:lnTo>
                  <a:pt x="7857" y="167890"/>
                </a:lnTo>
                <a:lnTo>
                  <a:pt x="5582" y="165948"/>
                </a:lnTo>
                <a:lnTo>
                  <a:pt x="3640" y="163674"/>
                </a:lnTo>
                <a:lnTo>
                  <a:pt x="2078" y="161124"/>
                </a:lnTo>
                <a:lnTo>
                  <a:pt x="933" y="158361"/>
                </a:lnTo>
                <a:lnTo>
                  <a:pt x="235" y="155453"/>
                </a:lnTo>
                <a:lnTo>
                  <a:pt x="0" y="152471"/>
                </a:lnTo>
                <a:lnTo>
                  <a:pt x="235" y="149490"/>
                </a:lnTo>
                <a:lnTo>
                  <a:pt x="933" y="146582"/>
                </a:lnTo>
                <a:lnTo>
                  <a:pt x="2078" y="143819"/>
                </a:lnTo>
                <a:lnTo>
                  <a:pt x="3640" y="141269"/>
                </a:lnTo>
                <a:lnTo>
                  <a:pt x="5582" y="138994"/>
                </a:lnTo>
                <a:lnTo>
                  <a:pt x="9530" y="28589"/>
                </a:lnTo>
                <a:lnTo>
                  <a:pt x="3640" y="30262"/>
                </a:lnTo>
                <a:lnTo>
                  <a:pt x="2078" y="27712"/>
                </a:lnTo>
                <a:lnTo>
                  <a:pt x="933" y="24949"/>
                </a:lnTo>
                <a:lnTo>
                  <a:pt x="235" y="22041"/>
                </a:lnTo>
                <a:lnTo>
                  <a:pt x="0" y="19059"/>
                </a:lnTo>
                <a:lnTo>
                  <a:pt x="235" y="16078"/>
                </a:lnTo>
                <a:lnTo>
                  <a:pt x="933" y="13170"/>
                </a:lnTo>
                <a:lnTo>
                  <a:pt x="2078" y="10407"/>
                </a:lnTo>
                <a:lnTo>
                  <a:pt x="3640" y="7857"/>
                </a:lnTo>
                <a:lnTo>
                  <a:pt x="5582" y="5583"/>
                </a:lnTo>
                <a:lnTo>
                  <a:pt x="7857" y="3640"/>
                </a:lnTo>
                <a:lnTo>
                  <a:pt x="10407" y="2078"/>
                </a:lnTo>
                <a:lnTo>
                  <a:pt x="13170" y="933"/>
                </a:lnTo>
                <a:lnTo>
                  <a:pt x="16078" y="235"/>
                </a:lnTo>
                <a:lnTo>
                  <a:pt x="19059" y="0"/>
                </a:lnTo>
                <a:lnTo>
                  <a:pt x="22041" y="235"/>
                </a:lnTo>
                <a:lnTo>
                  <a:pt x="24949" y="933"/>
                </a:lnTo>
                <a:lnTo>
                  <a:pt x="27712" y="2078"/>
                </a:lnTo>
                <a:lnTo>
                  <a:pt x="30262" y="3640"/>
                </a:lnTo>
                <a:lnTo>
                  <a:pt x="32536" y="5583"/>
                </a:lnTo>
                <a:close/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Freeform 8"/>
          <p:cNvSpPr/>
          <p:nvPr/>
        </p:nvSpPr>
        <p:spPr>
          <a:xfrm>
            <a:off x="800471" y="552706"/>
            <a:ext cx="47647" cy="47647"/>
          </a:xfrm>
          <a:custGeom>
            <a:avLst/>
            <a:gdLst/>
            <a:ahLst/>
            <a:cxnLst/>
            <a:rect l="l" t="t" r="r" b="b"/>
            <a:pathLst>
              <a:path w="47647" h="47647">
                <a:moveTo>
                  <a:pt x="0" y="0"/>
                </a:moveTo>
                <a:lnTo>
                  <a:pt x="0" y="47647"/>
                </a:lnTo>
                <a:lnTo>
                  <a:pt x="47647" y="47647"/>
                </a:lnTo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Freeform 9"/>
          <p:cNvSpPr/>
          <p:nvPr/>
        </p:nvSpPr>
        <p:spPr>
          <a:xfrm>
            <a:off x="724235" y="657529"/>
            <a:ext cx="76236" cy="47647"/>
          </a:xfrm>
          <a:custGeom>
            <a:avLst/>
            <a:gdLst/>
            <a:ahLst/>
            <a:cxnLst/>
            <a:rect l="l" t="t" r="r" b="b"/>
            <a:pathLst>
              <a:path w="76236" h="47647">
                <a:moveTo>
                  <a:pt x="0" y="0"/>
                </a:moveTo>
                <a:lnTo>
                  <a:pt x="76236" y="0"/>
                </a:lnTo>
                <a:lnTo>
                  <a:pt x="0" y="47647"/>
                </a:lnTo>
                <a:lnTo>
                  <a:pt x="57177" y="47647"/>
                </a:lnTo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257882" y="362832"/>
            <a:ext cx="1908026" cy="40257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1" spc="-19">
                <a:solidFill>
                  <a:srgbClr val="0F172A"/>
                </a:solidFill>
                <a:latin typeface="Plus Jakarta Sans ExtraBold"/>
              </a:rPr>
              <a:t>Q-TIBA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7882" y="676946"/>
            <a:ext cx="6126697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64748B"/>
                </a:solidFill>
                <a:latin typeface="Plus Jakarta Sans SemiBold"/>
              </a:rPr>
              <a:t>Dokumentasi Aliran Pembuatan &amp;#183; SK Pulau Indah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4235" y="461633"/>
            <a:ext cx="1334118" cy="2055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75" b="0">
                <a:solidFill>
                  <a:srgbClr val="0891B2"/>
                </a:solidFill>
                <a:latin typeface="JetBrains Mono ExtraBold"/>
              </a:rPr>
              <a:t>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4235" y="667006"/>
            <a:ext cx="1334118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62" b="0">
                <a:solidFill>
                  <a:srgbClr val="64748B"/>
                </a:solidFill>
                <a:latin typeface="Plus Jakarta Sans SemiBold"/>
              </a:rPr>
              <a:t>Aliran Data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3647" y="1162588"/>
            <a:ext cx="9624706" cy="0"/>
          </a:xfrm>
          <a:prstGeom prst="line">
            <a:avLst/>
          </a:prstGeom>
          <a:ln w="14294">
            <a:solidFill>
              <a:srgbClr val="E2E8F0"/>
            </a:solidFill>
          </a:ln>
        </p:spPr>
      </p:cxnSp>
      <p:sp>
        <p:nvSpPr>
          <p:cNvPr id="16" name="Rounded Rectangle 15"/>
          <p:cNvSpPr/>
          <p:nvPr/>
        </p:nvSpPr>
        <p:spPr>
          <a:xfrm>
            <a:off x="533647" y="1486588"/>
            <a:ext cx="1524706" cy="285882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 w="14294">
            <a:solidFill>
              <a:srgbClr val="A5F3F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91325" y="1568794"/>
            <a:ext cx="1809349" cy="16907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87" b="1" spc="126">
                <a:solidFill>
                  <a:srgbClr val="0891B2"/>
                </a:solidFill>
                <a:latin typeface="Plus Jakarta Sans ExtraBold"/>
              </a:rPr>
              <a:t>ALIRAN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647" y="1709348"/>
            <a:ext cx="8909390" cy="51529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401" b="1" spc="-48">
                <a:solidFill>
                  <a:srgbClr val="0F172A"/>
                </a:solidFill>
                <a:latin typeface="Plus Jakarta Sans ExtraBold"/>
              </a:rPr>
              <a:t>Satu imbasan, sembilan langkah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3647" y="2382353"/>
            <a:ext cx="3106588" cy="1162588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86118" y="2534824"/>
            <a:ext cx="304941" cy="304941"/>
          </a:xfrm>
          <a:prstGeom prst="ellipse">
            <a:avLst/>
          </a:prstGeom>
          <a:solidFill>
            <a:srgbClr val="ECFE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71529" y="2624810"/>
            <a:ext cx="1334118" cy="2055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75" b="0">
                <a:solidFill>
                  <a:srgbClr val="000000"/>
                </a:solidFill>
                <a:latin typeface="JetBrains Mono ExtraBold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7294" y="2540150"/>
            <a:ext cx="2101397" cy="2093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75" b="1" spc="-10">
                <a:solidFill>
                  <a:srgbClr val="0F172A"/>
                </a:solidFill>
                <a:latin typeface="Plus Jakarta Sans ExtraBold"/>
              </a:rPr>
              <a:t>Pelajar menekan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7294" y="2737047"/>
            <a:ext cx="1334118" cy="17390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25" b="0">
                <a:solidFill>
                  <a:srgbClr val="000000"/>
                </a:solidFill>
                <a:latin typeface="JetBrains Mono"/>
              </a:rPr>
              <a:t>imbas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35" y="3020771"/>
            <a:ext cx="3342918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Skrin scanner membuka kamera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235" y="3201830"/>
            <a:ext cx="3026065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dan senarai murid tempatan.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92706" y="2382353"/>
            <a:ext cx="3106588" cy="1162588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3945176" y="2534824"/>
            <a:ext cx="304941" cy="304941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430588" y="2624810"/>
            <a:ext cx="1334118" cy="2055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75" b="0">
                <a:solidFill>
                  <a:srgbClr val="000000"/>
                </a:solidFill>
                <a:latin typeface="JetBrains Mono ExtraBold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6353" y="2540150"/>
            <a:ext cx="2402317" cy="2093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75" b="1" spc="-10">
                <a:solidFill>
                  <a:srgbClr val="0F172A"/>
                </a:solidFill>
                <a:latin typeface="Plus Jakarta Sans ExtraBold"/>
              </a:rPr>
              <a:t>Pelayar menyemak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6353" y="2737047"/>
            <a:ext cx="2111718" cy="17390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25" b="0">
                <a:solidFill>
                  <a:srgbClr val="000000"/>
                </a:solidFill>
                <a:latin typeface="JetBrains Mono"/>
              </a:rPr>
              <a:t>senarai tempatan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83294" y="3020771"/>
            <a:ext cx="3419868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Nama dicari dalam localStorage,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83294" y="3201830"/>
            <a:ext cx="2650368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bukan daripada pelayan.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51765" y="2382353"/>
            <a:ext cx="3106588" cy="1162588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7204235" y="2534824"/>
            <a:ext cx="304941" cy="304941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689647" y="2624810"/>
            <a:ext cx="1334118" cy="2055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75" b="0">
                <a:solidFill>
                  <a:srgbClr val="000000"/>
                </a:solidFill>
                <a:latin typeface="JetBrains Mono ExtraBold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5412" y="2540150"/>
            <a:ext cx="2567262" cy="2093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75" b="1" spc="-10">
                <a:solidFill>
                  <a:srgbClr val="0F172A"/>
                </a:solidFill>
                <a:latin typeface="Plus Jakarta Sans ExtraBold"/>
              </a:rPr>
              <a:t>Rekod diletak dalam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5412" y="2737047"/>
            <a:ext cx="1334118" cy="17390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25" b="0">
                <a:solidFill>
                  <a:srgbClr val="000000"/>
                </a:solidFill>
                <a:latin typeface="JetBrains Mono"/>
              </a:rPr>
              <a:t>antrian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42353" y="3020771"/>
            <a:ext cx="3229756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Ditulis ke qtiba_offline_queue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42353" y="3201830"/>
            <a:ext cx="2926482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supaya selamat sementara.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3647" y="3697412"/>
            <a:ext cx="3106588" cy="1162588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686118" y="3849882"/>
            <a:ext cx="304941" cy="304941"/>
          </a:xfrm>
          <a:prstGeom prst="ellipse">
            <a:avLst/>
          </a:prstGeom>
          <a:solidFill>
            <a:srgbClr val="FFFBE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71529" y="3939869"/>
            <a:ext cx="1334118" cy="2055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75" b="0">
                <a:solidFill>
                  <a:srgbClr val="000000"/>
                </a:solidFill>
                <a:latin typeface="JetBrains Mono ExtraBold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7294" y="3855209"/>
            <a:ext cx="2481259" cy="2093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75" b="1" spc="-10">
                <a:solidFill>
                  <a:srgbClr val="0F172A"/>
                </a:solidFill>
                <a:latin typeface="Plus Jakarta Sans ExtraBold"/>
              </a:rPr>
              <a:t>Pelayar cuba hantar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7294" y="4052106"/>
            <a:ext cx="2229406" cy="17390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25" b="0">
                <a:solidFill>
                  <a:srgbClr val="000000"/>
                </a:solidFill>
                <a:latin typeface="JetBrains Mono"/>
              </a:rPr>
              <a:t>ke domain sendiri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4235" y="4335830"/>
            <a:ext cx="3302179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Permintaan ke /api/exec. Kunci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4235" y="4516889"/>
            <a:ext cx="2496468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sebenar tidak dihantar.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792706" y="3697412"/>
            <a:ext cx="3106588" cy="1162588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3945176" y="3849882"/>
            <a:ext cx="304941" cy="304941"/>
          </a:xfrm>
          <a:prstGeom prst="ellipse">
            <a:avLst/>
          </a:prstGeom>
          <a:solidFill>
            <a:srgbClr val="F8FAF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430588" y="3939869"/>
            <a:ext cx="1334118" cy="2055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75" b="0">
                <a:solidFill>
                  <a:srgbClr val="000000"/>
                </a:solidFill>
                <a:latin typeface="JetBrains Mono ExtraBold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26353" y="3855209"/>
            <a:ext cx="2194099" cy="2093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75" b="1" spc="-10">
                <a:solidFill>
                  <a:srgbClr val="0F172A"/>
                </a:solidFill>
                <a:latin typeface="Plus Jakarta Sans ExtraBold"/>
              </a:rPr>
              <a:t>Proksi menyuntik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26353" y="4052106"/>
            <a:ext cx="1758653" cy="17390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25" b="0">
                <a:solidFill>
                  <a:srgbClr val="000000"/>
                </a:solidFill>
                <a:latin typeface="JetBrains Mono"/>
              </a:rPr>
              <a:t>kunci sebenar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83294" y="4335830"/>
            <a:ext cx="3351971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Kunci diambil daripada pelayan,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83294" y="4516889"/>
            <a:ext cx="2605103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bukan daripada pelayar.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051765" y="3697412"/>
            <a:ext cx="3106588" cy="1162588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7204235" y="3849882"/>
            <a:ext cx="304941" cy="304941"/>
          </a:xfrm>
          <a:prstGeom prst="ellipse">
            <a:avLst/>
          </a:prstGeom>
          <a:solidFill>
            <a:srgbClr val="ECFE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689647" y="3939869"/>
            <a:ext cx="1334118" cy="2055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75" b="0">
                <a:solidFill>
                  <a:srgbClr val="000000"/>
                </a:solidFill>
                <a:latin typeface="JetBrains Mono ExtraBold"/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85412" y="3855209"/>
            <a:ext cx="2255297" cy="2093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75" b="1" spc="-10">
                <a:solidFill>
                  <a:srgbClr val="0F172A"/>
                </a:solidFill>
                <a:latin typeface="Plus Jakarta Sans ExtraBold"/>
              </a:rPr>
              <a:t>Proksi menyemak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85412" y="4052106"/>
            <a:ext cx="1405588" cy="17390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25" b="0">
                <a:solidFill>
                  <a:srgbClr val="000000"/>
                </a:solidFill>
                <a:latin typeface="JetBrains Mono"/>
              </a:rPr>
              <a:t>aras akses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42353" y="4335830"/>
            <a:ext cx="3161859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Awam, staf atau admin. Tanpa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42353" y="4516889"/>
            <a:ext cx="2242985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kebenaran = ditolak.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33647" y="5012471"/>
            <a:ext cx="3106588" cy="1162588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686118" y="5164941"/>
            <a:ext cx="304941" cy="304941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71529" y="5254927"/>
            <a:ext cx="1334118" cy="2055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75" b="0">
                <a:solidFill>
                  <a:srgbClr val="000000"/>
                </a:solidFill>
                <a:latin typeface="JetBrains Mono ExtraBold"/>
              </a:rPr>
              <a:t>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7294" y="5170268"/>
            <a:ext cx="1567636" cy="2093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75" b="1" spc="-10">
                <a:solidFill>
                  <a:srgbClr val="0F172A"/>
                </a:solidFill>
                <a:latin typeface="Plus Jakarta Sans ExtraBold"/>
              </a:rPr>
              <a:t>Apps Script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7294" y="5367165"/>
            <a:ext cx="1876341" cy="17390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25" b="0">
                <a:solidFill>
                  <a:srgbClr val="000000"/>
                </a:solidFill>
                <a:latin typeface="JetBrains Mono"/>
              </a:rPr>
              <a:t>menerima doGet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4235" y="5650889"/>
            <a:ext cx="3293126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Kod mengesahkan ID dan masa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4235" y="5831948"/>
            <a:ext cx="3062276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potongan, lalu semak status.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792706" y="5012471"/>
            <a:ext cx="3106588" cy="1162588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69" name="Oval 68"/>
          <p:cNvSpPr/>
          <p:nvPr/>
        </p:nvSpPr>
        <p:spPr>
          <a:xfrm>
            <a:off x="3945176" y="5164941"/>
            <a:ext cx="304941" cy="304941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3430588" y="5254927"/>
            <a:ext cx="1334118" cy="2055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75" b="0">
                <a:solidFill>
                  <a:srgbClr val="000000"/>
                </a:solidFill>
                <a:latin typeface="JetBrains Mono ExtraBold"/>
              </a:rPr>
              <a:t>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26353" y="5170268"/>
            <a:ext cx="2164768" cy="2093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75" b="1" spc="-10">
                <a:solidFill>
                  <a:srgbClr val="0F172A"/>
                </a:solidFill>
                <a:latin typeface="Plus Jakarta Sans ExtraBold"/>
              </a:rPr>
              <a:t>Pelayan menolak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26353" y="5367165"/>
            <a:ext cx="1334118" cy="17390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25" b="0">
                <a:solidFill>
                  <a:srgbClr val="000000"/>
                </a:solidFill>
                <a:latin typeface="JetBrains Mono"/>
              </a:rPr>
              <a:t>duplikat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83294" y="5650889"/>
            <a:ext cx="2953641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Satu murid, satu hari sahaja;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83294" y="5831948"/>
            <a:ext cx="2147929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selepasnya ditolak.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051765" y="5012471"/>
            <a:ext cx="3106588" cy="1162588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76" name="Oval 75"/>
          <p:cNvSpPr/>
          <p:nvPr/>
        </p:nvSpPr>
        <p:spPr>
          <a:xfrm>
            <a:off x="7204235" y="5164941"/>
            <a:ext cx="304941" cy="304941"/>
          </a:xfrm>
          <a:prstGeom prst="ellipse">
            <a:avLst/>
          </a:prstGeom>
          <a:solidFill>
            <a:srgbClr val="FFFBE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6689647" y="5254927"/>
            <a:ext cx="1334118" cy="2055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75" b="0">
                <a:solidFill>
                  <a:srgbClr val="000000"/>
                </a:solidFill>
                <a:latin typeface="JetBrains Mono ExtraBold"/>
              </a:rPr>
              <a:t>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585412" y="5170268"/>
            <a:ext cx="2040199" cy="2093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75" b="1" spc="-10">
                <a:solidFill>
                  <a:srgbClr val="0F172A"/>
                </a:solidFill>
                <a:latin typeface="Plus Jakarta Sans ExtraBold"/>
              </a:rPr>
              <a:t>Rekod ditulis ke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585412" y="5367165"/>
            <a:ext cx="1334118" cy="17390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25" b="0">
                <a:solidFill>
                  <a:srgbClr val="000000"/>
                </a:solidFill>
                <a:latin typeface="JetBrains Mono"/>
              </a:rPr>
              <a:t>tab Rekod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42353" y="5650889"/>
            <a:ext cx="2378779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Status memulangkan;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242353" y="5831948"/>
            <a:ext cx="2609629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62" b="0">
                <a:solidFill>
                  <a:srgbClr val="475569"/>
                </a:solidFill>
                <a:latin typeface="Plus Jakarta Sans Medium"/>
              </a:rPr>
              <a:t>klien kosongkan antrian.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33647" y="6441882"/>
            <a:ext cx="9624706" cy="724235"/>
          </a:xfrm>
          <a:prstGeom prst="roundRect">
            <a:avLst>
              <a:gd name="adj" fmla="val 23684"/>
            </a:avLst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838588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22D3EE"/>
                </a:solidFill>
                <a:latin typeface="JetBrains Mono ExtraBold"/>
              </a:rPr>
              <a:t>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38588" y="6846215"/>
            <a:ext cx="2487415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LANGKAH SATU IMBASAN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21000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67E8F9"/>
                </a:solidFill>
                <a:latin typeface="JetBrains Mono ExtraBold"/>
              </a:rP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21000" y="6846215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PROXY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803412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A5B4FC"/>
                </a:solidFill>
                <a:latin typeface="JetBrains Mono ExtraBold"/>
              </a:rP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803412" y="6846215"/>
            <a:ext cx="13422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ARAS AKSES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285824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FCD34D"/>
                </a:solidFill>
                <a:latin typeface="JetBrains Mono ExtraBold"/>
              </a:rPr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85824" y="6846215"/>
            <a:ext cx="1749600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MURID = 1 REKOD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63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-1715294" y="-1524706"/>
            <a:ext cx="6289412" cy="4764706"/>
          </a:xfrm>
          <a:prstGeom prst="ellipse">
            <a:avLst/>
          </a:prstGeom>
          <a:gradFill flip="none" rotWithShape="1">
            <a:gsLst>
              <a:gs pos="0">
                <a:srgbClr val="06B6D4">
                  <a:alpha val="16000"/>
                </a:srgbClr>
              </a:gs>
              <a:gs pos="10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6194118" y="4574118"/>
            <a:ext cx="6861176" cy="4955294"/>
          </a:xfrm>
          <a:prstGeom prst="ellipse">
            <a:avLst/>
          </a:prstGeom>
          <a:gradFill flip="none" rotWithShape="1">
            <a:gsLst>
              <a:gs pos="0">
                <a:srgbClr val="8B5CF6">
                  <a:alpha val="14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0692000" cy="66706"/>
          </a:xfrm>
          <a:prstGeom prst="rect">
            <a:avLst/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33647" y="362118"/>
            <a:ext cx="590824" cy="590824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28941" y="457412"/>
            <a:ext cx="400235" cy="400235"/>
          </a:xfrm>
          <a:prstGeom prst="roundRect">
            <a:avLst>
              <a:gd name="adj" fmla="val 2619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Freeform 7"/>
          <p:cNvSpPr/>
          <p:nvPr/>
        </p:nvSpPr>
        <p:spPr>
          <a:xfrm>
            <a:off x="676588" y="543176"/>
            <a:ext cx="181059" cy="171530"/>
          </a:xfrm>
          <a:custGeom>
            <a:avLst/>
            <a:gdLst/>
            <a:ahLst/>
            <a:cxnLst/>
            <a:rect l="l" t="t" r="r" b="b"/>
            <a:pathLst>
              <a:path w="181059" h="171530">
                <a:moveTo>
                  <a:pt x="28588" y="9530"/>
                </a:moveTo>
                <a:lnTo>
                  <a:pt x="123883" y="9530"/>
                </a:lnTo>
                <a:lnTo>
                  <a:pt x="171530" y="57177"/>
                </a:lnTo>
                <a:lnTo>
                  <a:pt x="171530" y="142942"/>
                </a:lnTo>
                <a:lnTo>
                  <a:pt x="177419" y="141269"/>
                </a:lnTo>
                <a:lnTo>
                  <a:pt x="178982" y="143819"/>
                </a:lnTo>
                <a:lnTo>
                  <a:pt x="180126" y="146582"/>
                </a:lnTo>
                <a:lnTo>
                  <a:pt x="180824" y="149490"/>
                </a:lnTo>
                <a:lnTo>
                  <a:pt x="181059" y="152471"/>
                </a:lnTo>
                <a:lnTo>
                  <a:pt x="180824" y="155453"/>
                </a:lnTo>
                <a:lnTo>
                  <a:pt x="180126" y="158361"/>
                </a:lnTo>
                <a:lnTo>
                  <a:pt x="178982" y="161124"/>
                </a:lnTo>
                <a:lnTo>
                  <a:pt x="177419" y="163674"/>
                </a:lnTo>
                <a:lnTo>
                  <a:pt x="175477" y="165948"/>
                </a:lnTo>
                <a:lnTo>
                  <a:pt x="173203" y="167890"/>
                </a:lnTo>
                <a:lnTo>
                  <a:pt x="170653" y="169453"/>
                </a:lnTo>
                <a:lnTo>
                  <a:pt x="167890" y="170597"/>
                </a:lnTo>
                <a:lnTo>
                  <a:pt x="164982" y="171295"/>
                </a:lnTo>
                <a:lnTo>
                  <a:pt x="162000" y="171530"/>
                </a:lnTo>
                <a:lnTo>
                  <a:pt x="159019" y="171295"/>
                </a:lnTo>
                <a:lnTo>
                  <a:pt x="156111" y="170597"/>
                </a:lnTo>
                <a:lnTo>
                  <a:pt x="153348" y="169453"/>
                </a:lnTo>
                <a:lnTo>
                  <a:pt x="150798" y="167890"/>
                </a:lnTo>
                <a:lnTo>
                  <a:pt x="148524" y="165948"/>
                </a:lnTo>
                <a:lnTo>
                  <a:pt x="28588" y="162000"/>
                </a:lnTo>
                <a:lnTo>
                  <a:pt x="30262" y="167890"/>
                </a:lnTo>
                <a:lnTo>
                  <a:pt x="27712" y="169453"/>
                </a:lnTo>
                <a:lnTo>
                  <a:pt x="24949" y="170597"/>
                </a:lnTo>
                <a:lnTo>
                  <a:pt x="22041" y="171295"/>
                </a:lnTo>
                <a:lnTo>
                  <a:pt x="19059" y="171530"/>
                </a:lnTo>
                <a:lnTo>
                  <a:pt x="16078" y="171295"/>
                </a:lnTo>
                <a:lnTo>
                  <a:pt x="13170" y="170597"/>
                </a:lnTo>
                <a:lnTo>
                  <a:pt x="10407" y="169453"/>
                </a:lnTo>
                <a:lnTo>
                  <a:pt x="7857" y="167890"/>
                </a:lnTo>
                <a:lnTo>
                  <a:pt x="5582" y="165948"/>
                </a:lnTo>
                <a:lnTo>
                  <a:pt x="3640" y="163674"/>
                </a:lnTo>
                <a:lnTo>
                  <a:pt x="2078" y="161124"/>
                </a:lnTo>
                <a:lnTo>
                  <a:pt x="933" y="158361"/>
                </a:lnTo>
                <a:lnTo>
                  <a:pt x="235" y="155453"/>
                </a:lnTo>
                <a:lnTo>
                  <a:pt x="0" y="152471"/>
                </a:lnTo>
                <a:lnTo>
                  <a:pt x="235" y="149490"/>
                </a:lnTo>
                <a:lnTo>
                  <a:pt x="933" y="146582"/>
                </a:lnTo>
                <a:lnTo>
                  <a:pt x="2078" y="143819"/>
                </a:lnTo>
                <a:lnTo>
                  <a:pt x="3640" y="141269"/>
                </a:lnTo>
                <a:lnTo>
                  <a:pt x="5582" y="138994"/>
                </a:lnTo>
                <a:lnTo>
                  <a:pt x="9530" y="28589"/>
                </a:lnTo>
                <a:lnTo>
                  <a:pt x="3640" y="30262"/>
                </a:lnTo>
                <a:lnTo>
                  <a:pt x="2078" y="27712"/>
                </a:lnTo>
                <a:lnTo>
                  <a:pt x="933" y="24949"/>
                </a:lnTo>
                <a:lnTo>
                  <a:pt x="235" y="22041"/>
                </a:lnTo>
                <a:lnTo>
                  <a:pt x="0" y="19059"/>
                </a:lnTo>
                <a:lnTo>
                  <a:pt x="235" y="16078"/>
                </a:lnTo>
                <a:lnTo>
                  <a:pt x="933" y="13170"/>
                </a:lnTo>
                <a:lnTo>
                  <a:pt x="2078" y="10407"/>
                </a:lnTo>
                <a:lnTo>
                  <a:pt x="3640" y="7857"/>
                </a:lnTo>
                <a:lnTo>
                  <a:pt x="5582" y="5583"/>
                </a:lnTo>
                <a:lnTo>
                  <a:pt x="7857" y="3640"/>
                </a:lnTo>
                <a:lnTo>
                  <a:pt x="10407" y="2078"/>
                </a:lnTo>
                <a:lnTo>
                  <a:pt x="13170" y="933"/>
                </a:lnTo>
                <a:lnTo>
                  <a:pt x="16078" y="235"/>
                </a:lnTo>
                <a:lnTo>
                  <a:pt x="19059" y="0"/>
                </a:lnTo>
                <a:lnTo>
                  <a:pt x="22041" y="235"/>
                </a:lnTo>
                <a:lnTo>
                  <a:pt x="24949" y="933"/>
                </a:lnTo>
                <a:lnTo>
                  <a:pt x="27712" y="2078"/>
                </a:lnTo>
                <a:lnTo>
                  <a:pt x="30262" y="3640"/>
                </a:lnTo>
                <a:lnTo>
                  <a:pt x="32536" y="5583"/>
                </a:lnTo>
                <a:close/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Freeform 8"/>
          <p:cNvSpPr/>
          <p:nvPr/>
        </p:nvSpPr>
        <p:spPr>
          <a:xfrm>
            <a:off x="800471" y="552706"/>
            <a:ext cx="47647" cy="47647"/>
          </a:xfrm>
          <a:custGeom>
            <a:avLst/>
            <a:gdLst/>
            <a:ahLst/>
            <a:cxnLst/>
            <a:rect l="l" t="t" r="r" b="b"/>
            <a:pathLst>
              <a:path w="47647" h="47647">
                <a:moveTo>
                  <a:pt x="0" y="0"/>
                </a:moveTo>
                <a:lnTo>
                  <a:pt x="0" y="47647"/>
                </a:lnTo>
                <a:lnTo>
                  <a:pt x="47647" y="47647"/>
                </a:lnTo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Freeform 9"/>
          <p:cNvSpPr/>
          <p:nvPr/>
        </p:nvSpPr>
        <p:spPr>
          <a:xfrm>
            <a:off x="724235" y="657529"/>
            <a:ext cx="76236" cy="47647"/>
          </a:xfrm>
          <a:custGeom>
            <a:avLst/>
            <a:gdLst/>
            <a:ahLst/>
            <a:cxnLst/>
            <a:rect l="l" t="t" r="r" b="b"/>
            <a:pathLst>
              <a:path w="76236" h="47647">
                <a:moveTo>
                  <a:pt x="0" y="0"/>
                </a:moveTo>
                <a:lnTo>
                  <a:pt x="76236" y="0"/>
                </a:lnTo>
                <a:lnTo>
                  <a:pt x="0" y="47647"/>
                </a:lnTo>
                <a:lnTo>
                  <a:pt x="57177" y="47647"/>
                </a:lnTo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257882" y="362832"/>
            <a:ext cx="1908026" cy="40257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1" spc="-19">
                <a:solidFill>
                  <a:srgbClr val="0F172A"/>
                </a:solidFill>
                <a:latin typeface="Plus Jakarta Sans ExtraBold"/>
              </a:rPr>
              <a:t>Q-TIBA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7882" y="676946"/>
            <a:ext cx="6126697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64748B"/>
                </a:solidFill>
                <a:latin typeface="Plus Jakarta Sans SemiBold"/>
              </a:rPr>
              <a:t>Dokumentasi Aliran Pembuatan &amp;#183; SK Pulau Indah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4235" y="461633"/>
            <a:ext cx="1334118" cy="2055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75" b="0">
                <a:solidFill>
                  <a:srgbClr val="0891B2"/>
                </a:solidFill>
                <a:latin typeface="JetBrains Mono ExtraBold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4235" y="667006"/>
            <a:ext cx="1334118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62" b="0">
                <a:solidFill>
                  <a:srgbClr val="64748B"/>
                </a:solidFill>
                <a:latin typeface="Plus Jakarta Sans SemiBold"/>
              </a:rPr>
              <a:t>Luar Talian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3647" y="1162588"/>
            <a:ext cx="9624706" cy="0"/>
          </a:xfrm>
          <a:prstGeom prst="line">
            <a:avLst/>
          </a:prstGeom>
          <a:ln w="14294">
            <a:solidFill>
              <a:srgbClr val="E2E8F0"/>
            </a:solidFill>
          </a:ln>
        </p:spPr>
      </p:cxnSp>
      <p:sp>
        <p:nvSpPr>
          <p:cNvPr id="16" name="Rounded Rectangle 15"/>
          <p:cNvSpPr/>
          <p:nvPr/>
        </p:nvSpPr>
        <p:spPr>
          <a:xfrm>
            <a:off x="533647" y="1486588"/>
            <a:ext cx="1620000" cy="285882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 w="14294">
            <a:solidFill>
              <a:srgbClr val="A5F3F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7078" y="1568794"/>
            <a:ext cx="1773138" cy="16907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87" b="1" spc="126">
                <a:solidFill>
                  <a:srgbClr val="0891B2"/>
                </a:solidFill>
                <a:latin typeface="Plus Jakarta Sans ExtraBold"/>
              </a:rPr>
              <a:t>LUAR TALIAN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647" y="1709348"/>
            <a:ext cx="4176512" cy="51529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401" b="1" spc="-48">
                <a:solidFill>
                  <a:srgbClr val="0F172A"/>
                </a:solidFill>
                <a:latin typeface="Plus Jakarta Sans ExtraBold"/>
              </a:rPr>
              <a:t>Mod luar talian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647" y="2183002"/>
            <a:ext cx="5932059" cy="2173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0">
                <a:solidFill>
                  <a:srgbClr val="475569"/>
                </a:solidFill>
                <a:latin typeface="Plus Jakarta Sans Medium"/>
              </a:rPr>
              <a:t>Tiga mekanisme supaya imbasan tetap berfungsi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3647" y="2820706"/>
            <a:ext cx="3030353" cy="2287059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533647" y="2820706"/>
            <a:ext cx="3030353" cy="3811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724235" y="3087529"/>
            <a:ext cx="419294" cy="419294"/>
          </a:xfrm>
          <a:prstGeom prst="ellipse">
            <a:avLst/>
          </a:prstGeom>
          <a:solidFill>
            <a:srgbClr val="ECFE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66824" y="3219864"/>
            <a:ext cx="1334118" cy="26875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275" b="0">
                <a:solidFill>
                  <a:srgbClr val="000000"/>
                </a:solidFill>
                <a:latin typeface="JetBrains Mono ExtraBold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76941" y="3199319"/>
            <a:ext cx="1880324" cy="27374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75" b="1" spc="-13">
                <a:solidFill>
                  <a:srgbClr val="0F172A"/>
                </a:solidFill>
                <a:latin typeface="Plus Jakarta Sans ExtraBold"/>
              </a:rPr>
              <a:t>Cache aset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353" y="3716828"/>
            <a:ext cx="3211650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Service Worker menyimpan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353" y="3945534"/>
            <a:ext cx="3265968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fail statik supaya skrin boleh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353" y="4174240"/>
            <a:ext cx="3365550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dibuka tanpa internet. Cache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353" y="4402946"/>
            <a:ext cx="2890271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bernombor supaya tidak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353" y="4631651"/>
            <a:ext cx="3487765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bercampur dengan data lama.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30824" y="2820706"/>
            <a:ext cx="3030353" cy="2287059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3830824" y="2820706"/>
            <a:ext cx="3030353" cy="3811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4021412" y="3087529"/>
            <a:ext cx="419294" cy="419294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564000" y="3219864"/>
            <a:ext cx="1334118" cy="26875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275" b="0">
                <a:solidFill>
                  <a:srgbClr val="000000"/>
                </a:solidFill>
                <a:latin typeface="JetBrains Mono ExtraBold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4118" y="3199319"/>
            <a:ext cx="2269420" cy="27374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75" b="1" spc="-13">
                <a:solidFill>
                  <a:srgbClr val="0F172A"/>
                </a:solidFill>
                <a:latin typeface="Plus Jakarta Sans ExtraBold"/>
              </a:rPr>
              <a:t>Senarai murid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59529" y="3716828"/>
            <a:ext cx="3478712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Senarai murid disimpan dalam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59529" y="3945534"/>
            <a:ext cx="3442500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localStorage, jadi nama boleh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59529" y="4174240"/>
            <a:ext cx="3510397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dipaparkan serta-merta tanpa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59529" y="4402946"/>
            <a:ext cx="2609629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panggilan ke pelayan.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28000" y="2820706"/>
            <a:ext cx="3030353" cy="2287059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7128000" y="2820706"/>
            <a:ext cx="3030353" cy="3811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7318588" y="3087529"/>
            <a:ext cx="419294" cy="419294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861176" y="3219864"/>
            <a:ext cx="1334118" cy="26875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275" b="0">
                <a:solidFill>
                  <a:srgbClr val="000000"/>
                </a:solidFill>
                <a:latin typeface="JetBrains Mono ExtraBold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71294" y="3199319"/>
            <a:ext cx="2055227" cy="27374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75" b="1" spc="-13">
                <a:solidFill>
                  <a:srgbClr val="0F172A"/>
                </a:solidFill>
                <a:latin typeface="Plus Jakarta Sans ExtraBold"/>
              </a:rPr>
              <a:t>Antrian 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56706" y="3716828"/>
            <a:ext cx="3093962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Setiap imbasan diletakkan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56706" y="3945534"/>
            <a:ext cx="3528503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dalam antrian, dihantar semula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56706" y="4174240"/>
            <a:ext cx="3189018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bila rangkaian kembali, dan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56706" y="4402946"/>
            <a:ext cx="3451553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dikosongkan selepas berjaya.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33647" y="5336471"/>
            <a:ext cx="9624706" cy="800471"/>
          </a:xfrm>
          <a:prstGeom prst="roundRect">
            <a:avLst>
              <a:gd name="adj" fmla="val 19047"/>
            </a:avLst>
          </a:prstGeom>
          <a:solidFill>
            <a:srgbClr val="FFFBEB"/>
          </a:solidFill>
          <a:ln w="14294">
            <a:solidFill>
              <a:srgbClr val="FDE68A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00471" y="5504617"/>
            <a:ext cx="2730939" cy="24154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25" b="1" spc="-11">
                <a:solidFill>
                  <a:srgbClr val="B45309"/>
                </a:solidFill>
                <a:latin typeface="Plus Jakarta Sans ExtraBold"/>
              </a:rPr>
              <a:t>Yang tidak dicache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471" y="5770621"/>
            <a:ext cx="7054624" cy="2093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75" b="0">
                <a:solidFill>
                  <a:srgbClr val="B45309"/>
                </a:solidFill>
                <a:latin typeface="Plus Jakarta Sans Medium"/>
              </a:rPr>
              <a:t>Respons API dan skrip Google sengaja tidak dicache supaya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471" y="5961209"/>
            <a:ext cx="3786512" cy="2093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75" b="0">
                <a:solidFill>
                  <a:srgbClr val="B45309"/>
                </a:solidFill>
                <a:latin typeface="Plus Jakarta Sans Medium"/>
              </a:rPr>
              <a:t>data kehadiran sentiasa terkini.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33647" y="6441882"/>
            <a:ext cx="9624706" cy="724235"/>
          </a:xfrm>
          <a:prstGeom prst="roundRect">
            <a:avLst>
              <a:gd name="adj" fmla="val 23684"/>
            </a:avLst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38588" y="6515974"/>
            <a:ext cx="2673000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22D3EE"/>
                </a:solidFill>
                <a:latin typeface="JetBrains Mono ExtraBold"/>
              </a:rPr>
              <a:t>qtiba-v12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588" y="6846215"/>
            <a:ext cx="1423694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VERSI CACHE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21000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67E8F9"/>
                </a:solidFill>
                <a:latin typeface="JetBrains Mono ExtraBold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21000" y="6846215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MEKANISME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03412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A5B4FC"/>
                </a:solidFill>
                <a:latin typeface="JetBrains Mono ExtraBold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03412" y="6846215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ANTRIAN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85824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FCD34D"/>
                </a:solidFill>
                <a:latin typeface="JetBrains Mono ExtraBold"/>
              </a:rPr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85824" y="6846215"/>
            <a:ext cx="1908026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DATA API DICACHE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63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-1715294" y="-1524706"/>
            <a:ext cx="6289412" cy="4764706"/>
          </a:xfrm>
          <a:prstGeom prst="ellipse">
            <a:avLst/>
          </a:prstGeom>
          <a:gradFill flip="none" rotWithShape="1">
            <a:gsLst>
              <a:gs pos="0">
                <a:srgbClr val="06B6D4">
                  <a:alpha val="16000"/>
                </a:srgbClr>
              </a:gs>
              <a:gs pos="10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6194118" y="4574118"/>
            <a:ext cx="6861176" cy="4955294"/>
          </a:xfrm>
          <a:prstGeom prst="ellipse">
            <a:avLst/>
          </a:prstGeom>
          <a:gradFill flip="none" rotWithShape="1">
            <a:gsLst>
              <a:gs pos="0">
                <a:srgbClr val="8B5CF6">
                  <a:alpha val="14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0692000" cy="66706"/>
          </a:xfrm>
          <a:prstGeom prst="rect">
            <a:avLst/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33647" y="362118"/>
            <a:ext cx="590824" cy="590824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28941" y="457412"/>
            <a:ext cx="400235" cy="400235"/>
          </a:xfrm>
          <a:prstGeom prst="roundRect">
            <a:avLst>
              <a:gd name="adj" fmla="val 2619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Freeform 7"/>
          <p:cNvSpPr/>
          <p:nvPr/>
        </p:nvSpPr>
        <p:spPr>
          <a:xfrm>
            <a:off x="676588" y="543176"/>
            <a:ext cx="181059" cy="171530"/>
          </a:xfrm>
          <a:custGeom>
            <a:avLst/>
            <a:gdLst/>
            <a:ahLst/>
            <a:cxnLst/>
            <a:rect l="l" t="t" r="r" b="b"/>
            <a:pathLst>
              <a:path w="181059" h="171530">
                <a:moveTo>
                  <a:pt x="28588" y="9530"/>
                </a:moveTo>
                <a:lnTo>
                  <a:pt x="123883" y="9530"/>
                </a:lnTo>
                <a:lnTo>
                  <a:pt x="171530" y="57177"/>
                </a:lnTo>
                <a:lnTo>
                  <a:pt x="171530" y="142942"/>
                </a:lnTo>
                <a:lnTo>
                  <a:pt x="177419" y="141269"/>
                </a:lnTo>
                <a:lnTo>
                  <a:pt x="178982" y="143819"/>
                </a:lnTo>
                <a:lnTo>
                  <a:pt x="180126" y="146582"/>
                </a:lnTo>
                <a:lnTo>
                  <a:pt x="180824" y="149490"/>
                </a:lnTo>
                <a:lnTo>
                  <a:pt x="181059" y="152471"/>
                </a:lnTo>
                <a:lnTo>
                  <a:pt x="180824" y="155453"/>
                </a:lnTo>
                <a:lnTo>
                  <a:pt x="180126" y="158361"/>
                </a:lnTo>
                <a:lnTo>
                  <a:pt x="178982" y="161124"/>
                </a:lnTo>
                <a:lnTo>
                  <a:pt x="177419" y="163674"/>
                </a:lnTo>
                <a:lnTo>
                  <a:pt x="175477" y="165948"/>
                </a:lnTo>
                <a:lnTo>
                  <a:pt x="173203" y="167890"/>
                </a:lnTo>
                <a:lnTo>
                  <a:pt x="170653" y="169453"/>
                </a:lnTo>
                <a:lnTo>
                  <a:pt x="167890" y="170597"/>
                </a:lnTo>
                <a:lnTo>
                  <a:pt x="164982" y="171295"/>
                </a:lnTo>
                <a:lnTo>
                  <a:pt x="162000" y="171530"/>
                </a:lnTo>
                <a:lnTo>
                  <a:pt x="159019" y="171295"/>
                </a:lnTo>
                <a:lnTo>
                  <a:pt x="156111" y="170597"/>
                </a:lnTo>
                <a:lnTo>
                  <a:pt x="153348" y="169453"/>
                </a:lnTo>
                <a:lnTo>
                  <a:pt x="150798" y="167890"/>
                </a:lnTo>
                <a:lnTo>
                  <a:pt x="148524" y="165948"/>
                </a:lnTo>
                <a:lnTo>
                  <a:pt x="28588" y="162000"/>
                </a:lnTo>
                <a:lnTo>
                  <a:pt x="30262" y="167890"/>
                </a:lnTo>
                <a:lnTo>
                  <a:pt x="27712" y="169453"/>
                </a:lnTo>
                <a:lnTo>
                  <a:pt x="24949" y="170597"/>
                </a:lnTo>
                <a:lnTo>
                  <a:pt x="22041" y="171295"/>
                </a:lnTo>
                <a:lnTo>
                  <a:pt x="19059" y="171530"/>
                </a:lnTo>
                <a:lnTo>
                  <a:pt x="16078" y="171295"/>
                </a:lnTo>
                <a:lnTo>
                  <a:pt x="13170" y="170597"/>
                </a:lnTo>
                <a:lnTo>
                  <a:pt x="10407" y="169453"/>
                </a:lnTo>
                <a:lnTo>
                  <a:pt x="7857" y="167890"/>
                </a:lnTo>
                <a:lnTo>
                  <a:pt x="5582" y="165948"/>
                </a:lnTo>
                <a:lnTo>
                  <a:pt x="3640" y="163674"/>
                </a:lnTo>
                <a:lnTo>
                  <a:pt x="2078" y="161124"/>
                </a:lnTo>
                <a:lnTo>
                  <a:pt x="933" y="158361"/>
                </a:lnTo>
                <a:lnTo>
                  <a:pt x="235" y="155453"/>
                </a:lnTo>
                <a:lnTo>
                  <a:pt x="0" y="152471"/>
                </a:lnTo>
                <a:lnTo>
                  <a:pt x="235" y="149490"/>
                </a:lnTo>
                <a:lnTo>
                  <a:pt x="933" y="146582"/>
                </a:lnTo>
                <a:lnTo>
                  <a:pt x="2078" y="143819"/>
                </a:lnTo>
                <a:lnTo>
                  <a:pt x="3640" y="141269"/>
                </a:lnTo>
                <a:lnTo>
                  <a:pt x="5582" y="138994"/>
                </a:lnTo>
                <a:lnTo>
                  <a:pt x="9530" y="28589"/>
                </a:lnTo>
                <a:lnTo>
                  <a:pt x="3640" y="30262"/>
                </a:lnTo>
                <a:lnTo>
                  <a:pt x="2078" y="27712"/>
                </a:lnTo>
                <a:lnTo>
                  <a:pt x="933" y="24949"/>
                </a:lnTo>
                <a:lnTo>
                  <a:pt x="235" y="22041"/>
                </a:lnTo>
                <a:lnTo>
                  <a:pt x="0" y="19059"/>
                </a:lnTo>
                <a:lnTo>
                  <a:pt x="235" y="16078"/>
                </a:lnTo>
                <a:lnTo>
                  <a:pt x="933" y="13170"/>
                </a:lnTo>
                <a:lnTo>
                  <a:pt x="2078" y="10407"/>
                </a:lnTo>
                <a:lnTo>
                  <a:pt x="3640" y="7857"/>
                </a:lnTo>
                <a:lnTo>
                  <a:pt x="5582" y="5583"/>
                </a:lnTo>
                <a:lnTo>
                  <a:pt x="7857" y="3640"/>
                </a:lnTo>
                <a:lnTo>
                  <a:pt x="10407" y="2078"/>
                </a:lnTo>
                <a:lnTo>
                  <a:pt x="13170" y="933"/>
                </a:lnTo>
                <a:lnTo>
                  <a:pt x="16078" y="235"/>
                </a:lnTo>
                <a:lnTo>
                  <a:pt x="19059" y="0"/>
                </a:lnTo>
                <a:lnTo>
                  <a:pt x="22041" y="235"/>
                </a:lnTo>
                <a:lnTo>
                  <a:pt x="24949" y="933"/>
                </a:lnTo>
                <a:lnTo>
                  <a:pt x="27712" y="2078"/>
                </a:lnTo>
                <a:lnTo>
                  <a:pt x="30262" y="3640"/>
                </a:lnTo>
                <a:lnTo>
                  <a:pt x="32536" y="5583"/>
                </a:lnTo>
                <a:close/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Freeform 8"/>
          <p:cNvSpPr/>
          <p:nvPr/>
        </p:nvSpPr>
        <p:spPr>
          <a:xfrm>
            <a:off x="800471" y="552706"/>
            <a:ext cx="47647" cy="47647"/>
          </a:xfrm>
          <a:custGeom>
            <a:avLst/>
            <a:gdLst/>
            <a:ahLst/>
            <a:cxnLst/>
            <a:rect l="l" t="t" r="r" b="b"/>
            <a:pathLst>
              <a:path w="47647" h="47647">
                <a:moveTo>
                  <a:pt x="0" y="0"/>
                </a:moveTo>
                <a:lnTo>
                  <a:pt x="0" y="47647"/>
                </a:lnTo>
                <a:lnTo>
                  <a:pt x="47647" y="47647"/>
                </a:lnTo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Freeform 9"/>
          <p:cNvSpPr/>
          <p:nvPr/>
        </p:nvSpPr>
        <p:spPr>
          <a:xfrm>
            <a:off x="724235" y="657529"/>
            <a:ext cx="76236" cy="47647"/>
          </a:xfrm>
          <a:custGeom>
            <a:avLst/>
            <a:gdLst/>
            <a:ahLst/>
            <a:cxnLst/>
            <a:rect l="l" t="t" r="r" b="b"/>
            <a:pathLst>
              <a:path w="76236" h="47647">
                <a:moveTo>
                  <a:pt x="0" y="0"/>
                </a:moveTo>
                <a:lnTo>
                  <a:pt x="76236" y="0"/>
                </a:lnTo>
                <a:lnTo>
                  <a:pt x="0" y="47647"/>
                </a:lnTo>
                <a:lnTo>
                  <a:pt x="57177" y="47647"/>
                </a:lnTo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257882" y="362832"/>
            <a:ext cx="1908026" cy="40257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1" spc="-19">
                <a:solidFill>
                  <a:srgbClr val="0F172A"/>
                </a:solidFill>
                <a:latin typeface="Plus Jakarta Sans ExtraBold"/>
              </a:rPr>
              <a:t>Q-TIBA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7882" y="676946"/>
            <a:ext cx="6126697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64748B"/>
                </a:solidFill>
                <a:latin typeface="Plus Jakarta Sans SemiBold"/>
              </a:rPr>
              <a:t>Dokumentasi Aliran Pembuatan &amp;#183; SK Pulau Indah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4235" y="461633"/>
            <a:ext cx="1334118" cy="2055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75" b="0">
                <a:solidFill>
                  <a:srgbClr val="0891B2"/>
                </a:solidFill>
                <a:latin typeface="JetBrains Mono ExtraBold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8976" y="667006"/>
            <a:ext cx="1369376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62" b="0">
                <a:solidFill>
                  <a:srgbClr val="64748B"/>
                </a:solidFill>
                <a:latin typeface="Plus Jakarta Sans SemiBold"/>
              </a:rPr>
              <a:t>Konfigurasi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3647" y="1162588"/>
            <a:ext cx="9624706" cy="0"/>
          </a:xfrm>
          <a:prstGeom prst="line">
            <a:avLst/>
          </a:prstGeom>
          <a:ln w="14294">
            <a:solidFill>
              <a:srgbClr val="E2E8F0"/>
            </a:solidFill>
          </a:ln>
        </p:spPr>
      </p:cxnSp>
      <p:sp>
        <p:nvSpPr>
          <p:cNvPr id="16" name="Rounded Rectangle 15"/>
          <p:cNvSpPr/>
          <p:nvPr/>
        </p:nvSpPr>
        <p:spPr>
          <a:xfrm>
            <a:off x="533647" y="1486588"/>
            <a:ext cx="1810588" cy="285882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 w="14294">
            <a:solidFill>
              <a:srgbClr val="A5F3F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00318" y="1568794"/>
            <a:ext cx="1877246" cy="16907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87" b="1" spc="126">
                <a:solidFill>
                  <a:srgbClr val="0891B2"/>
                </a:solidFill>
                <a:latin typeface="Plus Jakarta Sans ExtraBold"/>
              </a:rPr>
              <a:t>KONFIGURASI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647" y="1709348"/>
            <a:ext cx="5321166" cy="51529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401" b="1" spc="-48">
                <a:solidFill>
                  <a:srgbClr val="0F172A"/>
                </a:solidFill>
                <a:latin typeface="Plus Jakarta Sans ExtraBold"/>
              </a:rPr>
              <a:t>Tetapan tanpa kod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647" y="2183002"/>
            <a:ext cx="7919179" cy="2173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0">
                <a:solidFill>
                  <a:srgbClr val="475569"/>
                </a:solidFill>
                <a:latin typeface="Plus Jakarta Sans Medium"/>
              </a:rPr>
              <a:t>Semua tetapan datang daripada tab Tetapan, bukan daripada kod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3647" y="2820706"/>
            <a:ext cx="9624706" cy="419294"/>
          </a:xfrm>
          <a:prstGeom prst="roundRect">
            <a:avLst>
              <a:gd name="adj" fmla="val 27272"/>
            </a:avLst>
          </a:prstGeom>
          <a:solidFill>
            <a:srgbClr val="F1F5F9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24235" y="2996333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1" spc="120">
                <a:solidFill>
                  <a:srgbClr val="0891B2"/>
                </a:solidFill>
                <a:latin typeface="Plus Jakarta Sans ExtraBold"/>
              </a:rPr>
              <a:t>KUNCI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1882" y="2996333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1" spc="120">
                <a:solidFill>
                  <a:srgbClr val="0891B2"/>
                </a:solidFill>
                <a:latin typeface="Plus Jakarta Sans ExtraBold"/>
              </a:rPr>
              <a:t>NILAI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7176" y="2996333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1" spc="120">
                <a:solidFill>
                  <a:srgbClr val="0891B2"/>
                </a:solidFill>
                <a:latin typeface="Plus Jakarta Sans ExtraBold"/>
              </a:rPr>
              <a:t>FUNGSI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3647" y="3278118"/>
            <a:ext cx="9624706" cy="57176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533647" y="3278118"/>
            <a:ext cx="38118" cy="571765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24235" y="3503631"/>
            <a:ext cx="1334118" cy="23713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25" b="0">
                <a:solidFill>
                  <a:srgbClr val="000000"/>
                </a:solidFill>
                <a:latin typeface="JetBrains Mono ExtraBold"/>
              </a:rPr>
              <a:t>cutoff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1882" y="3503031"/>
            <a:ext cx="1334118" cy="22543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Plus Jakarta Sans Medium"/>
              </a:rPr>
              <a:t>07:21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7176" y="3503031"/>
            <a:ext cx="4949815" cy="22543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Plus Jakarta Sans Medium"/>
              </a:rPr>
              <a:t>Masa selepas itu imbasan dikira LEWAT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3647" y="3926118"/>
            <a:ext cx="9624706" cy="57176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533647" y="3926118"/>
            <a:ext cx="38118" cy="571765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24235" y="4151631"/>
            <a:ext cx="1334118" cy="23713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25" b="0">
                <a:solidFill>
                  <a:srgbClr val="000000"/>
                </a:solidFill>
                <a:latin typeface="JetBrains Mono ExtraBold"/>
              </a:rPr>
              <a:t>hujung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1882" y="4151031"/>
            <a:ext cx="1334118" cy="22543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Plus Jakarta Sans Medium"/>
              </a:rPr>
              <a:t>0, 6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17176" y="4151031"/>
            <a:ext cx="5755526" cy="22543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Plus Jakarta Sans Medium"/>
              </a:rPr>
              <a:t>Hari minggu tanpa kelas, iaitu Ahad dan Sabtu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3647" y="4574118"/>
            <a:ext cx="9624706" cy="57176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533647" y="4574118"/>
            <a:ext cx="38118" cy="571765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24235" y="4799631"/>
            <a:ext cx="1334118" cy="23713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25" b="0">
                <a:solidFill>
                  <a:srgbClr val="000000"/>
                </a:solidFill>
                <a:latin typeface="JetBrains Mono ExtraBold"/>
              </a:rPr>
              <a:t>cuti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1882" y="4799031"/>
            <a:ext cx="1889921" cy="22543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Plus Jakarta Sans Medium"/>
              </a:rPr>
              <a:t>Senarai tarikh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17176" y="4799031"/>
            <a:ext cx="4293476" cy="22543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Plus Jakarta Sans Medium"/>
              </a:rPr>
              <a:t>Cuti umum, jadi tiada rekod lewat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3647" y="5260235"/>
            <a:ext cx="9624706" cy="876706"/>
          </a:xfrm>
          <a:prstGeom prst="roundRect">
            <a:avLst>
              <a:gd name="adj" fmla="val 17391"/>
            </a:avLst>
          </a:prstGeom>
          <a:solidFill>
            <a:srgbClr val="ECFDF5"/>
          </a:solidFill>
          <a:ln w="14294">
            <a:solidFill>
              <a:srgbClr val="A7F3D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00471" y="5438321"/>
            <a:ext cx="3533935" cy="25764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00" b="1" spc="-12">
                <a:solidFill>
                  <a:srgbClr val="047857"/>
                </a:solidFill>
                <a:latin typeface="Plus Jakarta Sans ExtraBold"/>
              </a:rPr>
              <a:t>Satu sumber kebenaran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471" y="5713445"/>
            <a:ext cx="9802191" cy="2093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75" b="0">
                <a:solidFill>
                  <a:srgbClr val="047857"/>
                </a:solidFill>
                <a:latin typeface="Plus Jakarta Sans Medium"/>
              </a:rPr>
              <a:t>Skrin admin, paparan pintu dan portal ibu bapa semua membaca tetapan yang sama.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0471" y="5904033"/>
            <a:ext cx="9236382" cy="2093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75" b="0">
                <a:solidFill>
                  <a:srgbClr val="047857"/>
                </a:solidFill>
                <a:latin typeface="Plus Jakarta Sans Medium"/>
              </a:rPr>
              <a:t>Jika tab Tetapan tiada, sistem kembali kepada nilai lalai tahun 2026 Kumpulan B.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3647" y="6441882"/>
            <a:ext cx="9624706" cy="724235"/>
          </a:xfrm>
          <a:prstGeom prst="roundRect">
            <a:avLst>
              <a:gd name="adj" fmla="val 23684"/>
            </a:avLst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38588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22D3EE"/>
                </a:solidFill>
                <a:latin typeface="JetBrains Mono ExtraBold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588" y="6846215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KUNCI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21000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67E8F9"/>
                </a:solidFill>
                <a:latin typeface="JetBrains Mono ExtraBold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21000" y="6846215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SUMBER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03412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A5B4FC"/>
                </a:solidFill>
                <a:latin typeface="JetBrains Mono ExtraBold"/>
              </a:rPr>
              <a:t>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03412" y="6846215"/>
            <a:ext cx="1378429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TAHUN LALAI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5824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FCD34D"/>
                </a:solidFill>
                <a:latin typeface="JetBrains Mono ExtraBold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85824" y="6846215"/>
            <a:ext cx="1704335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SKRIN PEMBACA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63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-1715294" y="-1524706"/>
            <a:ext cx="6289412" cy="4764706"/>
          </a:xfrm>
          <a:prstGeom prst="ellipse">
            <a:avLst/>
          </a:prstGeom>
          <a:gradFill flip="none" rotWithShape="1">
            <a:gsLst>
              <a:gs pos="0">
                <a:srgbClr val="06B6D4">
                  <a:alpha val="16000"/>
                </a:srgbClr>
              </a:gs>
              <a:gs pos="10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6194118" y="4574118"/>
            <a:ext cx="6861176" cy="4955294"/>
          </a:xfrm>
          <a:prstGeom prst="ellipse">
            <a:avLst/>
          </a:prstGeom>
          <a:gradFill flip="none" rotWithShape="1">
            <a:gsLst>
              <a:gs pos="0">
                <a:srgbClr val="8B5CF6">
                  <a:alpha val="14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0692000" cy="66706"/>
          </a:xfrm>
          <a:prstGeom prst="rect">
            <a:avLst/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33647" y="362118"/>
            <a:ext cx="590824" cy="590824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28941" y="457412"/>
            <a:ext cx="400235" cy="400235"/>
          </a:xfrm>
          <a:prstGeom prst="roundRect">
            <a:avLst>
              <a:gd name="adj" fmla="val 2619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Freeform 7"/>
          <p:cNvSpPr/>
          <p:nvPr/>
        </p:nvSpPr>
        <p:spPr>
          <a:xfrm>
            <a:off x="676588" y="543176"/>
            <a:ext cx="181059" cy="171530"/>
          </a:xfrm>
          <a:custGeom>
            <a:avLst/>
            <a:gdLst/>
            <a:ahLst/>
            <a:cxnLst/>
            <a:rect l="l" t="t" r="r" b="b"/>
            <a:pathLst>
              <a:path w="181059" h="171530">
                <a:moveTo>
                  <a:pt x="28588" y="9530"/>
                </a:moveTo>
                <a:lnTo>
                  <a:pt x="123883" y="9530"/>
                </a:lnTo>
                <a:lnTo>
                  <a:pt x="171530" y="57177"/>
                </a:lnTo>
                <a:lnTo>
                  <a:pt x="171530" y="142942"/>
                </a:lnTo>
                <a:lnTo>
                  <a:pt x="177419" y="141269"/>
                </a:lnTo>
                <a:lnTo>
                  <a:pt x="178982" y="143819"/>
                </a:lnTo>
                <a:lnTo>
                  <a:pt x="180126" y="146582"/>
                </a:lnTo>
                <a:lnTo>
                  <a:pt x="180824" y="149490"/>
                </a:lnTo>
                <a:lnTo>
                  <a:pt x="181059" y="152471"/>
                </a:lnTo>
                <a:lnTo>
                  <a:pt x="180824" y="155453"/>
                </a:lnTo>
                <a:lnTo>
                  <a:pt x="180126" y="158361"/>
                </a:lnTo>
                <a:lnTo>
                  <a:pt x="178982" y="161124"/>
                </a:lnTo>
                <a:lnTo>
                  <a:pt x="177419" y="163674"/>
                </a:lnTo>
                <a:lnTo>
                  <a:pt x="175477" y="165948"/>
                </a:lnTo>
                <a:lnTo>
                  <a:pt x="173203" y="167890"/>
                </a:lnTo>
                <a:lnTo>
                  <a:pt x="170653" y="169453"/>
                </a:lnTo>
                <a:lnTo>
                  <a:pt x="167890" y="170597"/>
                </a:lnTo>
                <a:lnTo>
                  <a:pt x="164982" y="171295"/>
                </a:lnTo>
                <a:lnTo>
                  <a:pt x="162000" y="171530"/>
                </a:lnTo>
                <a:lnTo>
                  <a:pt x="159019" y="171295"/>
                </a:lnTo>
                <a:lnTo>
                  <a:pt x="156111" y="170597"/>
                </a:lnTo>
                <a:lnTo>
                  <a:pt x="153348" y="169453"/>
                </a:lnTo>
                <a:lnTo>
                  <a:pt x="150798" y="167890"/>
                </a:lnTo>
                <a:lnTo>
                  <a:pt x="148524" y="165948"/>
                </a:lnTo>
                <a:lnTo>
                  <a:pt x="28588" y="162000"/>
                </a:lnTo>
                <a:lnTo>
                  <a:pt x="30262" y="167890"/>
                </a:lnTo>
                <a:lnTo>
                  <a:pt x="27712" y="169453"/>
                </a:lnTo>
                <a:lnTo>
                  <a:pt x="24949" y="170597"/>
                </a:lnTo>
                <a:lnTo>
                  <a:pt x="22041" y="171295"/>
                </a:lnTo>
                <a:lnTo>
                  <a:pt x="19059" y="171530"/>
                </a:lnTo>
                <a:lnTo>
                  <a:pt x="16078" y="171295"/>
                </a:lnTo>
                <a:lnTo>
                  <a:pt x="13170" y="170597"/>
                </a:lnTo>
                <a:lnTo>
                  <a:pt x="10407" y="169453"/>
                </a:lnTo>
                <a:lnTo>
                  <a:pt x="7857" y="167890"/>
                </a:lnTo>
                <a:lnTo>
                  <a:pt x="5582" y="165948"/>
                </a:lnTo>
                <a:lnTo>
                  <a:pt x="3640" y="163674"/>
                </a:lnTo>
                <a:lnTo>
                  <a:pt x="2078" y="161124"/>
                </a:lnTo>
                <a:lnTo>
                  <a:pt x="933" y="158361"/>
                </a:lnTo>
                <a:lnTo>
                  <a:pt x="235" y="155453"/>
                </a:lnTo>
                <a:lnTo>
                  <a:pt x="0" y="152471"/>
                </a:lnTo>
                <a:lnTo>
                  <a:pt x="235" y="149490"/>
                </a:lnTo>
                <a:lnTo>
                  <a:pt x="933" y="146582"/>
                </a:lnTo>
                <a:lnTo>
                  <a:pt x="2078" y="143819"/>
                </a:lnTo>
                <a:lnTo>
                  <a:pt x="3640" y="141269"/>
                </a:lnTo>
                <a:lnTo>
                  <a:pt x="5582" y="138994"/>
                </a:lnTo>
                <a:lnTo>
                  <a:pt x="9530" y="28589"/>
                </a:lnTo>
                <a:lnTo>
                  <a:pt x="3640" y="30262"/>
                </a:lnTo>
                <a:lnTo>
                  <a:pt x="2078" y="27712"/>
                </a:lnTo>
                <a:lnTo>
                  <a:pt x="933" y="24949"/>
                </a:lnTo>
                <a:lnTo>
                  <a:pt x="235" y="22041"/>
                </a:lnTo>
                <a:lnTo>
                  <a:pt x="0" y="19059"/>
                </a:lnTo>
                <a:lnTo>
                  <a:pt x="235" y="16078"/>
                </a:lnTo>
                <a:lnTo>
                  <a:pt x="933" y="13170"/>
                </a:lnTo>
                <a:lnTo>
                  <a:pt x="2078" y="10407"/>
                </a:lnTo>
                <a:lnTo>
                  <a:pt x="3640" y="7857"/>
                </a:lnTo>
                <a:lnTo>
                  <a:pt x="5582" y="5583"/>
                </a:lnTo>
                <a:lnTo>
                  <a:pt x="7857" y="3640"/>
                </a:lnTo>
                <a:lnTo>
                  <a:pt x="10407" y="2078"/>
                </a:lnTo>
                <a:lnTo>
                  <a:pt x="13170" y="933"/>
                </a:lnTo>
                <a:lnTo>
                  <a:pt x="16078" y="235"/>
                </a:lnTo>
                <a:lnTo>
                  <a:pt x="19059" y="0"/>
                </a:lnTo>
                <a:lnTo>
                  <a:pt x="22041" y="235"/>
                </a:lnTo>
                <a:lnTo>
                  <a:pt x="24949" y="933"/>
                </a:lnTo>
                <a:lnTo>
                  <a:pt x="27712" y="2078"/>
                </a:lnTo>
                <a:lnTo>
                  <a:pt x="30262" y="3640"/>
                </a:lnTo>
                <a:lnTo>
                  <a:pt x="32536" y="5583"/>
                </a:lnTo>
                <a:close/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Freeform 8"/>
          <p:cNvSpPr/>
          <p:nvPr/>
        </p:nvSpPr>
        <p:spPr>
          <a:xfrm>
            <a:off x="800471" y="552706"/>
            <a:ext cx="47647" cy="47647"/>
          </a:xfrm>
          <a:custGeom>
            <a:avLst/>
            <a:gdLst/>
            <a:ahLst/>
            <a:cxnLst/>
            <a:rect l="l" t="t" r="r" b="b"/>
            <a:pathLst>
              <a:path w="47647" h="47647">
                <a:moveTo>
                  <a:pt x="0" y="0"/>
                </a:moveTo>
                <a:lnTo>
                  <a:pt x="0" y="47647"/>
                </a:lnTo>
                <a:lnTo>
                  <a:pt x="47647" y="47647"/>
                </a:lnTo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Freeform 9"/>
          <p:cNvSpPr/>
          <p:nvPr/>
        </p:nvSpPr>
        <p:spPr>
          <a:xfrm>
            <a:off x="724235" y="657529"/>
            <a:ext cx="76236" cy="47647"/>
          </a:xfrm>
          <a:custGeom>
            <a:avLst/>
            <a:gdLst/>
            <a:ahLst/>
            <a:cxnLst/>
            <a:rect l="l" t="t" r="r" b="b"/>
            <a:pathLst>
              <a:path w="76236" h="47647">
                <a:moveTo>
                  <a:pt x="0" y="0"/>
                </a:moveTo>
                <a:lnTo>
                  <a:pt x="76236" y="0"/>
                </a:lnTo>
                <a:lnTo>
                  <a:pt x="0" y="47647"/>
                </a:lnTo>
                <a:lnTo>
                  <a:pt x="57177" y="47647"/>
                </a:lnTo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257882" y="362832"/>
            <a:ext cx="1908026" cy="40257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1" spc="-19">
                <a:solidFill>
                  <a:srgbClr val="0F172A"/>
                </a:solidFill>
                <a:latin typeface="Plus Jakarta Sans ExtraBold"/>
              </a:rPr>
              <a:t>Q-TIBA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7882" y="676946"/>
            <a:ext cx="6126697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64748B"/>
                </a:solidFill>
                <a:latin typeface="Plus Jakarta Sans SemiBold"/>
              </a:rPr>
              <a:t>Dokumentasi Aliran Pembuatan &amp;#183; SK Pulau Indah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4235" y="461633"/>
            <a:ext cx="1334118" cy="2055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75" b="0">
                <a:solidFill>
                  <a:srgbClr val="0891B2"/>
                </a:solidFill>
                <a:latin typeface="JetBrains Mono ExtraBold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26024" y="667006"/>
            <a:ext cx="1532329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62" b="0">
                <a:solidFill>
                  <a:srgbClr val="64748B"/>
                </a:solidFill>
                <a:latin typeface="Plus Jakarta Sans SemiBold"/>
              </a:rPr>
              <a:t>Keselamatan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3647" y="1162588"/>
            <a:ext cx="9624706" cy="0"/>
          </a:xfrm>
          <a:prstGeom prst="line">
            <a:avLst/>
          </a:prstGeom>
          <a:ln w="14294">
            <a:solidFill>
              <a:srgbClr val="E2E8F0"/>
            </a:solidFill>
          </a:ln>
        </p:spPr>
      </p:cxnSp>
      <p:sp>
        <p:nvSpPr>
          <p:cNvPr id="16" name="Rounded Rectangle 15"/>
          <p:cNvSpPr/>
          <p:nvPr/>
        </p:nvSpPr>
        <p:spPr>
          <a:xfrm>
            <a:off x="533647" y="1486588"/>
            <a:ext cx="1429412" cy="285882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 w="14294">
            <a:solidFill>
              <a:srgbClr val="A5F3F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62202" y="1568794"/>
            <a:ext cx="1972302" cy="16907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87" b="1" spc="126">
                <a:solidFill>
                  <a:srgbClr val="0891B2"/>
                </a:solidFill>
                <a:latin typeface="Plus Jakarta Sans ExtraBold"/>
              </a:rPr>
              <a:t>KESELAMATAN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647" y="1709348"/>
            <a:ext cx="6861072" cy="51529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401" b="1" spc="-48">
                <a:solidFill>
                  <a:srgbClr val="0F172A"/>
                </a:solidFill>
                <a:latin typeface="Plus Jakarta Sans ExtraBold"/>
              </a:rPr>
              <a:t>Empat fasa keselamatan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647" y="2183002"/>
            <a:ext cx="6380179" cy="2173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0">
                <a:solidFill>
                  <a:srgbClr val="475569"/>
                </a:solidFill>
                <a:latin typeface="Plus Jakarta Sans Medium"/>
              </a:rPr>
              <a:t>Dibuat berperingkat selepas aplikasi mula digunakan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3647" y="2820706"/>
            <a:ext cx="2234647" cy="2096471"/>
          </a:xfrm>
          <a:prstGeom prst="roundRect">
            <a:avLst>
              <a:gd name="adj" fmla="val 8181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533647" y="2820706"/>
            <a:ext cx="2234647" cy="3811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2353" y="3066727"/>
            <a:ext cx="1529795" cy="3059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425" b="1" spc="-14">
                <a:solidFill>
                  <a:srgbClr val="000000"/>
                </a:solidFill>
                <a:latin typeface="Plus Jakarta Sans ExtraBold"/>
              </a:rPr>
              <a:t>Batch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353" y="3488122"/>
            <a:ext cx="2310882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Membetulkan logik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353" y="3716828"/>
            <a:ext cx="2437624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cuti dan masa cutoff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353" y="3945534"/>
            <a:ext cx="2166035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yang ditulis tetap.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97000" y="2820706"/>
            <a:ext cx="2234647" cy="2096471"/>
          </a:xfrm>
          <a:prstGeom prst="roundRect">
            <a:avLst>
              <a:gd name="adj" fmla="val 8181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2997000" y="2820706"/>
            <a:ext cx="2234647" cy="3811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225706" y="3066727"/>
            <a:ext cx="1516215" cy="3059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425" b="1" spc="-14">
                <a:solidFill>
                  <a:srgbClr val="000000"/>
                </a:solidFill>
                <a:latin typeface="Plus Jakarta Sans ExtraBold"/>
              </a:rPr>
              <a:t>Batch 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25706" y="3488122"/>
            <a:ext cx="2161509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Formula injection,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25706" y="3716828"/>
            <a:ext cx="2224879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catatan intervensi,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25706" y="3945534"/>
            <a:ext cx="1794865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normalisasi ID.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60353" y="2820706"/>
            <a:ext cx="2234647" cy="2096471"/>
          </a:xfrm>
          <a:prstGeom prst="roundRect">
            <a:avLst>
              <a:gd name="adj" fmla="val 8181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5460353" y="2820706"/>
            <a:ext cx="2234647" cy="3811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689059" y="3066727"/>
            <a:ext cx="1538848" cy="3059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425" b="1" spc="-14">
                <a:solidFill>
                  <a:srgbClr val="000000"/>
                </a:solidFill>
                <a:latin typeface="Plus Jakarta Sans ExtraBold"/>
              </a:rPr>
              <a:t>Batch 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89059" y="3488122"/>
            <a:ext cx="2405938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Kunci API keluar dari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89059" y="3716828"/>
            <a:ext cx="2365200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pelayar, sesi admin,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89059" y="3945534"/>
            <a:ext cx="2442150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rate limit, kiosk lock.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23706" y="2820706"/>
            <a:ext cx="2234647" cy="2096471"/>
          </a:xfrm>
          <a:prstGeom prst="roundRect">
            <a:avLst>
              <a:gd name="adj" fmla="val 8181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7923706" y="2820706"/>
            <a:ext cx="2234647" cy="3811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152412" y="3066727"/>
            <a:ext cx="1334118" cy="3059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425" b="1" spc="-14">
                <a:solidFill>
                  <a:srgbClr val="000000"/>
                </a:solidFill>
                <a:latin typeface="Plus Jakarta Sans ExtraBold"/>
              </a:rPr>
              <a:t>C4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52412" y="3488122"/>
            <a:ext cx="2442150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XSS pada avatar dan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52412" y="3716828"/>
            <a:ext cx="2478362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penapis URL gambar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2412" y="3945534"/>
            <a:ext cx="2156982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kedua-dua pihak.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3647" y="5184000"/>
            <a:ext cx="9624706" cy="952941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4294">
            <a:solidFill>
              <a:srgbClr val="CBD5E1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00471" y="5371205"/>
            <a:ext cx="2713738" cy="24154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125" b="1" spc="-11">
                <a:solidFill>
                  <a:srgbClr val="0F172A"/>
                </a:solidFill>
                <a:latin typeface="Plus Jakarta Sans ExtraBold"/>
              </a:rPr>
              <a:t>Langkah tambahan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471" y="5641769"/>
            <a:ext cx="8136450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Kunci lama yang bocor sudah dibuang dan digantikan &amp;#183; respons API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471" y="5851416"/>
            <a:ext cx="9571341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diberi no-store untuk lindungi data murid &amp;#183; sejarah intervensi ditulis append-only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33647" y="6441882"/>
            <a:ext cx="9624706" cy="724235"/>
          </a:xfrm>
          <a:prstGeom prst="roundRect">
            <a:avLst>
              <a:gd name="adj" fmla="val 23684"/>
            </a:avLst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38588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22D3EE"/>
                </a:solidFill>
                <a:latin typeface="JetBrains Mono ExtraBold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588" y="6846215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FASA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21000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67E8F9"/>
                </a:solidFill>
                <a:latin typeface="JetBrains Mono ExtraBold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21000" y="6846215"/>
            <a:ext cx="13422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ARAS AKSES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03412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A5B4FC"/>
                </a:solidFill>
                <a:latin typeface="JetBrains Mono ExtraBold"/>
              </a:rP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03412" y="6846215"/>
            <a:ext cx="186728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KUNCI DI PELAYAR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85824" y="6515974"/>
            <a:ext cx="2401412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FCD34D"/>
                </a:solidFill>
                <a:latin typeface="JetBrains Mono ExtraBold"/>
              </a:rPr>
              <a:t>no-store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85824" y="6846215"/>
            <a:ext cx="1428221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RESPONS API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63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-1715294" y="-1524706"/>
            <a:ext cx="6289412" cy="4764706"/>
          </a:xfrm>
          <a:prstGeom prst="ellipse">
            <a:avLst/>
          </a:prstGeom>
          <a:gradFill flip="none" rotWithShape="1">
            <a:gsLst>
              <a:gs pos="0">
                <a:srgbClr val="06B6D4">
                  <a:alpha val="16000"/>
                </a:srgbClr>
              </a:gs>
              <a:gs pos="10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6194118" y="4574118"/>
            <a:ext cx="6861176" cy="4955294"/>
          </a:xfrm>
          <a:prstGeom prst="ellipse">
            <a:avLst/>
          </a:prstGeom>
          <a:gradFill flip="none" rotWithShape="1">
            <a:gsLst>
              <a:gs pos="0">
                <a:srgbClr val="8B5CF6">
                  <a:alpha val="14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0692000" cy="66706"/>
          </a:xfrm>
          <a:prstGeom prst="rect">
            <a:avLst/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33647" y="362118"/>
            <a:ext cx="590824" cy="590824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28941" y="457412"/>
            <a:ext cx="400235" cy="400235"/>
          </a:xfrm>
          <a:prstGeom prst="roundRect">
            <a:avLst>
              <a:gd name="adj" fmla="val 2619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Freeform 7"/>
          <p:cNvSpPr/>
          <p:nvPr/>
        </p:nvSpPr>
        <p:spPr>
          <a:xfrm>
            <a:off x="676588" y="543176"/>
            <a:ext cx="181059" cy="171530"/>
          </a:xfrm>
          <a:custGeom>
            <a:avLst/>
            <a:gdLst/>
            <a:ahLst/>
            <a:cxnLst/>
            <a:rect l="l" t="t" r="r" b="b"/>
            <a:pathLst>
              <a:path w="181059" h="171530">
                <a:moveTo>
                  <a:pt x="28588" y="9530"/>
                </a:moveTo>
                <a:lnTo>
                  <a:pt x="123883" y="9530"/>
                </a:lnTo>
                <a:lnTo>
                  <a:pt x="171530" y="57177"/>
                </a:lnTo>
                <a:lnTo>
                  <a:pt x="171530" y="142942"/>
                </a:lnTo>
                <a:lnTo>
                  <a:pt x="177419" y="141269"/>
                </a:lnTo>
                <a:lnTo>
                  <a:pt x="178982" y="143819"/>
                </a:lnTo>
                <a:lnTo>
                  <a:pt x="180126" y="146582"/>
                </a:lnTo>
                <a:lnTo>
                  <a:pt x="180824" y="149490"/>
                </a:lnTo>
                <a:lnTo>
                  <a:pt x="181059" y="152471"/>
                </a:lnTo>
                <a:lnTo>
                  <a:pt x="180824" y="155453"/>
                </a:lnTo>
                <a:lnTo>
                  <a:pt x="180126" y="158361"/>
                </a:lnTo>
                <a:lnTo>
                  <a:pt x="178982" y="161124"/>
                </a:lnTo>
                <a:lnTo>
                  <a:pt x="177419" y="163674"/>
                </a:lnTo>
                <a:lnTo>
                  <a:pt x="175477" y="165948"/>
                </a:lnTo>
                <a:lnTo>
                  <a:pt x="173203" y="167890"/>
                </a:lnTo>
                <a:lnTo>
                  <a:pt x="170653" y="169453"/>
                </a:lnTo>
                <a:lnTo>
                  <a:pt x="167890" y="170597"/>
                </a:lnTo>
                <a:lnTo>
                  <a:pt x="164982" y="171295"/>
                </a:lnTo>
                <a:lnTo>
                  <a:pt x="162000" y="171530"/>
                </a:lnTo>
                <a:lnTo>
                  <a:pt x="159019" y="171295"/>
                </a:lnTo>
                <a:lnTo>
                  <a:pt x="156111" y="170597"/>
                </a:lnTo>
                <a:lnTo>
                  <a:pt x="153348" y="169453"/>
                </a:lnTo>
                <a:lnTo>
                  <a:pt x="150798" y="167890"/>
                </a:lnTo>
                <a:lnTo>
                  <a:pt x="148524" y="165948"/>
                </a:lnTo>
                <a:lnTo>
                  <a:pt x="28588" y="162000"/>
                </a:lnTo>
                <a:lnTo>
                  <a:pt x="30262" y="167890"/>
                </a:lnTo>
                <a:lnTo>
                  <a:pt x="27712" y="169453"/>
                </a:lnTo>
                <a:lnTo>
                  <a:pt x="24949" y="170597"/>
                </a:lnTo>
                <a:lnTo>
                  <a:pt x="22041" y="171295"/>
                </a:lnTo>
                <a:lnTo>
                  <a:pt x="19059" y="171530"/>
                </a:lnTo>
                <a:lnTo>
                  <a:pt x="16078" y="171295"/>
                </a:lnTo>
                <a:lnTo>
                  <a:pt x="13170" y="170597"/>
                </a:lnTo>
                <a:lnTo>
                  <a:pt x="10407" y="169453"/>
                </a:lnTo>
                <a:lnTo>
                  <a:pt x="7857" y="167890"/>
                </a:lnTo>
                <a:lnTo>
                  <a:pt x="5582" y="165948"/>
                </a:lnTo>
                <a:lnTo>
                  <a:pt x="3640" y="163674"/>
                </a:lnTo>
                <a:lnTo>
                  <a:pt x="2078" y="161124"/>
                </a:lnTo>
                <a:lnTo>
                  <a:pt x="933" y="158361"/>
                </a:lnTo>
                <a:lnTo>
                  <a:pt x="235" y="155453"/>
                </a:lnTo>
                <a:lnTo>
                  <a:pt x="0" y="152471"/>
                </a:lnTo>
                <a:lnTo>
                  <a:pt x="235" y="149490"/>
                </a:lnTo>
                <a:lnTo>
                  <a:pt x="933" y="146582"/>
                </a:lnTo>
                <a:lnTo>
                  <a:pt x="2078" y="143819"/>
                </a:lnTo>
                <a:lnTo>
                  <a:pt x="3640" y="141269"/>
                </a:lnTo>
                <a:lnTo>
                  <a:pt x="5582" y="138994"/>
                </a:lnTo>
                <a:lnTo>
                  <a:pt x="9530" y="28589"/>
                </a:lnTo>
                <a:lnTo>
                  <a:pt x="3640" y="30262"/>
                </a:lnTo>
                <a:lnTo>
                  <a:pt x="2078" y="27712"/>
                </a:lnTo>
                <a:lnTo>
                  <a:pt x="933" y="24949"/>
                </a:lnTo>
                <a:lnTo>
                  <a:pt x="235" y="22041"/>
                </a:lnTo>
                <a:lnTo>
                  <a:pt x="0" y="19059"/>
                </a:lnTo>
                <a:lnTo>
                  <a:pt x="235" y="16078"/>
                </a:lnTo>
                <a:lnTo>
                  <a:pt x="933" y="13170"/>
                </a:lnTo>
                <a:lnTo>
                  <a:pt x="2078" y="10407"/>
                </a:lnTo>
                <a:lnTo>
                  <a:pt x="3640" y="7857"/>
                </a:lnTo>
                <a:lnTo>
                  <a:pt x="5582" y="5583"/>
                </a:lnTo>
                <a:lnTo>
                  <a:pt x="7857" y="3640"/>
                </a:lnTo>
                <a:lnTo>
                  <a:pt x="10407" y="2078"/>
                </a:lnTo>
                <a:lnTo>
                  <a:pt x="13170" y="933"/>
                </a:lnTo>
                <a:lnTo>
                  <a:pt x="16078" y="235"/>
                </a:lnTo>
                <a:lnTo>
                  <a:pt x="19059" y="0"/>
                </a:lnTo>
                <a:lnTo>
                  <a:pt x="22041" y="235"/>
                </a:lnTo>
                <a:lnTo>
                  <a:pt x="24949" y="933"/>
                </a:lnTo>
                <a:lnTo>
                  <a:pt x="27712" y="2078"/>
                </a:lnTo>
                <a:lnTo>
                  <a:pt x="30262" y="3640"/>
                </a:lnTo>
                <a:lnTo>
                  <a:pt x="32536" y="5583"/>
                </a:lnTo>
                <a:close/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Freeform 8"/>
          <p:cNvSpPr/>
          <p:nvPr/>
        </p:nvSpPr>
        <p:spPr>
          <a:xfrm>
            <a:off x="800471" y="552706"/>
            <a:ext cx="47647" cy="47647"/>
          </a:xfrm>
          <a:custGeom>
            <a:avLst/>
            <a:gdLst/>
            <a:ahLst/>
            <a:cxnLst/>
            <a:rect l="l" t="t" r="r" b="b"/>
            <a:pathLst>
              <a:path w="47647" h="47647">
                <a:moveTo>
                  <a:pt x="0" y="0"/>
                </a:moveTo>
                <a:lnTo>
                  <a:pt x="0" y="47647"/>
                </a:lnTo>
                <a:lnTo>
                  <a:pt x="47647" y="47647"/>
                </a:lnTo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Freeform 9"/>
          <p:cNvSpPr/>
          <p:nvPr/>
        </p:nvSpPr>
        <p:spPr>
          <a:xfrm>
            <a:off x="724235" y="657529"/>
            <a:ext cx="76236" cy="47647"/>
          </a:xfrm>
          <a:custGeom>
            <a:avLst/>
            <a:gdLst/>
            <a:ahLst/>
            <a:cxnLst/>
            <a:rect l="l" t="t" r="r" b="b"/>
            <a:pathLst>
              <a:path w="76236" h="47647">
                <a:moveTo>
                  <a:pt x="0" y="0"/>
                </a:moveTo>
                <a:lnTo>
                  <a:pt x="76236" y="0"/>
                </a:lnTo>
                <a:lnTo>
                  <a:pt x="0" y="47647"/>
                </a:lnTo>
                <a:lnTo>
                  <a:pt x="57177" y="47647"/>
                </a:lnTo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257882" y="362832"/>
            <a:ext cx="1908026" cy="40257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1" spc="-19">
                <a:solidFill>
                  <a:srgbClr val="0F172A"/>
                </a:solidFill>
                <a:latin typeface="Plus Jakarta Sans ExtraBold"/>
              </a:rPr>
              <a:t>Q-TIBA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7882" y="676946"/>
            <a:ext cx="6126697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64748B"/>
                </a:solidFill>
                <a:latin typeface="Plus Jakarta Sans SemiBold"/>
              </a:rPr>
              <a:t>Dokumentasi Aliran Pembuatan &amp;#183; SK Pulau Indah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4235" y="461633"/>
            <a:ext cx="1334118" cy="2055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75" b="0">
                <a:solidFill>
                  <a:srgbClr val="0891B2"/>
                </a:solidFill>
                <a:latin typeface="JetBrains Mono ExtraBold"/>
              </a:rP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4235" y="667006"/>
            <a:ext cx="1334118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62" b="0">
                <a:solidFill>
                  <a:srgbClr val="64748B"/>
                </a:solidFill>
                <a:latin typeface="Plus Jakarta Sans SemiBold"/>
              </a:rPr>
              <a:t>Deploy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3647" y="1162588"/>
            <a:ext cx="9624706" cy="0"/>
          </a:xfrm>
          <a:prstGeom prst="line">
            <a:avLst/>
          </a:prstGeom>
          <a:ln w="14294">
            <a:solidFill>
              <a:srgbClr val="E2E8F0"/>
            </a:solidFill>
          </a:ln>
        </p:spPr>
      </p:cxnSp>
      <p:sp>
        <p:nvSpPr>
          <p:cNvPr id="16" name="Rounded Rectangle 15"/>
          <p:cNvSpPr/>
          <p:nvPr/>
        </p:nvSpPr>
        <p:spPr>
          <a:xfrm>
            <a:off x="533647" y="1486588"/>
            <a:ext cx="1905882" cy="285882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 w="14294">
            <a:solidFill>
              <a:srgbClr val="A5F3F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435" y="1568794"/>
            <a:ext cx="2968307" cy="16907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87" b="1" spc="126">
                <a:solidFill>
                  <a:srgbClr val="0891B2"/>
                </a:solidFill>
                <a:latin typeface="Plus Jakarta Sans ExtraBold"/>
              </a:rPr>
              <a:t>DEPLOY &amp; KRONOLOGI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647" y="1709348"/>
            <a:ext cx="6383801" cy="51529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401" b="1" spc="-48">
                <a:solidFill>
                  <a:srgbClr val="0F172A"/>
                </a:solidFill>
                <a:latin typeface="Plus Jakarta Sans ExtraBold"/>
              </a:rPr>
              <a:t>Bagaimana ia dideploy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647" y="2398848"/>
            <a:ext cx="3462598" cy="27374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75" b="1" spc="-13">
                <a:solidFill>
                  <a:srgbClr val="0F172A"/>
                </a:solidFill>
                <a:latin typeface="Plus Jakarta Sans ExtraBold"/>
              </a:rPr>
              <a:t>Langkah pemasangan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3647" y="2820706"/>
            <a:ext cx="4764706" cy="724235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695647" y="3020824"/>
            <a:ext cx="324000" cy="324000"/>
          </a:xfrm>
          <a:prstGeom prst="ellipse">
            <a:avLst/>
          </a:prstGeom>
          <a:solidFill>
            <a:srgbClr val="ECFE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90588" y="3125633"/>
            <a:ext cx="1334118" cy="2134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012" b="0">
                <a:solidFill>
                  <a:srgbClr val="0891B2"/>
                </a:solidFill>
                <a:latin typeface="JetBrains Mono ExtraBold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529" y="2993412"/>
            <a:ext cx="2950925" cy="233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88" b="1" spc="-11">
                <a:solidFill>
                  <a:srgbClr val="0F172A"/>
                </a:solidFill>
                <a:latin typeface="Plus Jakarta Sans ExtraBold"/>
              </a:rPr>
              <a:t>Tetapkan kunci rahsia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529" y="3225858"/>
            <a:ext cx="4515274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Satu pemboleh ubah pada pelayan sahaja.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3647" y="3640235"/>
            <a:ext cx="4764706" cy="724235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695647" y="3840353"/>
            <a:ext cx="324000" cy="324000"/>
          </a:xfrm>
          <a:prstGeom prst="ellipse">
            <a:avLst/>
          </a:prstGeom>
          <a:solidFill>
            <a:srgbClr val="ECFE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90588" y="3945162"/>
            <a:ext cx="1334118" cy="2134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012" b="0">
                <a:solidFill>
                  <a:srgbClr val="0891B2"/>
                </a:solidFill>
                <a:latin typeface="JetBrains Mono ExtraBold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529" y="3812942"/>
            <a:ext cx="3323273" cy="233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88" b="1" spc="-11">
                <a:solidFill>
                  <a:srgbClr val="0F172A"/>
                </a:solidFill>
                <a:latin typeface="Plus Jakarta Sans ExtraBold"/>
              </a:rPr>
              <a:t>Hantar ke domain sendiri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529" y="4045388"/>
            <a:ext cx="5895847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Cloudflare Pages memanggil proksi, bukan Apps Script.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3647" y="4459765"/>
            <a:ext cx="4764706" cy="724235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695647" y="4659882"/>
            <a:ext cx="324000" cy="324000"/>
          </a:xfrm>
          <a:prstGeom prst="ellipse">
            <a:avLst/>
          </a:prstGeom>
          <a:solidFill>
            <a:srgbClr val="ECFE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90588" y="4764692"/>
            <a:ext cx="1334118" cy="2134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012" b="0">
                <a:solidFill>
                  <a:srgbClr val="0891B2"/>
                </a:solidFill>
                <a:latin typeface="JetBrains Mono ExtraBold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529" y="4632471"/>
            <a:ext cx="2234113" cy="233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88" b="1" spc="-11">
                <a:solidFill>
                  <a:srgbClr val="0F172A"/>
                </a:solidFill>
                <a:latin typeface="Plus Jakarta Sans ExtraBold"/>
              </a:rPr>
              <a:t>Buka URL awam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529" y="4864917"/>
            <a:ext cx="5275721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Pengguna hanya buka alamat, tiada pemasangan.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3647" y="5279294"/>
            <a:ext cx="4764706" cy="724235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695647" y="5479412"/>
            <a:ext cx="324000" cy="324000"/>
          </a:xfrm>
          <a:prstGeom prst="ellipse">
            <a:avLst/>
          </a:prstGeom>
          <a:solidFill>
            <a:srgbClr val="ECFE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90588" y="5584221"/>
            <a:ext cx="1334118" cy="2134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012" b="0">
                <a:solidFill>
                  <a:srgbClr val="0891B2"/>
                </a:solidFill>
                <a:latin typeface="JetBrains Mono ExtraBold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529" y="5452000"/>
            <a:ext cx="3055034" cy="23349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88" b="1" spc="-11">
                <a:solidFill>
                  <a:srgbClr val="0F172A"/>
                </a:solidFill>
                <a:latin typeface="Plus Jakarta Sans ExtraBold"/>
              </a:rPr>
              <a:t>Kemaskini Apps Script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529" y="5684447"/>
            <a:ext cx="5117294" cy="19323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Plus Jakarta Sans Medium"/>
              </a:rPr>
              <a:t>Bila logik backend berubah, sekod diselaraskan.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41412" y="2398848"/>
            <a:ext cx="1679711" cy="27374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75" b="1" spc="-13">
                <a:solidFill>
                  <a:srgbClr val="0F172A"/>
                </a:solidFill>
                <a:latin typeface="Plus Jakarta Sans ExtraBold"/>
              </a:rPr>
              <a:t>Kronologi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41412" y="2820706"/>
            <a:ext cx="4516941" cy="3316235"/>
          </a:xfrm>
          <a:prstGeom prst="roundRect">
            <a:avLst>
              <a:gd name="adj" fmla="val 4597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5898706" y="3201882"/>
            <a:ext cx="133412" cy="13341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cxnSp>
        <p:nvCxnSpPr>
          <p:cNvPr id="43" name="Connector 42"/>
          <p:cNvCxnSpPr/>
          <p:nvPr/>
        </p:nvCxnSpPr>
        <p:spPr>
          <a:xfrm>
            <a:off x="5965412" y="3354353"/>
            <a:ext cx="0" cy="638471"/>
          </a:xfrm>
          <a:prstGeom prst="line">
            <a:avLst/>
          </a:prstGeom>
          <a:ln w="23824">
            <a:solidFill>
              <a:srgbClr val="A5F3FC"/>
            </a:solidFill>
          </a:ln>
        </p:spPr>
      </p:cxnSp>
      <p:sp>
        <p:nvSpPr>
          <p:cNvPr id="44" name="TextBox 43"/>
          <p:cNvSpPr txBox="1"/>
          <p:nvPr/>
        </p:nvSpPr>
        <p:spPr>
          <a:xfrm>
            <a:off x="6194118" y="3201868"/>
            <a:ext cx="1334118" cy="2134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0">
                <a:solidFill>
                  <a:srgbClr val="000000"/>
                </a:solidFill>
                <a:latin typeface="JetBrains Mono ExtraBold"/>
              </a:rPr>
              <a:t>3 Ogos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4118" y="3407327"/>
            <a:ext cx="2193194" cy="2093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75" b="0">
                <a:solidFill>
                  <a:srgbClr val="475569"/>
                </a:solidFill>
                <a:latin typeface="Plus Jakarta Sans Medium"/>
              </a:rPr>
              <a:t>Mula pembangun</a:t>
            </a:r>
          </a:p>
        </p:txBody>
      </p:sp>
      <p:sp>
        <p:nvSpPr>
          <p:cNvPr id="46" name="Oval 45"/>
          <p:cNvSpPr/>
          <p:nvPr/>
        </p:nvSpPr>
        <p:spPr>
          <a:xfrm>
            <a:off x="5898706" y="3926118"/>
            <a:ext cx="133412" cy="13341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cxnSp>
        <p:nvCxnSpPr>
          <p:cNvPr id="47" name="Connector 46"/>
          <p:cNvCxnSpPr/>
          <p:nvPr/>
        </p:nvCxnSpPr>
        <p:spPr>
          <a:xfrm>
            <a:off x="5965412" y="4078588"/>
            <a:ext cx="0" cy="638471"/>
          </a:xfrm>
          <a:prstGeom prst="line">
            <a:avLst/>
          </a:prstGeom>
          <a:ln w="23824">
            <a:solidFill>
              <a:srgbClr val="DDD6FE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6194118" y="3926103"/>
            <a:ext cx="1334118" cy="2134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0">
                <a:solidFill>
                  <a:srgbClr val="000000"/>
                </a:solidFill>
                <a:latin typeface="JetBrains Mono ExtraBold"/>
              </a:rPr>
              <a:t>Ogos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94118" y="4131562"/>
            <a:ext cx="4180315" cy="2093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75" b="0">
                <a:solidFill>
                  <a:srgbClr val="475569"/>
                </a:solidFill>
                <a:latin typeface="Plus Jakarta Sans Medium"/>
              </a:rPr>
              <a:t>Teras aplikasi, reka bentuk, analitik</a:t>
            </a:r>
          </a:p>
        </p:txBody>
      </p:sp>
      <p:sp>
        <p:nvSpPr>
          <p:cNvPr id="50" name="Oval 49"/>
          <p:cNvSpPr/>
          <p:nvPr/>
        </p:nvSpPr>
        <p:spPr>
          <a:xfrm>
            <a:off x="5898706" y="4650353"/>
            <a:ext cx="133412" cy="13341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cxnSp>
        <p:nvCxnSpPr>
          <p:cNvPr id="51" name="Connector 50"/>
          <p:cNvCxnSpPr/>
          <p:nvPr/>
        </p:nvCxnSpPr>
        <p:spPr>
          <a:xfrm>
            <a:off x="5965412" y="4802824"/>
            <a:ext cx="0" cy="638470"/>
          </a:xfrm>
          <a:prstGeom prst="line">
            <a:avLst/>
          </a:prstGeom>
          <a:ln w="23824">
            <a:solidFill>
              <a:srgbClr val="A7F3D0"/>
            </a:solidFill>
          </a:ln>
        </p:spPr>
      </p:cxnSp>
      <p:sp>
        <p:nvSpPr>
          <p:cNvPr id="52" name="TextBox 51"/>
          <p:cNvSpPr txBox="1"/>
          <p:nvPr/>
        </p:nvSpPr>
        <p:spPr>
          <a:xfrm>
            <a:off x="6194118" y="4650339"/>
            <a:ext cx="1334118" cy="2134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0">
                <a:solidFill>
                  <a:srgbClr val="000000"/>
                </a:solidFill>
                <a:latin typeface="JetBrains Mono ExtraBold"/>
              </a:rPr>
              <a:t>23 Sep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94118" y="4855798"/>
            <a:ext cx="3057750" cy="2093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75" b="0">
                <a:solidFill>
                  <a:srgbClr val="475569"/>
                </a:solidFill>
                <a:latin typeface="Plus Jakarta Sans Medium"/>
              </a:rPr>
              <a:t>Pindah ke domain sendiri</a:t>
            </a:r>
          </a:p>
        </p:txBody>
      </p:sp>
      <p:sp>
        <p:nvSpPr>
          <p:cNvPr id="54" name="Oval 53"/>
          <p:cNvSpPr/>
          <p:nvPr/>
        </p:nvSpPr>
        <p:spPr>
          <a:xfrm>
            <a:off x="5898706" y="5374588"/>
            <a:ext cx="133412" cy="13341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194118" y="5374574"/>
            <a:ext cx="1334118" cy="2134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0">
                <a:solidFill>
                  <a:srgbClr val="000000"/>
                </a:solidFill>
                <a:latin typeface="JetBrains Mono ExtraBold"/>
              </a:rPr>
              <a:t>27 Sep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94118" y="5580033"/>
            <a:ext cx="3039644" cy="20933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75" b="0">
                <a:solidFill>
                  <a:srgbClr val="475569"/>
                </a:solidFill>
                <a:latin typeface="Plus Jakarta Sans Medium"/>
              </a:rPr>
              <a:t>Empat fasa keselamatan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33647" y="6441882"/>
            <a:ext cx="9624706" cy="724235"/>
          </a:xfrm>
          <a:prstGeom prst="roundRect">
            <a:avLst>
              <a:gd name="adj" fmla="val 23684"/>
            </a:avLst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838588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22D3EE"/>
                </a:solidFill>
                <a:latin typeface="JetBrains Mono ExtraBold"/>
              </a:rPr>
              <a:t>291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8588" y="6846215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COMMIT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21000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67E8F9"/>
                </a:solidFill>
                <a:latin typeface="JetBrains Mono ExtraBold"/>
              </a:rPr>
              <a:t>56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21000" y="6846215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HARI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03412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A5B4FC"/>
                </a:solidFill>
                <a:latin typeface="JetBrains Mono ExtraBold"/>
              </a:rPr>
              <a:t>23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03412" y="6846215"/>
            <a:ext cx="1364850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SEP: PINDAH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85824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FCD34D"/>
                </a:solidFill>
                <a:latin typeface="JetBrains Mono ExtraBold"/>
              </a:rPr>
              <a:t>27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85824" y="6846215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SEP: 4 FASA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63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-1715294" y="-1524706"/>
            <a:ext cx="6289412" cy="4764706"/>
          </a:xfrm>
          <a:prstGeom prst="ellipse">
            <a:avLst/>
          </a:prstGeom>
          <a:gradFill flip="none" rotWithShape="1">
            <a:gsLst>
              <a:gs pos="0">
                <a:srgbClr val="06B6D4">
                  <a:alpha val="16000"/>
                </a:srgbClr>
              </a:gs>
              <a:gs pos="10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6194118" y="4574118"/>
            <a:ext cx="6861176" cy="4955294"/>
          </a:xfrm>
          <a:prstGeom prst="ellipse">
            <a:avLst/>
          </a:prstGeom>
          <a:gradFill flip="none" rotWithShape="1">
            <a:gsLst>
              <a:gs pos="0">
                <a:srgbClr val="8B5CF6">
                  <a:alpha val="14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0692000" cy="66706"/>
          </a:xfrm>
          <a:prstGeom prst="rect">
            <a:avLst/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33647" y="362118"/>
            <a:ext cx="590824" cy="590824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28941" y="457412"/>
            <a:ext cx="400235" cy="400235"/>
          </a:xfrm>
          <a:prstGeom prst="roundRect">
            <a:avLst>
              <a:gd name="adj" fmla="val 26190"/>
            </a:avLst>
          </a:prstGeom>
          <a:gradFill rotWithShape="1">
            <a:gsLst>
              <a:gs pos="0">
                <a:srgbClr val="0891B2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Freeform 7"/>
          <p:cNvSpPr/>
          <p:nvPr/>
        </p:nvSpPr>
        <p:spPr>
          <a:xfrm>
            <a:off x="676588" y="543176"/>
            <a:ext cx="181059" cy="171530"/>
          </a:xfrm>
          <a:custGeom>
            <a:avLst/>
            <a:gdLst/>
            <a:ahLst/>
            <a:cxnLst/>
            <a:rect l="l" t="t" r="r" b="b"/>
            <a:pathLst>
              <a:path w="181059" h="171530">
                <a:moveTo>
                  <a:pt x="28588" y="9530"/>
                </a:moveTo>
                <a:lnTo>
                  <a:pt x="123883" y="9530"/>
                </a:lnTo>
                <a:lnTo>
                  <a:pt x="171530" y="57177"/>
                </a:lnTo>
                <a:lnTo>
                  <a:pt x="171530" y="142942"/>
                </a:lnTo>
                <a:lnTo>
                  <a:pt x="177419" y="141269"/>
                </a:lnTo>
                <a:lnTo>
                  <a:pt x="178982" y="143819"/>
                </a:lnTo>
                <a:lnTo>
                  <a:pt x="180126" y="146582"/>
                </a:lnTo>
                <a:lnTo>
                  <a:pt x="180824" y="149490"/>
                </a:lnTo>
                <a:lnTo>
                  <a:pt x="181059" y="152471"/>
                </a:lnTo>
                <a:lnTo>
                  <a:pt x="180824" y="155453"/>
                </a:lnTo>
                <a:lnTo>
                  <a:pt x="180126" y="158361"/>
                </a:lnTo>
                <a:lnTo>
                  <a:pt x="178982" y="161124"/>
                </a:lnTo>
                <a:lnTo>
                  <a:pt x="177419" y="163674"/>
                </a:lnTo>
                <a:lnTo>
                  <a:pt x="175477" y="165948"/>
                </a:lnTo>
                <a:lnTo>
                  <a:pt x="173203" y="167890"/>
                </a:lnTo>
                <a:lnTo>
                  <a:pt x="170653" y="169453"/>
                </a:lnTo>
                <a:lnTo>
                  <a:pt x="167890" y="170597"/>
                </a:lnTo>
                <a:lnTo>
                  <a:pt x="164982" y="171295"/>
                </a:lnTo>
                <a:lnTo>
                  <a:pt x="162000" y="171530"/>
                </a:lnTo>
                <a:lnTo>
                  <a:pt x="159019" y="171295"/>
                </a:lnTo>
                <a:lnTo>
                  <a:pt x="156111" y="170597"/>
                </a:lnTo>
                <a:lnTo>
                  <a:pt x="153348" y="169453"/>
                </a:lnTo>
                <a:lnTo>
                  <a:pt x="150798" y="167890"/>
                </a:lnTo>
                <a:lnTo>
                  <a:pt x="148524" y="165948"/>
                </a:lnTo>
                <a:lnTo>
                  <a:pt x="28588" y="162000"/>
                </a:lnTo>
                <a:lnTo>
                  <a:pt x="30262" y="167890"/>
                </a:lnTo>
                <a:lnTo>
                  <a:pt x="27712" y="169453"/>
                </a:lnTo>
                <a:lnTo>
                  <a:pt x="24949" y="170597"/>
                </a:lnTo>
                <a:lnTo>
                  <a:pt x="22041" y="171295"/>
                </a:lnTo>
                <a:lnTo>
                  <a:pt x="19059" y="171530"/>
                </a:lnTo>
                <a:lnTo>
                  <a:pt x="16078" y="171295"/>
                </a:lnTo>
                <a:lnTo>
                  <a:pt x="13170" y="170597"/>
                </a:lnTo>
                <a:lnTo>
                  <a:pt x="10407" y="169453"/>
                </a:lnTo>
                <a:lnTo>
                  <a:pt x="7857" y="167890"/>
                </a:lnTo>
                <a:lnTo>
                  <a:pt x="5582" y="165948"/>
                </a:lnTo>
                <a:lnTo>
                  <a:pt x="3640" y="163674"/>
                </a:lnTo>
                <a:lnTo>
                  <a:pt x="2078" y="161124"/>
                </a:lnTo>
                <a:lnTo>
                  <a:pt x="933" y="158361"/>
                </a:lnTo>
                <a:lnTo>
                  <a:pt x="235" y="155453"/>
                </a:lnTo>
                <a:lnTo>
                  <a:pt x="0" y="152471"/>
                </a:lnTo>
                <a:lnTo>
                  <a:pt x="235" y="149490"/>
                </a:lnTo>
                <a:lnTo>
                  <a:pt x="933" y="146582"/>
                </a:lnTo>
                <a:lnTo>
                  <a:pt x="2078" y="143819"/>
                </a:lnTo>
                <a:lnTo>
                  <a:pt x="3640" y="141269"/>
                </a:lnTo>
                <a:lnTo>
                  <a:pt x="5582" y="138994"/>
                </a:lnTo>
                <a:lnTo>
                  <a:pt x="9530" y="28589"/>
                </a:lnTo>
                <a:lnTo>
                  <a:pt x="3640" y="30262"/>
                </a:lnTo>
                <a:lnTo>
                  <a:pt x="2078" y="27712"/>
                </a:lnTo>
                <a:lnTo>
                  <a:pt x="933" y="24949"/>
                </a:lnTo>
                <a:lnTo>
                  <a:pt x="235" y="22041"/>
                </a:lnTo>
                <a:lnTo>
                  <a:pt x="0" y="19059"/>
                </a:lnTo>
                <a:lnTo>
                  <a:pt x="235" y="16078"/>
                </a:lnTo>
                <a:lnTo>
                  <a:pt x="933" y="13170"/>
                </a:lnTo>
                <a:lnTo>
                  <a:pt x="2078" y="10407"/>
                </a:lnTo>
                <a:lnTo>
                  <a:pt x="3640" y="7857"/>
                </a:lnTo>
                <a:lnTo>
                  <a:pt x="5582" y="5583"/>
                </a:lnTo>
                <a:lnTo>
                  <a:pt x="7857" y="3640"/>
                </a:lnTo>
                <a:lnTo>
                  <a:pt x="10407" y="2078"/>
                </a:lnTo>
                <a:lnTo>
                  <a:pt x="13170" y="933"/>
                </a:lnTo>
                <a:lnTo>
                  <a:pt x="16078" y="235"/>
                </a:lnTo>
                <a:lnTo>
                  <a:pt x="19059" y="0"/>
                </a:lnTo>
                <a:lnTo>
                  <a:pt x="22041" y="235"/>
                </a:lnTo>
                <a:lnTo>
                  <a:pt x="24949" y="933"/>
                </a:lnTo>
                <a:lnTo>
                  <a:pt x="27712" y="2078"/>
                </a:lnTo>
                <a:lnTo>
                  <a:pt x="30262" y="3640"/>
                </a:lnTo>
                <a:lnTo>
                  <a:pt x="32536" y="5583"/>
                </a:lnTo>
                <a:close/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" name="Freeform 8"/>
          <p:cNvSpPr/>
          <p:nvPr/>
        </p:nvSpPr>
        <p:spPr>
          <a:xfrm>
            <a:off x="800471" y="552706"/>
            <a:ext cx="47647" cy="47647"/>
          </a:xfrm>
          <a:custGeom>
            <a:avLst/>
            <a:gdLst/>
            <a:ahLst/>
            <a:cxnLst/>
            <a:rect l="l" t="t" r="r" b="b"/>
            <a:pathLst>
              <a:path w="47647" h="47647">
                <a:moveTo>
                  <a:pt x="0" y="0"/>
                </a:moveTo>
                <a:lnTo>
                  <a:pt x="0" y="47647"/>
                </a:lnTo>
                <a:lnTo>
                  <a:pt x="47647" y="47647"/>
                </a:lnTo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Freeform 9"/>
          <p:cNvSpPr/>
          <p:nvPr/>
        </p:nvSpPr>
        <p:spPr>
          <a:xfrm>
            <a:off x="724235" y="657529"/>
            <a:ext cx="76236" cy="47647"/>
          </a:xfrm>
          <a:custGeom>
            <a:avLst/>
            <a:gdLst/>
            <a:ahLst/>
            <a:cxnLst/>
            <a:rect l="l" t="t" r="r" b="b"/>
            <a:pathLst>
              <a:path w="76236" h="47647">
                <a:moveTo>
                  <a:pt x="0" y="0"/>
                </a:moveTo>
                <a:lnTo>
                  <a:pt x="76236" y="0"/>
                </a:lnTo>
                <a:lnTo>
                  <a:pt x="0" y="47647"/>
                </a:lnTo>
                <a:lnTo>
                  <a:pt x="57177" y="47647"/>
                </a:lnTo>
              </a:path>
            </a:pathLst>
          </a:custGeom>
          <a:noFill/>
          <a:ln w="24776">
            <a:solidFill>
              <a:srgbClr val="FFFFF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257882" y="362832"/>
            <a:ext cx="1908026" cy="40257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1" spc="-19">
                <a:solidFill>
                  <a:srgbClr val="0F172A"/>
                </a:solidFill>
                <a:latin typeface="Plus Jakarta Sans ExtraBold"/>
              </a:rPr>
              <a:t>Q-TIBA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7882" y="676946"/>
            <a:ext cx="6126697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64748B"/>
                </a:solidFill>
                <a:latin typeface="Plus Jakarta Sans SemiBold"/>
              </a:rPr>
              <a:t>Dokumentasi Aliran Pembuatan &amp;#183; SK Pulau Indah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4235" y="461633"/>
            <a:ext cx="1334118" cy="20552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975" b="0">
                <a:solidFill>
                  <a:srgbClr val="0891B2"/>
                </a:solidFill>
                <a:latin typeface="JetBrains Mono ExtraBold"/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4235" y="667006"/>
            <a:ext cx="1334118" cy="18518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/>
            <a:r>
              <a:rPr sz="862" b="0">
                <a:solidFill>
                  <a:srgbClr val="64748B"/>
                </a:solidFill>
                <a:latin typeface="Plus Jakarta Sans SemiBold"/>
              </a:rPr>
              <a:t>Penutup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3647" y="1162588"/>
            <a:ext cx="9624706" cy="0"/>
          </a:xfrm>
          <a:prstGeom prst="line">
            <a:avLst/>
          </a:prstGeom>
          <a:ln w="14294">
            <a:solidFill>
              <a:srgbClr val="E2E8F0"/>
            </a:solidFill>
          </a:ln>
        </p:spPr>
      </p:cxnSp>
      <p:sp>
        <p:nvSpPr>
          <p:cNvPr id="16" name="Rounded Rectangle 15"/>
          <p:cNvSpPr/>
          <p:nvPr/>
        </p:nvSpPr>
        <p:spPr>
          <a:xfrm>
            <a:off x="533647" y="1486588"/>
            <a:ext cx="1905882" cy="285882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 w="14294">
            <a:solidFill>
              <a:srgbClr val="A5F3F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9529" y="1568794"/>
            <a:ext cx="1334118" cy="169079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787" b="1" spc="126">
                <a:solidFill>
                  <a:srgbClr val="0891B2"/>
                </a:solidFill>
                <a:latin typeface="Plus Jakarta Sans ExtraBold"/>
              </a:rPr>
              <a:t>PENUTUP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647" y="1709348"/>
            <a:ext cx="10828976" cy="51529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401" b="1" spc="-48">
                <a:solidFill>
                  <a:srgbClr val="0F172A"/>
                </a:solidFill>
                <a:latin typeface="Plus Jakarta Sans ExtraBold"/>
              </a:rPr>
              <a:t>Apa yang membuat projek ini berfungsi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3647" y="2744471"/>
            <a:ext cx="2234647" cy="190588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705176" y="2935059"/>
            <a:ext cx="457412" cy="457412"/>
          </a:xfrm>
          <a:prstGeom prst="ellipse">
            <a:avLst/>
          </a:prstGeom>
          <a:solidFill>
            <a:srgbClr val="ECFE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66824" y="3077981"/>
            <a:ext cx="1334118" cy="2845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350" b="0">
                <a:solidFill>
                  <a:srgbClr val="000000"/>
                </a:solidFill>
                <a:latin typeface="JetBrains Mono ExtraBold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353" y="3523319"/>
            <a:ext cx="1396173" cy="27374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75" b="1" spc="-13">
                <a:solidFill>
                  <a:srgbClr val="0F172A"/>
                </a:solidFill>
                <a:latin typeface="Plus Jakarta Sans ExtraBold"/>
              </a:rPr>
              <a:t>Ringkas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353" y="3850240"/>
            <a:ext cx="2718265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Tiada framework, tiada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353" y="4059887"/>
            <a:ext cx="2786162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pangkalan data baharu.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97000" y="2744471"/>
            <a:ext cx="2234647" cy="190588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3168529" y="2935059"/>
            <a:ext cx="457412" cy="457412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730176" y="3077981"/>
            <a:ext cx="1334118" cy="2845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350" b="0">
                <a:solidFill>
                  <a:srgbClr val="000000"/>
                </a:solidFill>
                <a:latin typeface="JetBrains Mono ExtraBold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25706" y="3523319"/>
            <a:ext cx="1455017" cy="27374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75" b="1" spc="-13">
                <a:solidFill>
                  <a:srgbClr val="0F172A"/>
                </a:solidFill>
                <a:latin typeface="Plus Jakarta Sans ExtraBold"/>
              </a:rPr>
              <a:t>Selamat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25706" y="3850240"/>
            <a:ext cx="2605103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Kunci tidak sekali-kali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25706" y="4059887"/>
            <a:ext cx="2519100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dihantar dari pelayar.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60353" y="2744471"/>
            <a:ext cx="2234647" cy="190588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5631882" y="2935059"/>
            <a:ext cx="457412" cy="457412"/>
          </a:xfrm>
          <a:prstGeom prst="ellipse">
            <a:avLst/>
          </a:prstGeom>
          <a:solidFill>
            <a:srgbClr val="FFFBE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193529" y="3077981"/>
            <a:ext cx="1334118" cy="2845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350" b="0">
                <a:solidFill>
                  <a:srgbClr val="000000"/>
                </a:solidFill>
                <a:latin typeface="JetBrains Mono ExtraBold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89059" y="3523319"/>
            <a:ext cx="1936091" cy="27374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75" b="1" spc="-13">
                <a:solidFill>
                  <a:srgbClr val="0F172A"/>
                </a:solidFill>
                <a:latin typeface="Plus Jakarta Sans ExtraBold"/>
              </a:rPr>
              <a:t>Tahan lasak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89059" y="3850240"/>
            <a:ext cx="2903850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Berfungsi tanpa internet,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89059" y="4059887"/>
            <a:ext cx="2727318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data berantrian sendiri.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23706" y="2744471"/>
            <a:ext cx="2234647" cy="190588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8095235" y="2935059"/>
            <a:ext cx="457412" cy="457412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656882" y="3077981"/>
            <a:ext cx="1334118" cy="2845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350" b="0">
                <a:solidFill>
                  <a:srgbClr val="000000"/>
                </a:solidFill>
                <a:latin typeface="JetBrains Mono ExtraBold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52412" y="3523319"/>
            <a:ext cx="2335868" cy="27374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275" b="1" spc="-13">
                <a:solidFill>
                  <a:srgbClr val="0F172A"/>
                </a:solidFill>
                <a:latin typeface="Plus Jakarta Sans ExtraBold"/>
              </a:rPr>
              <a:t>Mudah diubah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52412" y="3850240"/>
            <a:ext cx="2786162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Pentadbir ubah tetapan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52412" y="4059887"/>
            <a:ext cx="2654894" cy="2012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937" b="0">
                <a:solidFill>
                  <a:srgbClr val="475569"/>
                </a:solidFill>
                <a:latin typeface="Plus Jakarta Sans Medium"/>
              </a:rPr>
              <a:t>tanpa menyentuh kod.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3647" y="4917176"/>
            <a:ext cx="9624706" cy="1219765"/>
          </a:xfrm>
          <a:prstGeom prst="roundRect">
            <a:avLst>
              <a:gd name="adj" fmla="val 14062"/>
            </a:avLst>
          </a:prstGeom>
          <a:solidFill>
            <a:srgbClr val="0F172A"/>
          </a:solidFill>
          <a:ln w="14294">
            <a:solidFill>
              <a:srgbClr val="E2E8F0"/>
            </a:solidFill>
          </a:ln>
          <a:effectLst>
            <a:outerShdw blurRad="95250" dist="19050" dir="5400000" algn="t" rotWithShape="0">
              <a:srgbClr val="0F172A">
                <a:alpha val="7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38588" y="5255213"/>
            <a:ext cx="2369726" cy="17713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825" b="1">
                <a:solidFill>
                  <a:srgbClr val="FCD34D"/>
                </a:solidFill>
                <a:latin typeface="Plus Jakarta Sans ExtraBold"/>
              </a:rPr>
              <a:t>KUNCINYA SATU IDEA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588" y="5534435"/>
            <a:ext cx="10141676" cy="2898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Plus Jakarta Sans SemiBold"/>
              </a:rPr>
              <a:t>Satu imbasan QR sudah cukup untuk menggantikan satu kertas.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588" y="5823238"/>
            <a:ext cx="8285824" cy="21738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012" b="0">
                <a:solidFill>
                  <a:srgbClr val="94A3B8"/>
                </a:solidFill>
                <a:latin typeface="Plus Jakarta Sans"/>
              </a:rPr>
              <a:t>Selebihnya kerja memastikan ia selamat, pantas, dan boleh dipercayai.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3647" y="6441882"/>
            <a:ext cx="9624706" cy="724235"/>
          </a:xfrm>
          <a:prstGeom prst="roundRect">
            <a:avLst>
              <a:gd name="adj" fmla="val 23684"/>
            </a:avLst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38588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22D3EE"/>
                </a:solidFill>
                <a:latin typeface="JetBrains Mono ExtraBold"/>
              </a:rPr>
              <a:t>291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8588" y="6846215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COMMIT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21000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67E8F9"/>
                </a:solidFill>
                <a:latin typeface="JetBrains Mono ExtraBold"/>
              </a:rPr>
              <a:t>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21000" y="6846215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HARI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03412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A5B4FC"/>
                </a:solidFill>
                <a:latin typeface="JetBrains Mono ExtraBold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03412" y="6846215"/>
            <a:ext cx="1334118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SKRIN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85824" y="6515974"/>
            <a:ext cx="1334118" cy="395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75" b="0">
                <a:solidFill>
                  <a:srgbClr val="FCD34D"/>
                </a:solidFill>
                <a:latin typeface="JetBrains Mono ExtraBold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85824" y="6846215"/>
            <a:ext cx="2061926" cy="1610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750" b="0">
                <a:solidFill>
                  <a:srgbClr val="94A3B8"/>
                </a:solidFill>
                <a:latin typeface="Plus Jakarta Sans SemiBold"/>
              </a:rPr>
              <a:t>FASA KESELAMATAN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Q-TIBA - Dokumentasi Aliran Pembuatan</dc:title>
  <dc:subject>Bagaimana aplikasi Q-TIBA dibina, dua lapisan</dc:subject>
  <dc:creator>SK Pulau Indah</dc:creator>
  <cp:keywords/>
  <dc:description>Semua slaid dibina daripada bentuk PowerPoint native yang boleh diedit. Tiada gambar langsung.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